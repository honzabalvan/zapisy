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7.xml" ContentType="application/vnd.openxmlformats-officedocument.presentationml.slide+xml"/>
  <Override PartName="/ppt/slides/slide48.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0.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26.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notesMasterIdLst>
    <p:notesMasterId r:id="rId55"/>
  </p:notesMasterIdLst>
  <p:handoutMasterIdLst>
    <p:handoutMasterId r:id="rId56"/>
  </p:handoutMasterIdLst>
  <p:sldIdLst>
    <p:sldId id="335" r:id="rId2"/>
    <p:sldId id="336"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12" r:id="rId34"/>
    <p:sldId id="313" r:id="rId35"/>
    <p:sldId id="367" r:id="rId36"/>
    <p:sldId id="368" r:id="rId37"/>
    <p:sldId id="369" r:id="rId38"/>
    <p:sldId id="370" r:id="rId39"/>
    <p:sldId id="371" r:id="rId40"/>
    <p:sldId id="372" r:id="rId41"/>
    <p:sldId id="373" r:id="rId42"/>
    <p:sldId id="374" r:id="rId43"/>
    <p:sldId id="375" r:id="rId44"/>
    <p:sldId id="376" r:id="rId45"/>
    <p:sldId id="377" r:id="rId46"/>
    <p:sldId id="378" r:id="rId47"/>
    <p:sldId id="379" r:id="rId48"/>
    <p:sldId id="380" r:id="rId49"/>
    <p:sldId id="381" r:id="rId50"/>
    <p:sldId id="382" r:id="rId51"/>
    <p:sldId id="383" r:id="rId52"/>
    <p:sldId id="384" r:id="rId53"/>
    <p:sldId id="385" r:id="rId54"/>
  </p:sldIdLst>
  <p:sldSz cx="9144000" cy="6858000" type="screen4x3"/>
  <p:notesSz cx="6858000" cy="9144000"/>
  <p:defaultTextStyle>
    <a:defPPr>
      <a:defRPr lang="it-IT"/>
    </a:defPPr>
    <a:lvl1pPr algn="l" rtl="0" eaLnBrk="0" fontAlgn="base" hangingPunct="0">
      <a:spcBef>
        <a:spcPct val="0"/>
      </a:spcBef>
      <a:spcAft>
        <a:spcPct val="0"/>
      </a:spcAft>
      <a:defRPr sz="3600" b="1" kern="1200">
        <a:solidFill>
          <a:schemeClr val="tx2"/>
        </a:solidFill>
        <a:latin typeface="Book Antiqua" panose="02040602050305030304" pitchFamily="18" charset="0"/>
        <a:ea typeface="+mn-ea"/>
        <a:cs typeface="+mn-cs"/>
      </a:defRPr>
    </a:lvl1pPr>
    <a:lvl2pPr marL="457200" algn="l" rtl="0" eaLnBrk="0" fontAlgn="base" hangingPunct="0">
      <a:spcBef>
        <a:spcPct val="0"/>
      </a:spcBef>
      <a:spcAft>
        <a:spcPct val="0"/>
      </a:spcAft>
      <a:defRPr sz="3600" b="1" kern="1200">
        <a:solidFill>
          <a:schemeClr val="tx2"/>
        </a:solidFill>
        <a:latin typeface="Book Antiqua" panose="02040602050305030304" pitchFamily="18" charset="0"/>
        <a:ea typeface="+mn-ea"/>
        <a:cs typeface="+mn-cs"/>
      </a:defRPr>
    </a:lvl2pPr>
    <a:lvl3pPr marL="914400" algn="l" rtl="0" eaLnBrk="0" fontAlgn="base" hangingPunct="0">
      <a:spcBef>
        <a:spcPct val="0"/>
      </a:spcBef>
      <a:spcAft>
        <a:spcPct val="0"/>
      </a:spcAft>
      <a:defRPr sz="3600" b="1" kern="1200">
        <a:solidFill>
          <a:schemeClr val="tx2"/>
        </a:solidFill>
        <a:latin typeface="Book Antiqua" panose="02040602050305030304" pitchFamily="18" charset="0"/>
        <a:ea typeface="+mn-ea"/>
        <a:cs typeface="+mn-cs"/>
      </a:defRPr>
    </a:lvl3pPr>
    <a:lvl4pPr marL="1371600" algn="l" rtl="0" eaLnBrk="0" fontAlgn="base" hangingPunct="0">
      <a:spcBef>
        <a:spcPct val="0"/>
      </a:spcBef>
      <a:spcAft>
        <a:spcPct val="0"/>
      </a:spcAft>
      <a:defRPr sz="3600" b="1" kern="1200">
        <a:solidFill>
          <a:schemeClr val="tx2"/>
        </a:solidFill>
        <a:latin typeface="Book Antiqua" panose="02040602050305030304" pitchFamily="18" charset="0"/>
        <a:ea typeface="+mn-ea"/>
        <a:cs typeface="+mn-cs"/>
      </a:defRPr>
    </a:lvl4pPr>
    <a:lvl5pPr marL="1828800" algn="l" rtl="0" eaLnBrk="0" fontAlgn="base" hangingPunct="0">
      <a:spcBef>
        <a:spcPct val="0"/>
      </a:spcBef>
      <a:spcAft>
        <a:spcPct val="0"/>
      </a:spcAft>
      <a:defRPr sz="3600" b="1" kern="1200">
        <a:solidFill>
          <a:schemeClr val="tx2"/>
        </a:solidFill>
        <a:latin typeface="Book Antiqua" panose="02040602050305030304" pitchFamily="18" charset="0"/>
        <a:ea typeface="+mn-ea"/>
        <a:cs typeface="+mn-cs"/>
      </a:defRPr>
    </a:lvl5pPr>
    <a:lvl6pPr marL="2286000" algn="l" defTabSz="914400" rtl="0" eaLnBrk="1" latinLnBrk="0" hangingPunct="1">
      <a:defRPr sz="3600" b="1" kern="1200">
        <a:solidFill>
          <a:schemeClr val="tx2"/>
        </a:solidFill>
        <a:latin typeface="Book Antiqua" panose="02040602050305030304" pitchFamily="18" charset="0"/>
        <a:ea typeface="+mn-ea"/>
        <a:cs typeface="+mn-cs"/>
      </a:defRPr>
    </a:lvl6pPr>
    <a:lvl7pPr marL="2743200" algn="l" defTabSz="914400" rtl="0" eaLnBrk="1" latinLnBrk="0" hangingPunct="1">
      <a:defRPr sz="3600" b="1" kern="1200">
        <a:solidFill>
          <a:schemeClr val="tx2"/>
        </a:solidFill>
        <a:latin typeface="Book Antiqua" panose="02040602050305030304" pitchFamily="18" charset="0"/>
        <a:ea typeface="+mn-ea"/>
        <a:cs typeface="+mn-cs"/>
      </a:defRPr>
    </a:lvl7pPr>
    <a:lvl8pPr marL="3200400" algn="l" defTabSz="914400" rtl="0" eaLnBrk="1" latinLnBrk="0" hangingPunct="1">
      <a:defRPr sz="3600" b="1" kern="1200">
        <a:solidFill>
          <a:schemeClr val="tx2"/>
        </a:solidFill>
        <a:latin typeface="Book Antiqua" panose="02040602050305030304" pitchFamily="18" charset="0"/>
        <a:ea typeface="+mn-ea"/>
        <a:cs typeface="+mn-cs"/>
      </a:defRPr>
    </a:lvl8pPr>
    <a:lvl9pPr marL="3657600" algn="l" defTabSz="914400" rtl="0" eaLnBrk="1" latinLnBrk="0" hangingPunct="1">
      <a:defRPr sz="3600" b="1" kern="1200">
        <a:solidFill>
          <a:schemeClr val="tx2"/>
        </a:solidFill>
        <a:latin typeface="Book Antiqua" panose="0204060205030503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CC00"/>
    <a:srgbClr val="000000"/>
    <a:srgbClr val="00FF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0"/>
    <p:restoredTop sz="98107" autoAdjust="0"/>
  </p:normalViewPr>
  <p:slideViewPr>
    <p:cSldViewPr>
      <p:cViewPr varScale="1">
        <p:scale>
          <a:sx n="116" d="100"/>
          <a:sy n="116" d="100"/>
        </p:scale>
        <p:origin x="1464"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63" Type="http://schemas.openxmlformats.org/officeDocument/2006/relationships/customXml" Target="../customXml/item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customXml" Target="../customXml/item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solidFill>
                  <a:schemeClr val="tx1"/>
                </a:solidFill>
                <a:effectLst/>
                <a:latin typeface="Arial" charset="0"/>
              </a:defRPr>
            </a:lvl1pPr>
          </a:lstStyle>
          <a:p>
            <a:pPr>
              <a:defRPr/>
            </a:pPr>
            <a:endParaRPr lang="cs-CZ"/>
          </a:p>
        </p:txBody>
      </p:sp>
      <p:sp>
        <p:nvSpPr>
          <p:cNvPr id="7171"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chemeClr val="tx1"/>
                </a:solidFill>
                <a:effectLst/>
                <a:latin typeface="Arial" charset="0"/>
              </a:defRPr>
            </a:lvl1pPr>
          </a:lstStyle>
          <a:p>
            <a:pPr>
              <a:defRPr/>
            </a:pPr>
            <a:endParaRPr lang="cs-CZ"/>
          </a:p>
        </p:txBody>
      </p:sp>
      <p:sp>
        <p:nvSpPr>
          <p:cNvPr id="7172"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solidFill>
                  <a:schemeClr val="tx1"/>
                </a:solidFill>
                <a:effectLst/>
                <a:latin typeface="Arial" charset="0"/>
              </a:defRPr>
            </a:lvl1pPr>
          </a:lstStyle>
          <a:p>
            <a:pPr>
              <a:defRPr/>
            </a:pPr>
            <a:endParaRPr lang="cs-CZ"/>
          </a:p>
        </p:txBody>
      </p:sp>
      <p:sp>
        <p:nvSpPr>
          <p:cNvPr id="7173"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solidFill>
                  <a:schemeClr val="tx1"/>
                </a:solidFill>
                <a:latin typeface="Arial" panose="020B0604020202020204" pitchFamily="34" charset="0"/>
              </a:defRPr>
            </a:lvl1pPr>
          </a:lstStyle>
          <a:p>
            <a:pPr>
              <a:defRPr/>
            </a:pPr>
            <a:fld id="{2998C71C-9D32-4EF7-BE2E-9F7FD629BEBA}" type="slidenum">
              <a:rPr lang="cs-CZ" altLang="en-US"/>
              <a:pPr>
                <a:defRPr/>
              </a:pPr>
              <a:t>‹#›</a:t>
            </a:fld>
            <a:endParaRPr lang="cs-CZ" altLang="en-US"/>
          </a:p>
        </p:txBody>
      </p:sp>
    </p:spTree>
    <p:extLst>
      <p:ext uri="{BB962C8B-B14F-4D97-AF65-F5344CB8AC3E}">
        <p14:creationId xmlns:p14="http://schemas.microsoft.com/office/powerpoint/2010/main" val="37961912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solidFill>
                  <a:schemeClr val="tx1"/>
                </a:solidFill>
                <a:effectLst/>
                <a:latin typeface="Arial" charset="0"/>
              </a:defRPr>
            </a:lvl1pPr>
          </a:lstStyle>
          <a:p>
            <a:pPr>
              <a:defRPr/>
            </a:pPr>
            <a:endParaRPr lang="cs-CZ"/>
          </a:p>
        </p:txBody>
      </p:sp>
      <p:sp>
        <p:nvSpPr>
          <p:cNvPr id="819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chemeClr val="tx1"/>
                </a:solidFill>
                <a:effectLst/>
                <a:latin typeface="Arial" charset="0"/>
              </a:defRPr>
            </a:lvl1pPr>
          </a:lstStyle>
          <a:p>
            <a:pPr>
              <a:defRPr/>
            </a:pPr>
            <a:endParaRPr lang="cs-CZ"/>
          </a:p>
        </p:txBody>
      </p:sp>
      <p:sp>
        <p:nvSpPr>
          <p:cNvPr id="3076" name="Rectangle 4"/>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cs-CZ" noProof="0" smtClean="0"/>
              <a:t>Click to edit Master text styles</a:t>
            </a:r>
          </a:p>
          <a:p>
            <a:pPr lvl="1"/>
            <a:r>
              <a:rPr lang="cs-CZ" noProof="0" smtClean="0"/>
              <a:t>Second level</a:t>
            </a:r>
          </a:p>
          <a:p>
            <a:pPr lvl="2"/>
            <a:r>
              <a:rPr lang="cs-CZ" noProof="0" smtClean="0"/>
              <a:t>Third level</a:t>
            </a:r>
          </a:p>
          <a:p>
            <a:pPr lvl="3"/>
            <a:r>
              <a:rPr lang="cs-CZ" noProof="0" smtClean="0"/>
              <a:t>Fourth level</a:t>
            </a:r>
          </a:p>
          <a:p>
            <a:pPr lvl="4"/>
            <a:r>
              <a:rPr lang="cs-CZ" noProof="0" smtClean="0"/>
              <a:t>Fifth level</a:t>
            </a:r>
          </a:p>
        </p:txBody>
      </p:sp>
      <p:sp>
        <p:nvSpPr>
          <p:cNvPr id="819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solidFill>
                  <a:schemeClr val="tx1"/>
                </a:solidFill>
                <a:effectLst/>
                <a:latin typeface="Arial" charset="0"/>
              </a:defRPr>
            </a:lvl1pPr>
          </a:lstStyle>
          <a:p>
            <a:pPr>
              <a:defRPr/>
            </a:pPr>
            <a:endParaRPr lang="cs-CZ"/>
          </a:p>
        </p:txBody>
      </p:sp>
      <p:sp>
        <p:nvSpPr>
          <p:cNvPr id="8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solidFill>
                  <a:schemeClr val="tx1"/>
                </a:solidFill>
                <a:latin typeface="Arial" panose="020B0604020202020204" pitchFamily="34" charset="0"/>
              </a:defRPr>
            </a:lvl1pPr>
          </a:lstStyle>
          <a:p>
            <a:pPr>
              <a:defRPr/>
            </a:pPr>
            <a:fld id="{DE237362-0F31-48B2-B468-BBC8EF73C505}" type="slidenum">
              <a:rPr lang="cs-CZ" altLang="en-US"/>
              <a:pPr>
                <a:defRPr/>
              </a:pPr>
              <a:t>‹#›</a:t>
            </a:fld>
            <a:endParaRPr lang="cs-CZ" altLang="en-US"/>
          </a:p>
        </p:txBody>
      </p:sp>
    </p:spTree>
    <p:extLst>
      <p:ext uri="{BB962C8B-B14F-4D97-AF65-F5344CB8AC3E}">
        <p14:creationId xmlns:p14="http://schemas.microsoft.com/office/powerpoint/2010/main" val="404290066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Úvodní snímek">
    <p:spTree>
      <p:nvGrpSpPr>
        <p:cNvPr id="1" name=""/>
        <p:cNvGrpSpPr/>
        <p:nvPr/>
      </p:nvGrpSpPr>
      <p:grpSpPr>
        <a:xfrm>
          <a:off x="0" y="0"/>
          <a:ext cx="0" cy="0"/>
          <a:chOff x="0" y="0"/>
          <a:chExt cx="0" cy="0"/>
        </a:xfrm>
      </p:grpSpPr>
      <p:sp>
        <p:nvSpPr>
          <p:cNvPr id="2" name="Nadpis 1"/>
          <p:cNvSpPr>
            <a:spLocks noGrp="1"/>
          </p:cNvSpPr>
          <p:nvPr>
            <p:ph type="ctrTitle"/>
          </p:nvPr>
        </p:nvSpPr>
        <p:spPr>
          <a:xfrm>
            <a:off x="1143000" y="1122363"/>
            <a:ext cx="6858000" cy="2387600"/>
          </a:xfrm>
        </p:spPr>
        <p:txBody>
          <a:bodyPr anchor="b"/>
          <a:lstStyle>
            <a:lvl1pPr algn="ctr">
              <a:defRPr sz="4500"/>
            </a:lvl1pPr>
          </a:lstStyle>
          <a:p>
            <a:r>
              <a:rPr lang="cs-CZ" smtClean="0"/>
              <a:t>Kliknutím lze upravit styl.</a:t>
            </a:r>
            <a:endParaRPr lang="en-US"/>
          </a:p>
        </p:txBody>
      </p:sp>
      <p:sp>
        <p:nvSpPr>
          <p:cNvPr id="3" name="Podnadpis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cs-CZ" smtClean="0"/>
              <a:t>Kliknutím lze upravit styl předlohy.</a:t>
            </a:r>
            <a:endParaRPr lang="en-US"/>
          </a:p>
        </p:txBody>
      </p:sp>
      <p:sp>
        <p:nvSpPr>
          <p:cNvPr id="4" name="Zástupný symbol pro datum 3"/>
          <p:cNvSpPr>
            <a:spLocks noGrp="1"/>
          </p:cNvSpPr>
          <p:nvPr>
            <p:ph type="dt" sz="half" idx="10"/>
          </p:nvPr>
        </p:nvSpPr>
        <p:spPr/>
        <p:txBody>
          <a:bodyPr/>
          <a:lstStyle>
            <a:lvl1pPr>
              <a:defRPr/>
            </a:lvl1pPr>
          </a:lstStyle>
          <a:p>
            <a:pPr>
              <a:defRPr/>
            </a:pPr>
            <a:endParaRPr lang="cs-CZ"/>
          </a:p>
        </p:txBody>
      </p:sp>
      <p:sp>
        <p:nvSpPr>
          <p:cNvPr id="5" name="Zástupný symbol pro zápatí 4"/>
          <p:cNvSpPr>
            <a:spLocks noGrp="1"/>
          </p:cNvSpPr>
          <p:nvPr>
            <p:ph type="ftr" sz="quarter" idx="11"/>
          </p:nvPr>
        </p:nvSpPr>
        <p:spPr/>
        <p:txBody>
          <a:bodyPr/>
          <a:lstStyle>
            <a:lvl1pPr>
              <a:defRPr/>
            </a:lvl1pPr>
          </a:lstStyle>
          <a:p>
            <a:pPr>
              <a:defRPr/>
            </a:pPr>
            <a:endParaRPr lang="cs-CZ"/>
          </a:p>
        </p:txBody>
      </p:sp>
      <p:sp>
        <p:nvSpPr>
          <p:cNvPr id="6" name="Zástupný symbol pro číslo snímku 5"/>
          <p:cNvSpPr>
            <a:spLocks noGrp="1"/>
          </p:cNvSpPr>
          <p:nvPr>
            <p:ph type="sldNum" sz="quarter" idx="12"/>
          </p:nvPr>
        </p:nvSpPr>
        <p:spPr/>
        <p:txBody>
          <a:bodyPr/>
          <a:lstStyle>
            <a:lvl1pPr>
              <a:defRPr/>
            </a:lvl1pPr>
          </a:lstStyle>
          <a:p>
            <a:pPr>
              <a:defRPr/>
            </a:pPr>
            <a:fld id="{312E7404-D7CF-4852-9D36-8EEB012213F3}" type="slidenum">
              <a:rPr lang="cs-CZ" altLang="en-US"/>
              <a:pPr>
                <a:defRPr/>
              </a:pPr>
              <a:t>‹#›</a:t>
            </a:fld>
            <a:endParaRPr lang="cs-CZ" altLang="en-US"/>
          </a:p>
        </p:txBody>
      </p:sp>
    </p:spTree>
    <p:extLst>
      <p:ext uri="{BB962C8B-B14F-4D97-AF65-F5344CB8AC3E}">
        <p14:creationId xmlns:p14="http://schemas.microsoft.com/office/powerpoint/2010/main" val="181378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Nadpis a obsah">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US"/>
          </a:p>
        </p:txBody>
      </p:sp>
      <p:sp>
        <p:nvSpPr>
          <p:cNvPr id="3" name="Zástupný symbol pro obsah 2"/>
          <p:cNvSpPr>
            <a:spLocks noGrp="1"/>
          </p:cNvSpPr>
          <p:nvPr>
            <p:ph idx="1"/>
          </p:nvPr>
        </p:nvSpPr>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datum 3"/>
          <p:cNvSpPr>
            <a:spLocks noGrp="1"/>
          </p:cNvSpPr>
          <p:nvPr>
            <p:ph type="dt" sz="half" idx="10"/>
          </p:nvPr>
        </p:nvSpPr>
        <p:spPr/>
        <p:txBody>
          <a:bodyPr/>
          <a:lstStyle>
            <a:lvl1pPr>
              <a:defRPr/>
            </a:lvl1pPr>
          </a:lstStyle>
          <a:p>
            <a:pPr>
              <a:defRPr/>
            </a:pPr>
            <a:endParaRPr lang="cs-CZ"/>
          </a:p>
        </p:txBody>
      </p:sp>
      <p:sp>
        <p:nvSpPr>
          <p:cNvPr id="5" name="Zástupný symbol pro zápatí 4"/>
          <p:cNvSpPr>
            <a:spLocks noGrp="1"/>
          </p:cNvSpPr>
          <p:nvPr>
            <p:ph type="ftr" sz="quarter" idx="11"/>
          </p:nvPr>
        </p:nvSpPr>
        <p:spPr/>
        <p:txBody>
          <a:bodyPr/>
          <a:lstStyle>
            <a:lvl1pPr>
              <a:defRPr/>
            </a:lvl1pPr>
          </a:lstStyle>
          <a:p>
            <a:pPr>
              <a:defRPr/>
            </a:pPr>
            <a:endParaRPr lang="cs-CZ"/>
          </a:p>
        </p:txBody>
      </p:sp>
      <p:sp>
        <p:nvSpPr>
          <p:cNvPr id="6" name="Zástupný symbol pro číslo snímku 5"/>
          <p:cNvSpPr>
            <a:spLocks noGrp="1"/>
          </p:cNvSpPr>
          <p:nvPr>
            <p:ph type="sldNum" sz="quarter" idx="12"/>
          </p:nvPr>
        </p:nvSpPr>
        <p:spPr/>
        <p:txBody>
          <a:bodyPr/>
          <a:lstStyle>
            <a:lvl1pPr>
              <a:defRPr/>
            </a:lvl1pPr>
          </a:lstStyle>
          <a:p>
            <a:pPr>
              <a:defRPr/>
            </a:pPr>
            <a:fld id="{C12A1D16-32F6-489D-926A-41EE51B267C6}" type="slidenum">
              <a:rPr lang="cs-CZ" altLang="en-US"/>
              <a:pPr>
                <a:defRPr/>
              </a:pPr>
              <a:t>‹#›</a:t>
            </a:fld>
            <a:endParaRPr lang="cs-CZ" altLang="en-US"/>
          </a:p>
        </p:txBody>
      </p:sp>
    </p:spTree>
    <p:extLst>
      <p:ext uri="{BB962C8B-B14F-4D97-AF65-F5344CB8AC3E}">
        <p14:creationId xmlns:p14="http://schemas.microsoft.com/office/powerpoint/2010/main" val="2459649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Záhlaví části">
    <p:spTree>
      <p:nvGrpSpPr>
        <p:cNvPr id="1" name=""/>
        <p:cNvGrpSpPr/>
        <p:nvPr/>
      </p:nvGrpSpPr>
      <p:grpSpPr>
        <a:xfrm>
          <a:off x="0" y="0"/>
          <a:ext cx="0" cy="0"/>
          <a:chOff x="0" y="0"/>
          <a:chExt cx="0" cy="0"/>
        </a:xfrm>
      </p:grpSpPr>
      <p:sp>
        <p:nvSpPr>
          <p:cNvPr id="2" name="Nadpis 1"/>
          <p:cNvSpPr>
            <a:spLocks noGrp="1"/>
          </p:cNvSpPr>
          <p:nvPr>
            <p:ph type="title"/>
          </p:nvPr>
        </p:nvSpPr>
        <p:spPr>
          <a:xfrm>
            <a:off x="623888" y="1709739"/>
            <a:ext cx="7886700" cy="2852737"/>
          </a:xfrm>
        </p:spPr>
        <p:txBody>
          <a:bodyPr anchor="b"/>
          <a:lstStyle>
            <a:lvl1pPr>
              <a:defRPr sz="4500"/>
            </a:lvl1pPr>
          </a:lstStyle>
          <a:p>
            <a:r>
              <a:rPr lang="cs-CZ" smtClean="0"/>
              <a:t>Kliknutím lze upravit styl.</a:t>
            </a:r>
            <a:endParaRPr lang="en-US"/>
          </a:p>
        </p:txBody>
      </p:sp>
      <p:sp>
        <p:nvSpPr>
          <p:cNvPr id="3" name="Zástupný symbol pro text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cs-CZ" smtClean="0"/>
              <a:t>Kliknutím lze upravit styly předlohy textu.</a:t>
            </a:r>
          </a:p>
        </p:txBody>
      </p:sp>
      <p:sp>
        <p:nvSpPr>
          <p:cNvPr id="4" name="Zástupný symbol pro datum 3"/>
          <p:cNvSpPr>
            <a:spLocks noGrp="1"/>
          </p:cNvSpPr>
          <p:nvPr>
            <p:ph type="dt" sz="half" idx="10"/>
          </p:nvPr>
        </p:nvSpPr>
        <p:spPr/>
        <p:txBody>
          <a:bodyPr/>
          <a:lstStyle>
            <a:lvl1pPr>
              <a:defRPr/>
            </a:lvl1pPr>
          </a:lstStyle>
          <a:p>
            <a:pPr>
              <a:defRPr/>
            </a:pPr>
            <a:endParaRPr lang="cs-CZ"/>
          </a:p>
        </p:txBody>
      </p:sp>
      <p:sp>
        <p:nvSpPr>
          <p:cNvPr id="5" name="Zástupný symbol pro zápatí 4"/>
          <p:cNvSpPr>
            <a:spLocks noGrp="1"/>
          </p:cNvSpPr>
          <p:nvPr>
            <p:ph type="ftr" sz="quarter" idx="11"/>
          </p:nvPr>
        </p:nvSpPr>
        <p:spPr/>
        <p:txBody>
          <a:bodyPr/>
          <a:lstStyle>
            <a:lvl1pPr>
              <a:defRPr/>
            </a:lvl1pPr>
          </a:lstStyle>
          <a:p>
            <a:pPr>
              <a:defRPr/>
            </a:pPr>
            <a:endParaRPr lang="cs-CZ"/>
          </a:p>
        </p:txBody>
      </p:sp>
      <p:sp>
        <p:nvSpPr>
          <p:cNvPr id="6" name="Zástupný symbol pro číslo snímku 5"/>
          <p:cNvSpPr>
            <a:spLocks noGrp="1"/>
          </p:cNvSpPr>
          <p:nvPr>
            <p:ph type="sldNum" sz="quarter" idx="12"/>
          </p:nvPr>
        </p:nvSpPr>
        <p:spPr/>
        <p:txBody>
          <a:bodyPr/>
          <a:lstStyle>
            <a:lvl1pPr>
              <a:defRPr/>
            </a:lvl1pPr>
          </a:lstStyle>
          <a:p>
            <a:pPr>
              <a:defRPr/>
            </a:pPr>
            <a:fld id="{9D61FD33-8A13-4C87-97B1-2F2F4C874D77}" type="slidenum">
              <a:rPr lang="cs-CZ" altLang="en-US"/>
              <a:pPr>
                <a:defRPr/>
              </a:pPr>
              <a:t>‹#›</a:t>
            </a:fld>
            <a:endParaRPr lang="cs-CZ" altLang="en-US"/>
          </a:p>
        </p:txBody>
      </p:sp>
    </p:spTree>
    <p:extLst>
      <p:ext uri="{BB962C8B-B14F-4D97-AF65-F5344CB8AC3E}">
        <p14:creationId xmlns:p14="http://schemas.microsoft.com/office/powerpoint/2010/main" val="2097792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va obsahy">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US"/>
          </a:p>
        </p:txBody>
      </p:sp>
      <p:sp>
        <p:nvSpPr>
          <p:cNvPr id="3" name="Zástupný symbol pro obsah 2"/>
          <p:cNvSpPr>
            <a:spLocks noGrp="1"/>
          </p:cNvSpPr>
          <p:nvPr>
            <p:ph sz="half" idx="1"/>
          </p:nvPr>
        </p:nvSpPr>
        <p:spPr>
          <a:xfrm>
            <a:off x="628650" y="1825625"/>
            <a:ext cx="3886200" cy="4351338"/>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obsah 3"/>
          <p:cNvSpPr>
            <a:spLocks noGrp="1"/>
          </p:cNvSpPr>
          <p:nvPr>
            <p:ph sz="half" idx="2"/>
          </p:nvPr>
        </p:nvSpPr>
        <p:spPr>
          <a:xfrm>
            <a:off x="4629150" y="1825625"/>
            <a:ext cx="3886200" cy="4351338"/>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5" name="Zástupný symbol pro datum 3"/>
          <p:cNvSpPr>
            <a:spLocks noGrp="1"/>
          </p:cNvSpPr>
          <p:nvPr>
            <p:ph type="dt" sz="half" idx="10"/>
          </p:nvPr>
        </p:nvSpPr>
        <p:spPr/>
        <p:txBody>
          <a:bodyPr/>
          <a:lstStyle>
            <a:lvl1pPr>
              <a:defRPr/>
            </a:lvl1pPr>
          </a:lstStyle>
          <a:p>
            <a:pPr>
              <a:defRPr/>
            </a:pPr>
            <a:endParaRPr lang="cs-CZ"/>
          </a:p>
        </p:txBody>
      </p:sp>
      <p:sp>
        <p:nvSpPr>
          <p:cNvPr id="6" name="Zástupný symbol pro zápatí 4"/>
          <p:cNvSpPr>
            <a:spLocks noGrp="1"/>
          </p:cNvSpPr>
          <p:nvPr>
            <p:ph type="ftr" sz="quarter" idx="11"/>
          </p:nvPr>
        </p:nvSpPr>
        <p:spPr/>
        <p:txBody>
          <a:bodyPr/>
          <a:lstStyle>
            <a:lvl1pPr>
              <a:defRPr/>
            </a:lvl1pPr>
          </a:lstStyle>
          <a:p>
            <a:pPr>
              <a:defRPr/>
            </a:pPr>
            <a:endParaRPr lang="cs-CZ"/>
          </a:p>
        </p:txBody>
      </p:sp>
      <p:sp>
        <p:nvSpPr>
          <p:cNvPr id="7" name="Zástupný symbol pro číslo snímku 5"/>
          <p:cNvSpPr>
            <a:spLocks noGrp="1"/>
          </p:cNvSpPr>
          <p:nvPr>
            <p:ph type="sldNum" sz="quarter" idx="12"/>
          </p:nvPr>
        </p:nvSpPr>
        <p:spPr/>
        <p:txBody>
          <a:bodyPr/>
          <a:lstStyle>
            <a:lvl1pPr>
              <a:defRPr/>
            </a:lvl1pPr>
          </a:lstStyle>
          <a:p>
            <a:pPr>
              <a:defRPr/>
            </a:pPr>
            <a:fld id="{07B02CC2-D416-4237-BE59-217C6E4CC9D3}" type="slidenum">
              <a:rPr lang="cs-CZ" altLang="en-US"/>
              <a:pPr>
                <a:defRPr/>
              </a:pPr>
              <a:t>‹#›</a:t>
            </a:fld>
            <a:endParaRPr lang="cs-CZ" altLang="en-US"/>
          </a:p>
        </p:txBody>
      </p:sp>
    </p:spTree>
    <p:extLst>
      <p:ext uri="{BB962C8B-B14F-4D97-AF65-F5344CB8AC3E}">
        <p14:creationId xmlns:p14="http://schemas.microsoft.com/office/powerpoint/2010/main" val="1059632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ovnání">
    <p:spTree>
      <p:nvGrpSpPr>
        <p:cNvPr id="1" name=""/>
        <p:cNvGrpSpPr/>
        <p:nvPr/>
      </p:nvGrpSpPr>
      <p:grpSpPr>
        <a:xfrm>
          <a:off x="0" y="0"/>
          <a:ext cx="0" cy="0"/>
          <a:chOff x="0" y="0"/>
          <a:chExt cx="0" cy="0"/>
        </a:xfrm>
      </p:grpSpPr>
      <p:sp>
        <p:nvSpPr>
          <p:cNvPr id="2" name="Nadpis 1"/>
          <p:cNvSpPr>
            <a:spLocks noGrp="1"/>
          </p:cNvSpPr>
          <p:nvPr>
            <p:ph type="title"/>
          </p:nvPr>
        </p:nvSpPr>
        <p:spPr>
          <a:xfrm>
            <a:off x="629841" y="365126"/>
            <a:ext cx="7886700" cy="1325563"/>
          </a:xfrm>
        </p:spPr>
        <p:txBody>
          <a:bodyPr/>
          <a:lstStyle/>
          <a:p>
            <a:r>
              <a:rPr lang="cs-CZ" smtClean="0"/>
              <a:t>Kliknutím lze upravit styl.</a:t>
            </a:r>
            <a:endParaRPr lang="en-US"/>
          </a:p>
        </p:txBody>
      </p:sp>
      <p:sp>
        <p:nvSpPr>
          <p:cNvPr id="3" name="Zástupný symbol pro text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cs-CZ" smtClean="0"/>
              <a:t>Kliknutím lze upravit styly předlohy textu.</a:t>
            </a:r>
          </a:p>
        </p:txBody>
      </p:sp>
      <p:sp>
        <p:nvSpPr>
          <p:cNvPr id="4" name="Zástupný symbol pro obsah 3"/>
          <p:cNvSpPr>
            <a:spLocks noGrp="1"/>
          </p:cNvSpPr>
          <p:nvPr>
            <p:ph sz="half" idx="2"/>
          </p:nvPr>
        </p:nvSpPr>
        <p:spPr>
          <a:xfrm>
            <a:off x="629842" y="2505075"/>
            <a:ext cx="3868340" cy="3684588"/>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5" name="Zástupný symbol pro text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cs-CZ" smtClean="0"/>
              <a:t>Kliknutím lze upravit styly předlohy textu.</a:t>
            </a:r>
          </a:p>
        </p:txBody>
      </p:sp>
      <p:sp>
        <p:nvSpPr>
          <p:cNvPr id="6" name="Zástupný symbol pro obsah 5"/>
          <p:cNvSpPr>
            <a:spLocks noGrp="1"/>
          </p:cNvSpPr>
          <p:nvPr>
            <p:ph sz="quarter" idx="4"/>
          </p:nvPr>
        </p:nvSpPr>
        <p:spPr>
          <a:xfrm>
            <a:off x="4629150" y="2505075"/>
            <a:ext cx="3887391" cy="3684588"/>
          </a:xfrm>
        </p:spPr>
        <p:txBody>
          <a:body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7" name="Zástupný symbol pro datum 3"/>
          <p:cNvSpPr>
            <a:spLocks noGrp="1"/>
          </p:cNvSpPr>
          <p:nvPr>
            <p:ph type="dt" sz="half" idx="10"/>
          </p:nvPr>
        </p:nvSpPr>
        <p:spPr/>
        <p:txBody>
          <a:bodyPr/>
          <a:lstStyle>
            <a:lvl1pPr>
              <a:defRPr/>
            </a:lvl1pPr>
          </a:lstStyle>
          <a:p>
            <a:pPr>
              <a:defRPr/>
            </a:pPr>
            <a:endParaRPr lang="cs-CZ"/>
          </a:p>
        </p:txBody>
      </p:sp>
      <p:sp>
        <p:nvSpPr>
          <p:cNvPr id="8" name="Zástupný symbol pro zápatí 4"/>
          <p:cNvSpPr>
            <a:spLocks noGrp="1"/>
          </p:cNvSpPr>
          <p:nvPr>
            <p:ph type="ftr" sz="quarter" idx="11"/>
          </p:nvPr>
        </p:nvSpPr>
        <p:spPr/>
        <p:txBody>
          <a:bodyPr/>
          <a:lstStyle>
            <a:lvl1pPr>
              <a:defRPr/>
            </a:lvl1pPr>
          </a:lstStyle>
          <a:p>
            <a:pPr>
              <a:defRPr/>
            </a:pPr>
            <a:endParaRPr lang="cs-CZ"/>
          </a:p>
        </p:txBody>
      </p:sp>
      <p:sp>
        <p:nvSpPr>
          <p:cNvPr id="9" name="Zástupný symbol pro číslo snímku 5"/>
          <p:cNvSpPr>
            <a:spLocks noGrp="1"/>
          </p:cNvSpPr>
          <p:nvPr>
            <p:ph type="sldNum" sz="quarter" idx="12"/>
          </p:nvPr>
        </p:nvSpPr>
        <p:spPr/>
        <p:txBody>
          <a:bodyPr/>
          <a:lstStyle>
            <a:lvl1pPr>
              <a:defRPr/>
            </a:lvl1pPr>
          </a:lstStyle>
          <a:p>
            <a:pPr>
              <a:defRPr/>
            </a:pPr>
            <a:fld id="{E755B2AD-BABF-4678-9725-42CD02112DDB}" type="slidenum">
              <a:rPr lang="cs-CZ" altLang="en-US"/>
              <a:pPr>
                <a:defRPr/>
              </a:pPr>
              <a:t>‹#›</a:t>
            </a:fld>
            <a:endParaRPr lang="cs-CZ" altLang="en-US"/>
          </a:p>
        </p:txBody>
      </p:sp>
    </p:spTree>
    <p:extLst>
      <p:ext uri="{BB962C8B-B14F-4D97-AF65-F5344CB8AC3E}">
        <p14:creationId xmlns:p14="http://schemas.microsoft.com/office/powerpoint/2010/main" val="1814495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Pouze nadpis">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US"/>
          </a:p>
        </p:txBody>
      </p:sp>
      <p:sp>
        <p:nvSpPr>
          <p:cNvPr id="3" name="Zástupný symbol pro datum 3"/>
          <p:cNvSpPr>
            <a:spLocks noGrp="1"/>
          </p:cNvSpPr>
          <p:nvPr>
            <p:ph type="dt" sz="half" idx="10"/>
          </p:nvPr>
        </p:nvSpPr>
        <p:spPr/>
        <p:txBody>
          <a:bodyPr/>
          <a:lstStyle>
            <a:lvl1pPr>
              <a:defRPr/>
            </a:lvl1pPr>
          </a:lstStyle>
          <a:p>
            <a:pPr>
              <a:defRPr/>
            </a:pPr>
            <a:endParaRPr lang="cs-CZ"/>
          </a:p>
        </p:txBody>
      </p:sp>
      <p:sp>
        <p:nvSpPr>
          <p:cNvPr id="4" name="Zástupný symbol pro zápatí 4"/>
          <p:cNvSpPr>
            <a:spLocks noGrp="1"/>
          </p:cNvSpPr>
          <p:nvPr>
            <p:ph type="ftr" sz="quarter" idx="11"/>
          </p:nvPr>
        </p:nvSpPr>
        <p:spPr/>
        <p:txBody>
          <a:bodyPr/>
          <a:lstStyle>
            <a:lvl1pPr>
              <a:defRPr/>
            </a:lvl1pPr>
          </a:lstStyle>
          <a:p>
            <a:pPr>
              <a:defRPr/>
            </a:pPr>
            <a:endParaRPr lang="cs-CZ"/>
          </a:p>
        </p:txBody>
      </p:sp>
      <p:sp>
        <p:nvSpPr>
          <p:cNvPr id="5" name="Zástupný symbol pro číslo snímku 5"/>
          <p:cNvSpPr>
            <a:spLocks noGrp="1"/>
          </p:cNvSpPr>
          <p:nvPr>
            <p:ph type="sldNum" sz="quarter" idx="12"/>
          </p:nvPr>
        </p:nvSpPr>
        <p:spPr/>
        <p:txBody>
          <a:bodyPr/>
          <a:lstStyle>
            <a:lvl1pPr>
              <a:defRPr/>
            </a:lvl1pPr>
          </a:lstStyle>
          <a:p>
            <a:pPr>
              <a:defRPr/>
            </a:pPr>
            <a:fld id="{E4FBD647-CEED-4D44-8A24-341A4BFB1562}" type="slidenum">
              <a:rPr lang="cs-CZ" altLang="en-US"/>
              <a:pPr>
                <a:defRPr/>
              </a:pPr>
              <a:t>‹#›</a:t>
            </a:fld>
            <a:endParaRPr lang="cs-CZ" altLang="en-US"/>
          </a:p>
        </p:txBody>
      </p:sp>
    </p:spTree>
    <p:extLst>
      <p:ext uri="{BB962C8B-B14F-4D97-AF65-F5344CB8AC3E}">
        <p14:creationId xmlns:p14="http://schemas.microsoft.com/office/powerpoint/2010/main" val="441358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rázdný">
    <p:spTree>
      <p:nvGrpSpPr>
        <p:cNvPr id="1" name=""/>
        <p:cNvGrpSpPr/>
        <p:nvPr/>
      </p:nvGrpSpPr>
      <p:grpSpPr>
        <a:xfrm>
          <a:off x="0" y="0"/>
          <a:ext cx="0" cy="0"/>
          <a:chOff x="0" y="0"/>
          <a:chExt cx="0" cy="0"/>
        </a:xfrm>
      </p:grpSpPr>
      <p:sp>
        <p:nvSpPr>
          <p:cNvPr id="2" name="Zástupný symbol pro datum 3"/>
          <p:cNvSpPr>
            <a:spLocks noGrp="1"/>
          </p:cNvSpPr>
          <p:nvPr>
            <p:ph type="dt" sz="half" idx="10"/>
          </p:nvPr>
        </p:nvSpPr>
        <p:spPr/>
        <p:txBody>
          <a:bodyPr/>
          <a:lstStyle>
            <a:lvl1pPr>
              <a:defRPr/>
            </a:lvl1pPr>
          </a:lstStyle>
          <a:p>
            <a:pPr>
              <a:defRPr/>
            </a:pPr>
            <a:endParaRPr lang="cs-CZ"/>
          </a:p>
        </p:txBody>
      </p:sp>
      <p:sp>
        <p:nvSpPr>
          <p:cNvPr id="3" name="Zástupný symbol pro zápatí 4"/>
          <p:cNvSpPr>
            <a:spLocks noGrp="1"/>
          </p:cNvSpPr>
          <p:nvPr>
            <p:ph type="ftr" sz="quarter" idx="11"/>
          </p:nvPr>
        </p:nvSpPr>
        <p:spPr/>
        <p:txBody>
          <a:bodyPr/>
          <a:lstStyle>
            <a:lvl1pPr>
              <a:defRPr/>
            </a:lvl1pPr>
          </a:lstStyle>
          <a:p>
            <a:pPr>
              <a:defRPr/>
            </a:pPr>
            <a:endParaRPr lang="cs-CZ"/>
          </a:p>
        </p:txBody>
      </p:sp>
      <p:sp>
        <p:nvSpPr>
          <p:cNvPr id="4" name="Zástupný symbol pro číslo snímku 5"/>
          <p:cNvSpPr>
            <a:spLocks noGrp="1"/>
          </p:cNvSpPr>
          <p:nvPr>
            <p:ph type="sldNum" sz="quarter" idx="12"/>
          </p:nvPr>
        </p:nvSpPr>
        <p:spPr/>
        <p:txBody>
          <a:bodyPr/>
          <a:lstStyle>
            <a:lvl1pPr>
              <a:defRPr/>
            </a:lvl1pPr>
          </a:lstStyle>
          <a:p>
            <a:pPr>
              <a:defRPr/>
            </a:pPr>
            <a:fld id="{A6F96EC1-A09D-41C3-947C-CB3C71F21228}" type="slidenum">
              <a:rPr lang="cs-CZ" altLang="en-US"/>
              <a:pPr>
                <a:defRPr/>
              </a:pPr>
              <a:t>‹#›</a:t>
            </a:fld>
            <a:endParaRPr lang="cs-CZ" altLang="en-US"/>
          </a:p>
        </p:txBody>
      </p:sp>
    </p:spTree>
    <p:extLst>
      <p:ext uri="{BB962C8B-B14F-4D97-AF65-F5344CB8AC3E}">
        <p14:creationId xmlns:p14="http://schemas.microsoft.com/office/powerpoint/2010/main" val="3098391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Obsah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629841" y="457200"/>
            <a:ext cx="2949178" cy="1600200"/>
          </a:xfrm>
        </p:spPr>
        <p:txBody>
          <a:bodyPr anchor="b"/>
          <a:lstStyle>
            <a:lvl1pPr>
              <a:defRPr sz="2400"/>
            </a:lvl1pPr>
          </a:lstStyle>
          <a:p>
            <a:r>
              <a:rPr lang="cs-CZ" smtClean="0"/>
              <a:t>Kliknutím lze upravit styl.</a:t>
            </a:r>
            <a:endParaRPr lang="en-US"/>
          </a:p>
        </p:txBody>
      </p:sp>
      <p:sp>
        <p:nvSpPr>
          <p:cNvPr id="3" name="Zástupný symbol pro obsah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text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cs-CZ" smtClean="0"/>
              <a:t>Kliknutím lze upravit styly předlohy textu.</a:t>
            </a:r>
          </a:p>
        </p:txBody>
      </p:sp>
      <p:sp>
        <p:nvSpPr>
          <p:cNvPr id="5" name="Zástupný symbol pro datum 3"/>
          <p:cNvSpPr>
            <a:spLocks noGrp="1"/>
          </p:cNvSpPr>
          <p:nvPr>
            <p:ph type="dt" sz="half" idx="10"/>
          </p:nvPr>
        </p:nvSpPr>
        <p:spPr/>
        <p:txBody>
          <a:bodyPr/>
          <a:lstStyle>
            <a:lvl1pPr>
              <a:defRPr/>
            </a:lvl1pPr>
          </a:lstStyle>
          <a:p>
            <a:pPr>
              <a:defRPr/>
            </a:pPr>
            <a:endParaRPr lang="cs-CZ"/>
          </a:p>
        </p:txBody>
      </p:sp>
      <p:sp>
        <p:nvSpPr>
          <p:cNvPr id="6" name="Zástupný symbol pro zápatí 4"/>
          <p:cNvSpPr>
            <a:spLocks noGrp="1"/>
          </p:cNvSpPr>
          <p:nvPr>
            <p:ph type="ftr" sz="quarter" idx="11"/>
          </p:nvPr>
        </p:nvSpPr>
        <p:spPr/>
        <p:txBody>
          <a:bodyPr/>
          <a:lstStyle>
            <a:lvl1pPr>
              <a:defRPr/>
            </a:lvl1pPr>
          </a:lstStyle>
          <a:p>
            <a:pPr>
              <a:defRPr/>
            </a:pPr>
            <a:endParaRPr lang="cs-CZ"/>
          </a:p>
        </p:txBody>
      </p:sp>
      <p:sp>
        <p:nvSpPr>
          <p:cNvPr id="7" name="Zástupný symbol pro číslo snímku 5"/>
          <p:cNvSpPr>
            <a:spLocks noGrp="1"/>
          </p:cNvSpPr>
          <p:nvPr>
            <p:ph type="sldNum" sz="quarter" idx="12"/>
          </p:nvPr>
        </p:nvSpPr>
        <p:spPr/>
        <p:txBody>
          <a:bodyPr/>
          <a:lstStyle>
            <a:lvl1pPr>
              <a:defRPr/>
            </a:lvl1pPr>
          </a:lstStyle>
          <a:p>
            <a:pPr>
              <a:defRPr/>
            </a:pPr>
            <a:fld id="{B2B798A6-E2D4-4407-9043-DF517E6777F5}" type="slidenum">
              <a:rPr lang="cs-CZ" altLang="en-US"/>
              <a:pPr>
                <a:defRPr/>
              </a:pPr>
              <a:t>‹#›</a:t>
            </a:fld>
            <a:endParaRPr lang="cs-CZ" altLang="en-US"/>
          </a:p>
        </p:txBody>
      </p:sp>
    </p:spTree>
    <p:extLst>
      <p:ext uri="{BB962C8B-B14F-4D97-AF65-F5344CB8AC3E}">
        <p14:creationId xmlns:p14="http://schemas.microsoft.com/office/powerpoint/2010/main" val="2048577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Obrázek s titulkem">
    <p:spTree>
      <p:nvGrpSpPr>
        <p:cNvPr id="1" name=""/>
        <p:cNvGrpSpPr/>
        <p:nvPr/>
      </p:nvGrpSpPr>
      <p:grpSpPr>
        <a:xfrm>
          <a:off x="0" y="0"/>
          <a:ext cx="0" cy="0"/>
          <a:chOff x="0" y="0"/>
          <a:chExt cx="0" cy="0"/>
        </a:xfrm>
      </p:grpSpPr>
      <p:sp>
        <p:nvSpPr>
          <p:cNvPr id="2" name="Nadpis 1"/>
          <p:cNvSpPr>
            <a:spLocks noGrp="1"/>
          </p:cNvSpPr>
          <p:nvPr>
            <p:ph type="title"/>
          </p:nvPr>
        </p:nvSpPr>
        <p:spPr>
          <a:xfrm>
            <a:off x="629841" y="457200"/>
            <a:ext cx="2949178" cy="1600200"/>
          </a:xfrm>
        </p:spPr>
        <p:txBody>
          <a:bodyPr anchor="b"/>
          <a:lstStyle>
            <a:lvl1pPr>
              <a:defRPr sz="2400"/>
            </a:lvl1pPr>
          </a:lstStyle>
          <a:p>
            <a:r>
              <a:rPr lang="cs-CZ" smtClean="0"/>
              <a:t>Kliknutím lze upravit styl.</a:t>
            </a:r>
            <a:endParaRPr lang="en-US"/>
          </a:p>
        </p:txBody>
      </p:sp>
      <p:sp>
        <p:nvSpPr>
          <p:cNvPr id="3" name="Zástupný symbol pro obrázek 2"/>
          <p:cNvSpPr>
            <a:spLocks noGrp="1"/>
          </p:cNvSpPr>
          <p:nvPr>
            <p:ph type="pic" idx="1"/>
          </p:nvPr>
        </p:nvSpPr>
        <p:spPr>
          <a:xfrm>
            <a:off x="3887391" y="987426"/>
            <a:ext cx="4629150" cy="4873625"/>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en-US" noProof="0" smtClean="0"/>
          </a:p>
        </p:txBody>
      </p:sp>
      <p:sp>
        <p:nvSpPr>
          <p:cNvPr id="4" name="Zástupný symbol pro text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cs-CZ" smtClean="0"/>
              <a:t>Kliknutím lze upravit styly předlohy textu.</a:t>
            </a:r>
          </a:p>
        </p:txBody>
      </p:sp>
      <p:sp>
        <p:nvSpPr>
          <p:cNvPr id="5" name="Zástupný symbol pro datum 3"/>
          <p:cNvSpPr>
            <a:spLocks noGrp="1"/>
          </p:cNvSpPr>
          <p:nvPr>
            <p:ph type="dt" sz="half" idx="10"/>
          </p:nvPr>
        </p:nvSpPr>
        <p:spPr/>
        <p:txBody>
          <a:bodyPr/>
          <a:lstStyle>
            <a:lvl1pPr>
              <a:defRPr/>
            </a:lvl1pPr>
          </a:lstStyle>
          <a:p>
            <a:pPr>
              <a:defRPr/>
            </a:pPr>
            <a:endParaRPr lang="cs-CZ"/>
          </a:p>
        </p:txBody>
      </p:sp>
      <p:sp>
        <p:nvSpPr>
          <p:cNvPr id="6" name="Zástupný symbol pro zápatí 4"/>
          <p:cNvSpPr>
            <a:spLocks noGrp="1"/>
          </p:cNvSpPr>
          <p:nvPr>
            <p:ph type="ftr" sz="quarter" idx="11"/>
          </p:nvPr>
        </p:nvSpPr>
        <p:spPr/>
        <p:txBody>
          <a:bodyPr/>
          <a:lstStyle>
            <a:lvl1pPr>
              <a:defRPr/>
            </a:lvl1pPr>
          </a:lstStyle>
          <a:p>
            <a:pPr>
              <a:defRPr/>
            </a:pPr>
            <a:endParaRPr lang="cs-CZ"/>
          </a:p>
        </p:txBody>
      </p:sp>
      <p:sp>
        <p:nvSpPr>
          <p:cNvPr id="7" name="Zástupný symbol pro číslo snímku 5"/>
          <p:cNvSpPr>
            <a:spLocks noGrp="1"/>
          </p:cNvSpPr>
          <p:nvPr>
            <p:ph type="sldNum" sz="quarter" idx="12"/>
          </p:nvPr>
        </p:nvSpPr>
        <p:spPr/>
        <p:txBody>
          <a:bodyPr/>
          <a:lstStyle>
            <a:lvl1pPr>
              <a:defRPr/>
            </a:lvl1pPr>
          </a:lstStyle>
          <a:p>
            <a:pPr>
              <a:defRPr/>
            </a:pPr>
            <a:fld id="{6BB09321-E800-40B4-9B21-C00F3DA4550D}" type="slidenum">
              <a:rPr lang="cs-CZ" altLang="en-US"/>
              <a:pPr>
                <a:defRPr/>
              </a:pPr>
              <a:t>‹#›</a:t>
            </a:fld>
            <a:endParaRPr lang="cs-CZ" altLang="en-US"/>
          </a:p>
        </p:txBody>
      </p:sp>
    </p:spTree>
    <p:extLst>
      <p:ext uri="{BB962C8B-B14F-4D97-AF65-F5344CB8AC3E}">
        <p14:creationId xmlns:p14="http://schemas.microsoft.com/office/powerpoint/2010/main" val="6881513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Nadpis a svislý text">
    <p:spTree>
      <p:nvGrpSpPr>
        <p:cNvPr id="1" name=""/>
        <p:cNvGrpSpPr/>
        <p:nvPr/>
      </p:nvGrpSpPr>
      <p:grpSpPr>
        <a:xfrm>
          <a:off x="0" y="0"/>
          <a:ext cx="0" cy="0"/>
          <a:chOff x="0" y="0"/>
          <a:chExt cx="0" cy="0"/>
        </a:xfrm>
      </p:grpSpPr>
      <p:sp>
        <p:nvSpPr>
          <p:cNvPr id="2" name="Nadpis 1"/>
          <p:cNvSpPr>
            <a:spLocks noGrp="1"/>
          </p:cNvSpPr>
          <p:nvPr>
            <p:ph type="title"/>
          </p:nvPr>
        </p:nvSpPr>
        <p:spPr/>
        <p:txBody>
          <a:bodyPr/>
          <a:lstStyle/>
          <a:p>
            <a:r>
              <a:rPr lang="cs-CZ" smtClean="0"/>
              <a:t>Kliknutím lze upravit styl.</a:t>
            </a:r>
            <a:endParaRPr lang="en-US"/>
          </a:p>
        </p:txBody>
      </p:sp>
      <p:sp>
        <p:nvSpPr>
          <p:cNvPr id="3" name="Zástupný symbol pro svislý text 2"/>
          <p:cNvSpPr>
            <a:spLocks noGrp="1"/>
          </p:cNvSpPr>
          <p:nvPr>
            <p:ph type="body" orient="vert" idx="1"/>
          </p:nvPr>
        </p:nvSpPr>
        <p:spPr/>
        <p:txBody>
          <a:bodyPr vert="eaVert"/>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datum 3"/>
          <p:cNvSpPr>
            <a:spLocks noGrp="1"/>
          </p:cNvSpPr>
          <p:nvPr>
            <p:ph type="dt" sz="half" idx="10"/>
          </p:nvPr>
        </p:nvSpPr>
        <p:spPr/>
        <p:txBody>
          <a:bodyPr/>
          <a:lstStyle>
            <a:lvl1pPr>
              <a:defRPr/>
            </a:lvl1pPr>
          </a:lstStyle>
          <a:p>
            <a:pPr>
              <a:defRPr/>
            </a:pPr>
            <a:endParaRPr lang="cs-CZ"/>
          </a:p>
        </p:txBody>
      </p:sp>
      <p:sp>
        <p:nvSpPr>
          <p:cNvPr id="5" name="Zástupný symbol pro zápatí 4"/>
          <p:cNvSpPr>
            <a:spLocks noGrp="1"/>
          </p:cNvSpPr>
          <p:nvPr>
            <p:ph type="ftr" sz="quarter" idx="11"/>
          </p:nvPr>
        </p:nvSpPr>
        <p:spPr/>
        <p:txBody>
          <a:bodyPr/>
          <a:lstStyle>
            <a:lvl1pPr>
              <a:defRPr/>
            </a:lvl1pPr>
          </a:lstStyle>
          <a:p>
            <a:pPr>
              <a:defRPr/>
            </a:pPr>
            <a:endParaRPr lang="cs-CZ"/>
          </a:p>
        </p:txBody>
      </p:sp>
      <p:sp>
        <p:nvSpPr>
          <p:cNvPr id="6" name="Zástupný symbol pro číslo snímku 5"/>
          <p:cNvSpPr>
            <a:spLocks noGrp="1"/>
          </p:cNvSpPr>
          <p:nvPr>
            <p:ph type="sldNum" sz="quarter" idx="12"/>
          </p:nvPr>
        </p:nvSpPr>
        <p:spPr/>
        <p:txBody>
          <a:bodyPr/>
          <a:lstStyle>
            <a:lvl1pPr>
              <a:defRPr/>
            </a:lvl1pPr>
          </a:lstStyle>
          <a:p>
            <a:pPr>
              <a:defRPr/>
            </a:pPr>
            <a:fld id="{671AB893-657E-4E47-98CA-CE858D52A6C8}" type="slidenum">
              <a:rPr lang="cs-CZ" altLang="en-US"/>
              <a:pPr>
                <a:defRPr/>
              </a:pPr>
              <a:t>‹#›</a:t>
            </a:fld>
            <a:endParaRPr lang="cs-CZ" altLang="en-US"/>
          </a:p>
        </p:txBody>
      </p:sp>
    </p:spTree>
    <p:extLst>
      <p:ext uri="{BB962C8B-B14F-4D97-AF65-F5344CB8AC3E}">
        <p14:creationId xmlns:p14="http://schemas.microsoft.com/office/powerpoint/2010/main" val="1321609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Svislý nadpis a text">
    <p:spTree>
      <p:nvGrpSpPr>
        <p:cNvPr id="1" name=""/>
        <p:cNvGrpSpPr/>
        <p:nvPr/>
      </p:nvGrpSpPr>
      <p:grpSpPr>
        <a:xfrm>
          <a:off x="0" y="0"/>
          <a:ext cx="0" cy="0"/>
          <a:chOff x="0" y="0"/>
          <a:chExt cx="0" cy="0"/>
        </a:xfrm>
      </p:grpSpPr>
      <p:sp>
        <p:nvSpPr>
          <p:cNvPr id="2" name="Svislý nadpis 1"/>
          <p:cNvSpPr>
            <a:spLocks noGrp="1"/>
          </p:cNvSpPr>
          <p:nvPr>
            <p:ph type="title" orient="vert"/>
          </p:nvPr>
        </p:nvSpPr>
        <p:spPr>
          <a:xfrm>
            <a:off x="6543675" y="365125"/>
            <a:ext cx="1971675" cy="5811838"/>
          </a:xfrm>
        </p:spPr>
        <p:txBody>
          <a:bodyPr vert="eaVert"/>
          <a:lstStyle/>
          <a:p>
            <a:r>
              <a:rPr lang="cs-CZ" smtClean="0"/>
              <a:t>Kliknutím lze upravit styl.</a:t>
            </a:r>
            <a:endParaRPr lang="en-US"/>
          </a:p>
        </p:txBody>
      </p:sp>
      <p:sp>
        <p:nvSpPr>
          <p:cNvPr id="3" name="Zástupný symbol pro svislý text 2"/>
          <p:cNvSpPr>
            <a:spLocks noGrp="1"/>
          </p:cNvSpPr>
          <p:nvPr>
            <p:ph type="body" orient="vert" idx="1"/>
          </p:nvPr>
        </p:nvSpPr>
        <p:spPr>
          <a:xfrm>
            <a:off x="628650" y="365125"/>
            <a:ext cx="5800725" cy="5811838"/>
          </a:xfrm>
        </p:spPr>
        <p:txBody>
          <a:bodyPr vert="eaVert"/>
          <a:lstStyle/>
          <a:p>
            <a:pPr lvl="0"/>
            <a:r>
              <a:rPr lang="cs-CZ" smtClean="0"/>
              <a:t>Kliknutím lze upravit styly předlohy textu.</a:t>
            </a:r>
          </a:p>
          <a:p>
            <a:pPr lvl="1"/>
            <a:r>
              <a:rPr lang="cs-CZ" smtClean="0"/>
              <a:t>Druhá úroveň</a:t>
            </a:r>
          </a:p>
          <a:p>
            <a:pPr lvl="2"/>
            <a:r>
              <a:rPr lang="cs-CZ" smtClean="0"/>
              <a:t>Třetí úroveň</a:t>
            </a:r>
          </a:p>
          <a:p>
            <a:pPr lvl="3"/>
            <a:r>
              <a:rPr lang="cs-CZ" smtClean="0"/>
              <a:t>Čtvrtá úroveň</a:t>
            </a:r>
          </a:p>
          <a:p>
            <a:pPr lvl="4"/>
            <a:r>
              <a:rPr lang="cs-CZ" smtClean="0"/>
              <a:t>Pátá úroveň</a:t>
            </a:r>
            <a:endParaRPr lang="en-US"/>
          </a:p>
        </p:txBody>
      </p:sp>
      <p:sp>
        <p:nvSpPr>
          <p:cNvPr id="4" name="Zástupný symbol pro datum 3"/>
          <p:cNvSpPr>
            <a:spLocks noGrp="1"/>
          </p:cNvSpPr>
          <p:nvPr>
            <p:ph type="dt" sz="half" idx="10"/>
          </p:nvPr>
        </p:nvSpPr>
        <p:spPr/>
        <p:txBody>
          <a:bodyPr/>
          <a:lstStyle>
            <a:lvl1pPr>
              <a:defRPr/>
            </a:lvl1pPr>
          </a:lstStyle>
          <a:p>
            <a:pPr>
              <a:defRPr/>
            </a:pPr>
            <a:endParaRPr lang="cs-CZ"/>
          </a:p>
        </p:txBody>
      </p:sp>
      <p:sp>
        <p:nvSpPr>
          <p:cNvPr id="5" name="Zástupný symbol pro zápatí 4"/>
          <p:cNvSpPr>
            <a:spLocks noGrp="1"/>
          </p:cNvSpPr>
          <p:nvPr>
            <p:ph type="ftr" sz="quarter" idx="11"/>
          </p:nvPr>
        </p:nvSpPr>
        <p:spPr/>
        <p:txBody>
          <a:bodyPr/>
          <a:lstStyle>
            <a:lvl1pPr>
              <a:defRPr/>
            </a:lvl1pPr>
          </a:lstStyle>
          <a:p>
            <a:pPr>
              <a:defRPr/>
            </a:pPr>
            <a:endParaRPr lang="cs-CZ"/>
          </a:p>
        </p:txBody>
      </p:sp>
      <p:sp>
        <p:nvSpPr>
          <p:cNvPr id="6" name="Zástupný symbol pro číslo snímku 5"/>
          <p:cNvSpPr>
            <a:spLocks noGrp="1"/>
          </p:cNvSpPr>
          <p:nvPr>
            <p:ph type="sldNum" sz="quarter" idx="12"/>
          </p:nvPr>
        </p:nvSpPr>
        <p:spPr/>
        <p:txBody>
          <a:bodyPr/>
          <a:lstStyle>
            <a:lvl1pPr>
              <a:defRPr/>
            </a:lvl1pPr>
          </a:lstStyle>
          <a:p>
            <a:pPr>
              <a:defRPr/>
            </a:pPr>
            <a:fld id="{D8804510-1113-4B7E-B823-362443A4C650}" type="slidenum">
              <a:rPr lang="cs-CZ" altLang="en-US"/>
              <a:pPr>
                <a:defRPr/>
              </a:pPr>
              <a:t>‹#›</a:t>
            </a:fld>
            <a:endParaRPr lang="cs-CZ" altLang="en-US"/>
          </a:p>
        </p:txBody>
      </p:sp>
    </p:spTree>
    <p:extLst>
      <p:ext uri="{BB962C8B-B14F-4D97-AF65-F5344CB8AC3E}">
        <p14:creationId xmlns:p14="http://schemas.microsoft.com/office/powerpoint/2010/main" val="1447083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Zástupný symbol pro nadpis 1"/>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cs-CZ" altLang="en-US" smtClean="0"/>
              <a:t>Kliknutím lze upravit styl.</a:t>
            </a:r>
            <a:endParaRPr lang="en-US" altLang="en-US" smtClean="0"/>
          </a:p>
        </p:txBody>
      </p:sp>
      <p:sp>
        <p:nvSpPr>
          <p:cNvPr id="1027" name="Zástupný symbol pro text 2"/>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cs-CZ" altLang="en-US" smtClean="0"/>
              <a:t>Kliknutím lze upravit styly předlohy textu.</a:t>
            </a:r>
          </a:p>
          <a:p>
            <a:pPr lvl="1"/>
            <a:r>
              <a:rPr lang="cs-CZ" altLang="en-US" smtClean="0"/>
              <a:t>Druhá úroveň</a:t>
            </a:r>
          </a:p>
          <a:p>
            <a:pPr lvl="2"/>
            <a:r>
              <a:rPr lang="cs-CZ" altLang="en-US" smtClean="0"/>
              <a:t>Třetí úroveň</a:t>
            </a:r>
          </a:p>
          <a:p>
            <a:pPr lvl="3"/>
            <a:r>
              <a:rPr lang="cs-CZ" altLang="en-US" smtClean="0"/>
              <a:t>Čtvrtá úroveň</a:t>
            </a:r>
          </a:p>
          <a:p>
            <a:pPr lvl="4"/>
            <a:r>
              <a:rPr lang="cs-CZ" altLang="en-US" smtClean="0"/>
              <a:t>Pátá úroveň</a:t>
            </a:r>
            <a:endParaRPr lang="en-US" altLang="en-US" smtClean="0"/>
          </a:p>
        </p:txBody>
      </p:sp>
      <p:sp>
        <p:nvSpPr>
          <p:cNvPr id="4" name="Zástupný symbol pro datum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cs-CZ"/>
          </a:p>
        </p:txBody>
      </p:sp>
      <p:sp>
        <p:nvSpPr>
          <p:cNvPr id="5" name="Zástupný symbol pro zápatí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cs-CZ"/>
          </a:p>
        </p:txBody>
      </p:sp>
      <p:sp>
        <p:nvSpPr>
          <p:cNvPr id="6" name="Zástupný symbol pro číslo snímku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0B740072-1578-45B4-BB10-456E7D11D387}" type="slidenum">
              <a:rPr lang="cs-CZ" altLang="en-US"/>
              <a:pPr>
                <a:defRPr/>
              </a:pPr>
              <a:t>‹#›</a:t>
            </a:fld>
            <a:endParaRPr lang="cs-CZ" altLang="en-US"/>
          </a:p>
        </p:txBody>
      </p:sp>
    </p:spTree>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fontAlgn="base">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fontAlgn="base">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fontAlgn="base">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179388" y="188913"/>
            <a:ext cx="8785225" cy="936625"/>
          </a:xfrm>
          <a:ln w="76200">
            <a:solidFill>
              <a:schemeClr val="tx2"/>
            </a:solidFill>
            <a:miter lim="800000"/>
            <a:headEnd/>
            <a:tailEnd/>
          </a:ln>
        </p:spPr>
        <p:txBody>
          <a:bodyPr/>
          <a:lstStyle/>
          <a:p>
            <a:pPr eaLnBrk="1" hangingPunct="1"/>
            <a:r>
              <a:rPr lang="cs-CZ" altLang="en-US" sz="3600" smtClean="0"/>
              <a:t>IV.A skupina - skupina uhlíku</a:t>
            </a:r>
            <a:r>
              <a:rPr lang="cs-CZ" altLang="en-US" smtClean="0"/>
              <a:t> </a:t>
            </a:r>
          </a:p>
        </p:txBody>
      </p:sp>
      <p:sp>
        <p:nvSpPr>
          <p:cNvPr id="89091" name="Rectangle 3"/>
          <p:cNvSpPr>
            <a:spLocks noGrp="1" noChangeArrowheads="1"/>
          </p:cNvSpPr>
          <p:nvPr>
            <p:ph idx="1"/>
          </p:nvPr>
        </p:nvSpPr>
        <p:spPr>
          <a:xfrm>
            <a:off x="0" y="1196975"/>
            <a:ext cx="9144000" cy="5661025"/>
          </a:xfrm>
        </p:spPr>
        <p:txBody>
          <a:bodyPr/>
          <a:lstStyle/>
          <a:p>
            <a:pPr algn="ctr" eaLnBrk="1" hangingPunct="1">
              <a:buFontTx/>
              <a:buNone/>
            </a:pPr>
            <a:r>
              <a:rPr lang="cs-CZ" altLang="en-US" b="1" smtClean="0">
                <a:solidFill>
                  <a:schemeClr val="tx2"/>
                </a:solidFill>
              </a:rPr>
              <a:t>Uhlík C</a:t>
            </a:r>
          </a:p>
          <a:p>
            <a:pPr eaLnBrk="1" hangingPunct="1">
              <a:buFontTx/>
              <a:buBlip>
                <a:blip r:embed="rId2"/>
              </a:buBlip>
            </a:pPr>
            <a:r>
              <a:rPr lang="cs-CZ" altLang="en-US" sz="2400" b="1" smtClean="0"/>
              <a:t>Grafitový nebo uhelný prach může při vdechování způsobit pneumokoniosu plic (dechové problémy, bolesti hlavy, kašel - nemoc z povolání horníků)</a:t>
            </a:r>
          </a:p>
          <a:p>
            <a:pPr eaLnBrk="1" hangingPunct="1">
              <a:buFontTx/>
              <a:buBlip>
                <a:blip r:embed="rId2"/>
              </a:buBlip>
            </a:pPr>
            <a:r>
              <a:rPr lang="cs-CZ" altLang="en-US" sz="2400" b="1" smtClean="0"/>
              <a:t>Jedovaté jsou některé C-sloučeniny (CO, CS</a:t>
            </a:r>
            <a:r>
              <a:rPr lang="cs-CZ" altLang="en-US" sz="2400" b="1" baseline="-25000" smtClean="0"/>
              <a:t>2</a:t>
            </a:r>
            <a:r>
              <a:rPr lang="cs-CZ" altLang="en-US" sz="2400" b="1" smtClean="0"/>
              <a:t>, COCl</a:t>
            </a:r>
            <a:r>
              <a:rPr lang="cs-CZ" altLang="en-US" sz="2400" b="1" baseline="-25000" smtClean="0"/>
              <a:t>2</a:t>
            </a:r>
            <a:r>
              <a:rPr lang="cs-CZ" altLang="en-US" sz="2400" b="1" smtClean="0"/>
              <a:t>, HCN)</a:t>
            </a:r>
          </a:p>
          <a:p>
            <a:pPr eaLnBrk="1" hangingPunct="1">
              <a:buFontTx/>
              <a:buNone/>
            </a:pPr>
            <a:endParaRPr lang="cs-CZ" altLang="en-US" sz="2400" b="1" smtClean="0"/>
          </a:p>
          <a:p>
            <a:pPr eaLnBrk="1" hangingPunct="1">
              <a:buClr>
                <a:srgbClr val="FF0000"/>
              </a:buClr>
              <a:buFont typeface="Wingdings" panose="05000000000000000000" pitchFamily="2" charset="2"/>
              <a:buChar char="N"/>
            </a:pPr>
            <a:r>
              <a:rPr lang="cs-CZ" altLang="en-US" sz="2800" b="1" smtClean="0">
                <a:solidFill>
                  <a:schemeClr val="tx2"/>
                </a:solidFill>
              </a:rPr>
              <a:t>Oxid uhelnatý</a:t>
            </a:r>
            <a:r>
              <a:rPr lang="cs-CZ" altLang="en-US" sz="2800" smtClean="0"/>
              <a:t> </a:t>
            </a:r>
            <a:r>
              <a:rPr lang="cs-CZ" altLang="en-US" sz="2800" smtClean="0">
                <a:solidFill>
                  <a:srgbClr val="FF0000"/>
                </a:solidFill>
                <a:sym typeface="Wingdings" panose="05000000000000000000" pitchFamily="2" charset="2"/>
              </a:rPr>
              <a:t></a:t>
            </a:r>
          </a:p>
          <a:p>
            <a:pPr eaLnBrk="1" hangingPunct="1">
              <a:buClr>
                <a:srgbClr val="FF0000"/>
              </a:buClr>
              <a:buFont typeface="Wingdings" panose="05000000000000000000" pitchFamily="2" charset="2"/>
              <a:buBlip>
                <a:blip r:embed="rId2"/>
              </a:buBlip>
            </a:pPr>
            <a:r>
              <a:rPr lang="cs-CZ" altLang="en-US" sz="2400" b="1" smtClean="0">
                <a:sym typeface="Wingdings" panose="05000000000000000000" pitchFamily="2" charset="2"/>
              </a:rPr>
              <a:t>Oxid uhelnatý je bezbarvý plyn </a:t>
            </a:r>
            <a:r>
              <a:rPr lang="cs-CZ" altLang="en-US" sz="2400" b="1" smtClean="0">
                <a:solidFill>
                  <a:srgbClr val="FF0000"/>
                </a:solidFill>
                <a:sym typeface="Wingdings" panose="05000000000000000000" pitchFamily="2" charset="2"/>
              </a:rPr>
              <a:t>bez chuti a zápachu</a:t>
            </a:r>
            <a:r>
              <a:rPr lang="cs-CZ" altLang="en-US" sz="2400" b="1" smtClean="0">
                <a:sym typeface="Wingdings" panose="05000000000000000000" pitchFamily="2" charset="2"/>
              </a:rPr>
              <a:t>, nemá dráždivé účinky</a:t>
            </a:r>
          </a:p>
          <a:p>
            <a:pPr eaLnBrk="1" hangingPunct="1">
              <a:buClr>
                <a:srgbClr val="FF0000"/>
              </a:buClr>
              <a:buFont typeface="Wingdings" panose="05000000000000000000" pitchFamily="2" charset="2"/>
              <a:buBlip>
                <a:blip r:embed="rId2"/>
              </a:buBlip>
            </a:pPr>
            <a:r>
              <a:rPr lang="cs-CZ" altLang="en-US" sz="2400" b="1" smtClean="0">
                <a:sym typeface="Wingdings" panose="05000000000000000000" pitchFamily="2" charset="2"/>
              </a:rPr>
              <a:t>Je </a:t>
            </a:r>
            <a:r>
              <a:rPr lang="cs-CZ" altLang="en-US" sz="2400" b="1" smtClean="0">
                <a:solidFill>
                  <a:srgbClr val="FF0000"/>
                </a:solidFill>
                <a:sym typeface="Wingdings" panose="05000000000000000000" pitchFamily="2" charset="2"/>
              </a:rPr>
              <a:t>nepatrně lehčí než vzduch</a:t>
            </a:r>
            <a:r>
              <a:rPr lang="cs-CZ" altLang="en-US" sz="2400" b="1" smtClean="0">
                <a:sym typeface="Wingdings" panose="05000000000000000000" pitchFamily="2" charset="2"/>
              </a:rPr>
              <a:t>, hoří modrým plamenem</a:t>
            </a:r>
          </a:p>
          <a:p>
            <a:pPr eaLnBrk="1" hangingPunct="1">
              <a:buClr>
                <a:srgbClr val="FF0000"/>
              </a:buClr>
              <a:buFont typeface="Wingdings" panose="05000000000000000000" pitchFamily="2" charset="2"/>
              <a:buBlip>
                <a:blip r:embed="rId2"/>
              </a:buBlip>
            </a:pPr>
            <a:r>
              <a:rPr lang="cs-CZ" altLang="en-US" sz="2400" b="1" smtClean="0">
                <a:sym typeface="Wingdings" panose="05000000000000000000" pitchFamily="2" charset="2"/>
              </a:rPr>
              <a:t>je-li ve vzduchu přítomen v množství 12,5 až 74,2%, vybuchuje za vzniku oxidu uhličitého</a:t>
            </a:r>
          </a:p>
          <a:p>
            <a:pPr eaLnBrk="1" hangingPunct="1">
              <a:buClr>
                <a:srgbClr val="FF0000"/>
              </a:buClr>
              <a:buFont typeface="Wingdings" panose="05000000000000000000" pitchFamily="2" charset="2"/>
              <a:buBlip>
                <a:blip r:embed="rId2"/>
              </a:buBlip>
            </a:pPr>
            <a:r>
              <a:rPr lang="cs-CZ" altLang="en-US" sz="2400" b="1" smtClean="0">
                <a:sym typeface="Wingdings" panose="05000000000000000000" pitchFamily="2" charset="2"/>
              </a:rPr>
              <a:t>s některými kovy reaguje oxid uhelnatý za vzniku </a:t>
            </a:r>
            <a:r>
              <a:rPr lang="cs-CZ" altLang="en-US" sz="2400" b="1" smtClean="0">
                <a:solidFill>
                  <a:srgbClr val="FF0000"/>
                </a:solidFill>
                <a:sym typeface="Wingdings" panose="05000000000000000000" pitchFamily="2" charset="2"/>
              </a:rPr>
              <a:t>karbonylů</a:t>
            </a:r>
            <a:r>
              <a:rPr lang="cs-CZ" altLang="en-US" sz="2400" b="1" smtClean="0">
                <a:sym typeface="Wingdings" panose="05000000000000000000" pitchFamily="2" charset="2"/>
              </a:rPr>
              <a:t>, které jsou také vysoce toxické</a:t>
            </a:r>
            <a:r>
              <a:rPr lang="cs-CZ" altLang="en-US" sz="2800" smtClean="0">
                <a:sym typeface="Wingdings" panose="05000000000000000000" pitchFamily="2" charset="2"/>
              </a:rPr>
              <a:t> </a:t>
            </a:r>
            <a:endParaRPr lang="cs-CZ" altLang="en-US" sz="2800" b="1" smtClean="0">
              <a:solidFill>
                <a:srgbClr val="FF0000"/>
              </a:solidFill>
              <a:sym typeface="Wingdings" panose="05000000000000000000" pitchFamily="2" charset="2"/>
            </a:endParaRPr>
          </a:p>
          <a:p>
            <a:pPr eaLnBrk="1" hangingPunct="1">
              <a:buFont typeface="Wingdings" panose="05000000000000000000" pitchFamily="2" charset="2"/>
              <a:buChar char="N"/>
            </a:pPr>
            <a:endParaRPr lang="cs-CZ" altLang="en-US" sz="2800" b="1" smtClean="0">
              <a:solidFill>
                <a:srgbClr val="FF0000"/>
              </a:solidFill>
              <a:sym typeface="Wingdings" panose="05000000000000000000" pitchFamily="2" charset="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0114"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Otrava oxidem uhelnatým je jednou z nejčastějších otrav vůbec</a:t>
            </a:r>
          </a:p>
          <a:p>
            <a:pPr eaLnBrk="1" hangingPunct="1">
              <a:buFontTx/>
              <a:buBlip>
                <a:blip r:embed="rId2"/>
              </a:buBlip>
            </a:pPr>
            <a:r>
              <a:rPr lang="cs-CZ" altLang="en-US" sz="2400" b="1" smtClean="0"/>
              <a:t>Její nebezpečnost tkví v tom, že oxid uhelnatý je nepostřehnutelný smysly</a:t>
            </a:r>
          </a:p>
          <a:p>
            <a:pPr eaLnBrk="1" hangingPunct="1">
              <a:buFontTx/>
              <a:buNone/>
            </a:pPr>
            <a:endParaRPr lang="cs-CZ" altLang="en-US" sz="2400" b="1" smtClean="0"/>
          </a:p>
          <a:p>
            <a:pPr eaLnBrk="1" hangingPunct="1">
              <a:buFontTx/>
              <a:buBlip>
                <a:blip r:embed="rId2"/>
              </a:buBlip>
            </a:pPr>
            <a:r>
              <a:rPr lang="cs-CZ" altLang="en-US" sz="2400" b="1" smtClean="0"/>
              <a:t>Oxid uhelnatý vzniká všude, kde dochází k nedokonalému spalování </a:t>
            </a:r>
            <a:r>
              <a:rPr lang="cs-CZ" altLang="en-US" sz="2400" b="1" smtClean="0">
                <a:solidFill>
                  <a:schemeClr val="hlink"/>
                </a:solidFill>
              </a:rPr>
              <a:t>(kouř cigaret, výfukové plyny, vzniká např. po výbuchu střelného prachu, je též součástí vodního plynu a svítiplynu)</a:t>
            </a:r>
          </a:p>
          <a:p>
            <a:pPr eaLnBrk="1" hangingPunct="1">
              <a:buFontTx/>
              <a:buNone/>
            </a:pPr>
            <a:endParaRPr lang="cs-CZ" altLang="en-US" sz="2400" b="1" smtClean="0"/>
          </a:p>
          <a:p>
            <a:pPr eaLnBrk="1" hangingPunct="1">
              <a:buFontTx/>
              <a:buBlip>
                <a:blip r:embed="rId2"/>
              </a:buBlip>
            </a:pPr>
            <a:r>
              <a:rPr lang="cs-CZ" altLang="en-US" sz="2400" b="1" smtClean="0"/>
              <a:t>Oxid uhelnatý se vstřebává plícemi a rychle se slučuje s hemoglobinem, za vzniku </a:t>
            </a:r>
            <a:r>
              <a:rPr lang="cs-CZ" altLang="en-US" sz="2400" b="1" smtClean="0">
                <a:solidFill>
                  <a:srgbClr val="FF0000"/>
                </a:solidFill>
              </a:rPr>
              <a:t>karboxyhemoglobinu</a:t>
            </a:r>
          </a:p>
          <a:p>
            <a:pPr eaLnBrk="1" hangingPunct="1">
              <a:buFontTx/>
              <a:buBlip>
                <a:blip r:embed="rId2"/>
              </a:buBlip>
            </a:pPr>
            <a:r>
              <a:rPr lang="cs-CZ" altLang="en-US" sz="2400" b="1" smtClean="0"/>
              <a:t>vazba oxidu uhelnatého k železnatému iontu hemoglobinu je přibližně </a:t>
            </a:r>
            <a:r>
              <a:rPr lang="cs-CZ" altLang="en-US" sz="2400" b="1" smtClean="0">
                <a:solidFill>
                  <a:schemeClr val="tx2"/>
                </a:solidFill>
              </a:rPr>
              <a:t>220krát silnější než vazba kyslíku</a:t>
            </a:r>
          </a:p>
          <a:p>
            <a:pPr eaLnBrk="1" hangingPunct="1">
              <a:buFontTx/>
              <a:buBlip>
                <a:blip r:embed="rId2"/>
              </a:buBlip>
            </a:pPr>
            <a:r>
              <a:rPr lang="cs-CZ" altLang="en-US" sz="2400" b="1" smtClean="0"/>
              <a:t>vazba je však reverzibilní a oxyhemoglobin lze regenerovat zvýšeným přísunem kyslíku</a:t>
            </a:r>
          </a:p>
          <a:p>
            <a:pPr eaLnBrk="1" hangingPunct="1">
              <a:buFontTx/>
              <a:buNone/>
            </a:pPr>
            <a:endParaRPr lang="cs-CZ" altLang="en-US" sz="2400" b="1" smtClean="0"/>
          </a:p>
          <a:p>
            <a:pPr eaLnBrk="1" hangingPunct="1">
              <a:buFontTx/>
              <a:buBlip>
                <a:blip r:embed="rId2"/>
              </a:buBlip>
            </a:pPr>
            <a:endParaRPr lang="cs-CZ" altLang="en-US" sz="2400" b="1" smtClean="0"/>
          </a:p>
          <a:p>
            <a:pPr eaLnBrk="1" hangingPunct="1">
              <a:buFontTx/>
              <a:buBlip>
                <a:blip r:embed="rId2"/>
              </a:buBlip>
            </a:pPr>
            <a:endParaRPr lang="cs-CZ" altLang="en-US" sz="2400" b="1"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1138" name="Rectangle 3"/>
          <p:cNvSpPr>
            <a:spLocks noGrp="1" noChangeArrowheads="1"/>
          </p:cNvSpPr>
          <p:nvPr>
            <p:ph idx="1"/>
          </p:nvPr>
        </p:nvSpPr>
        <p:spPr>
          <a:xfrm>
            <a:off x="0" y="0"/>
            <a:ext cx="9144000" cy="6858000"/>
          </a:xfrm>
        </p:spPr>
        <p:txBody>
          <a:bodyPr/>
          <a:lstStyle/>
          <a:p>
            <a:pPr eaLnBrk="1" hangingPunct="1">
              <a:buFontTx/>
              <a:buBlip>
                <a:blip r:embed="rId2"/>
              </a:buBlip>
            </a:pPr>
            <a:r>
              <a:rPr lang="cs-CZ" altLang="en-US" sz="2400" b="1" smtClean="0"/>
              <a:t>ve tkáních se oxid uhelnatý váže na myoglobin a </a:t>
            </a:r>
            <a:r>
              <a:rPr lang="cs-CZ" altLang="en-US" sz="2400" b="1" smtClean="0">
                <a:solidFill>
                  <a:srgbClr val="FF0000"/>
                </a:solidFill>
              </a:rPr>
              <a:t>blokuje dýchací enzymy zvané cytochromoxidasy</a:t>
            </a:r>
            <a:r>
              <a:rPr lang="cs-CZ" altLang="en-US" sz="2400" b="1" smtClean="0"/>
              <a:t>, takže dochází k buněčnému dušení</a:t>
            </a:r>
          </a:p>
          <a:p>
            <a:pPr eaLnBrk="1" hangingPunct="1">
              <a:buFontTx/>
              <a:buBlip>
                <a:blip r:embed="rId2"/>
              </a:buBlip>
            </a:pPr>
            <a:r>
              <a:rPr lang="cs-CZ" altLang="en-US" sz="2400" b="1" smtClean="0"/>
              <a:t>Oxid uhelnatý snadno proniká placentární bariérou a </a:t>
            </a:r>
            <a:r>
              <a:rPr lang="cs-CZ" altLang="en-US" sz="2400" b="1" smtClean="0">
                <a:solidFill>
                  <a:srgbClr val="FF0000"/>
                </a:solidFill>
              </a:rPr>
              <a:t>ohrožuje tak plod</a:t>
            </a:r>
            <a:r>
              <a:rPr lang="cs-CZ" altLang="en-US" sz="2400" b="1" smtClean="0"/>
              <a:t>, který je vůči němu obzvláště citlivý</a:t>
            </a:r>
          </a:p>
          <a:p>
            <a:pPr eaLnBrk="1" hangingPunct="1">
              <a:buFontTx/>
              <a:buBlip>
                <a:blip r:embed="rId2"/>
              </a:buBlip>
            </a:pPr>
            <a:r>
              <a:rPr lang="cs-CZ" altLang="en-US" sz="2400" b="1" smtClean="0"/>
              <a:t>mladí lidé jsou k oxidu uhelnatému všeobecně citlivější než staří.</a:t>
            </a:r>
          </a:p>
          <a:p>
            <a:pPr eaLnBrk="1" hangingPunct="1">
              <a:buFontTx/>
              <a:buBlip>
                <a:blip r:embed="rId2"/>
              </a:buBlip>
            </a:pPr>
            <a:r>
              <a:rPr lang="cs-CZ" altLang="en-US" sz="2400" b="1" smtClean="0">
                <a:solidFill>
                  <a:schemeClr val="tx2"/>
                </a:solidFill>
              </a:rPr>
              <a:t>Projevy otravy</a:t>
            </a:r>
            <a:r>
              <a:rPr lang="cs-CZ" altLang="en-US" sz="2400" b="1" smtClean="0"/>
              <a:t> – nastávají při překročení 10% koncentrace karboxyhemoglobinu v krvi </a:t>
            </a:r>
          </a:p>
          <a:p>
            <a:pPr eaLnBrk="1" hangingPunct="1">
              <a:buFontTx/>
              <a:buBlip>
                <a:blip r:embed="rId2"/>
              </a:buBlip>
            </a:pPr>
            <a:r>
              <a:rPr lang="cs-CZ" altLang="en-US" sz="2400" b="1" smtClean="0"/>
              <a:t>otrava oxidem uhelnatým se projevuje zejména na orgánech, citlivých na nedostatek kyslíku (</a:t>
            </a:r>
            <a:r>
              <a:rPr lang="cs-CZ" altLang="en-US" sz="2400" b="1" smtClean="0">
                <a:solidFill>
                  <a:srgbClr val="FF0000"/>
                </a:solidFill>
              </a:rPr>
              <a:t>srdce, mozek</a:t>
            </a:r>
            <a:r>
              <a:rPr lang="cs-CZ" altLang="en-US" sz="2400" b="1" smtClean="0"/>
              <a:t>)</a:t>
            </a:r>
          </a:p>
          <a:p>
            <a:pPr eaLnBrk="1" hangingPunct="1">
              <a:buFontTx/>
              <a:buBlip>
                <a:blip r:embed="rId2"/>
              </a:buBlip>
            </a:pPr>
            <a:r>
              <a:rPr lang="cs-CZ" altLang="en-US" sz="2400" b="1" smtClean="0"/>
              <a:t>lehčí otravy se projevují </a:t>
            </a:r>
            <a:r>
              <a:rPr lang="cs-CZ" altLang="en-US" sz="2400" b="1" smtClean="0">
                <a:solidFill>
                  <a:schemeClr val="hlink"/>
                </a:solidFill>
              </a:rPr>
              <a:t>bolestmi hlavy, bušením krve v hlavě, tlakem na prsou, závratěmi; dostavuje se celková nevolnost, zvracení</a:t>
            </a:r>
          </a:p>
          <a:p>
            <a:pPr eaLnBrk="1" hangingPunct="1">
              <a:buFontTx/>
              <a:buBlip>
                <a:blip r:embed="rId2"/>
              </a:buBlip>
            </a:pPr>
            <a:r>
              <a:rPr lang="cs-CZ" altLang="en-US" sz="2400" b="1" smtClean="0"/>
              <a:t>barva kůže se mění na </a:t>
            </a:r>
            <a:r>
              <a:rPr lang="cs-CZ" altLang="en-US" sz="2400" b="1" smtClean="0">
                <a:solidFill>
                  <a:schemeClr val="tx2"/>
                </a:solidFill>
              </a:rPr>
              <a:t>třešňově červenou</a:t>
            </a:r>
            <a:r>
              <a:rPr lang="cs-CZ" altLang="en-US" sz="2400" b="1" smtClean="0"/>
              <a:t>, což je způsobeno přítomností krve s karboxyhemoglobinem v kapilárách</a:t>
            </a:r>
          </a:p>
          <a:p>
            <a:pPr eaLnBrk="1" hangingPunct="1">
              <a:buFontTx/>
              <a:buBlip>
                <a:blip r:embed="rId2"/>
              </a:buBlip>
            </a:pPr>
            <a:r>
              <a:rPr lang="cs-CZ" altLang="en-US" sz="2400" b="1" smtClean="0"/>
              <a:t>pokud je dotyčný přenesen na čerstvý vzduch, dojde k rychlému zotavení</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62"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při těžších otravách oxidem uhelnatým značný sklon k </a:t>
            </a:r>
            <a:r>
              <a:rPr lang="cs-CZ" altLang="en-US" sz="2400" b="1" smtClean="0">
                <a:solidFill>
                  <a:schemeClr val="hlink"/>
                </a:solidFill>
              </a:rPr>
              <a:t>mdlobám (slábnou nohy, člověk přestává cítit půdu pod nohama, předměty se zdají být větší, tělesná teplota stoupá až na 42°C)</a:t>
            </a:r>
          </a:p>
          <a:p>
            <a:pPr eaLnBrk="1" hangingPunct="1">
              <a:buFontTx/>
              <a:buBlip>
                <a:blip r:embed="rId2"/>
              </a:buBlip>
            </a:pPr>
            <a:r>
              <a:rPr lang="cs-CZ" altLang="en-US" sz="2400" b="1" smtClean="0"/>
              <a:t>ačkoli si postižený uvědomuje svou situaci, nemá obvykle dostatek síly k útěku a upadá v zamořené oblasti do bezvědomí</a:t>
            </a:r>
          </a:p>
          <a:p>
            <a:pPr eaLnBrk="1" hangingPunct="1">
              <a:buFontTx/>
              <a:buBlip>
                <a:blip r:embed="rId2"/>
              </a:buBlip>
            </a:pPr>
            <a:r>
              <a:rPr lang="cs-CZ" altLang="en-US" sz="2400" b="1" smtClean="0"/>
              <a:t>bezvědomí trvá několik dní, a to i v případech, že je dotyčný zachráněn a hladina karboxyhemoglobinu v krvi se vrátí opět k normálu</a:t>
            </a:r>
          </a:p>
          <a:p>
            <a:pPr eaLnBrk="1" hangingPunct="1">
              <a:buFontTx/>
              <a:buBlip>
                <a:blip r:embed="rId2"/>
              </a:buBlip>
            </a:pPr>
            <a:r>
              <a:rPr lang="cs-CZ" altLang="en-US" sz="2400" b="1" smtClean="0"/>
              <a:t>po probuzení můžeme pozorovat změny povahy a intelektu</a:t>
            </a:r>
          </a:p>
          <a:p>
            <a:pPr eaLnBrk="1" hangingPunct="1">
              <a:buFontTx/>
              <a:buBlip>
                <a:blip r:embed="rId2"/>
              </a:buBlip>
            </a:pPr>
            <a:r>
              <a:rPr lang="cs-CZ" altLang="en-US" sz="2400" b="1" smtClean="0"/>
              <a:t>smrt nastává zadušením a může nastat jak téměř okamžitě po silné expozici, tak i po mnoha dnech</a:t>
            </a:r>
          </a:p>
          <a:p>
            <a:pPr eaLnBrk="1" hangingPunct="1">
              <a:buFontTx/>
              <a:buBlip>
                <a:blip r:embed="rId2"/>
              </a:buBlip>
            </a:pPr>
            <a:r>
              <a:rPr lang="cs-CZ" altLang="en-US" sz="2400" b="1" smtClean="0"/>
              <a:t>otrava oxidem uhelnatým je vždy vážná</a:t>
            </a:r>
            <a:r>
              <a:rPr lang="cs-CZ" altLang="en-US" sz="2400" smtClean="0"/>
              <a:t> </a:t>
            </a:r>
            <a:endParaRPr lang="cs-CZ" altLang="en-US" sz="2400" smtClean="0">
              <a:solidFill>
                <a:srgbClr val="FF0000"/>
              </a:solidFill>
              <a:sym typeface="Wingdings" panose="05000000000000000000" pitchFamily="2" charset="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3186"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Oxid uhličitý CO</a:t>
            </a:r>
            <a:r>
              <a:rPr lang="cs-CZ" altLang="en-US" sz="2800" b="1" baseline="-25000" smtClean="0">
                <a:solidFill>
                  <a:schemeClr val="tx2"/>
                </a:solidFill>
              </a:rPr>
              <a:t>2</a:t>
            </a:r>
            <a:r>
              <a:rPr lang="cs-CZ" altLang="en-US" smtClean="0"/>
              <a:t> </a:t>
            </a:r>
          </a:p>
          <a:p>
            <a:pPr eaLnBrk="1" hangingPunct="1">
              <a:buFontTx/>
              <a:buBlip>
                <a:blip r:embed="rId2"/>
              </a:buBlip>
            </a:pPr>
            <a:r>
              <a:rPr lang="cs-CZ" altLang="en-US" sz="2400" b="1" smtClean="0"/>
              <a:t>Oxid uhličitý je plynná látka bez zápachu, těžší než vzduch, takže se hromadí při zemi</a:t>
            </a:r>
          </a:p>
          <a:p>
            <a:pPr eaLnBrk="1" hangingPunct="1">
              <a:buFontTx/>
              <a:buBlip>
                <a:blip r:embed="rId2"/>
              </a:buBlip>
            </a:pPr>
            <a:r>
              <a:rPr lang="cs-CZ" altLang="en-US" sz="2400" b="1" smtClean="0"/>
              <a:t>vzniká při dýchání, ale též při kvašení a hnití. Je obsažen v atmosféře v množství asi 0,03%</a:t>
            </a:r>
          </a:p>
          <a:p>
            <a:pPr eaLnBrk="1" hangingPunct="1">
              <a:buFontTx/>
              <a:buBlip>
                <a:blip r:embed="rId2"/>
              </a:buBlip>
            </a:pPr>
            <a:r>
              <a:rPr lang="cs-CZ" altLang="en-US" sz="2400" b="1" smtClean="0"/>
              <a:t>při obsahu nad 5 % ve vzduchu tlumí CNS a dýchací centrum (bolesti hlavy)</a:t>
            </a:r>
          </a:p>
          <a:p>
            <a:pPr eaLnBrk="1" hangingPunct="1">
              <a:buFontTx/>
              <a:buBlip>
                <a:blip r:embed="rId2"/>
              </a:buBlip>
            </a:pPr>
            <a:r>
              <a:rPr lang="cs-CZ" altLang="en-US" sz="2400" b="1" smtClean="0"/>
              <a:t>při vdechování vzduchu o koncentracích větších než 20% nastává smrt zástavou dechu v průběhu několika sekund</a:t>
            </a:r>
          </a:p>
          <a:p>
            <a:pPr eaLnBrk="1" hangingPunct="1">
              <a:buFontTx/>
              <a:buBlip>
                <a:blip r:embed="rId2"/>
              </a:buBlip>
            </a:pPr>
            <a:endParaRPr lang="cs-CZ" altLang="en-US" sz="2400" b="1" smtClean="0"/>
          </a:p>
          <a:p>
            <a:pPr eaLnBrk="1" hangingPunct="1">
              <a:buFontTx/>
              <a:buNone/>
            </a:pPr>
            <a:r>
              <a:rPr lang="cs-CZ" altLang="en-US" sz="2800" smtClean="0">
                <a:solidFill>
                  <a:srgbClr val="FF0000"/>
                </a:solidFill>
                <a:sym typeface="Wingdings" panose="05000000000000000000" pitchFamily="2" charset="2"/>
              </a:rPr>
              <a:t> </a:t>
            </a:r>
            <a:r>
              <a:rPr lang="cs-CZ" altLang="en-US" sz="2800" b="1" smtClean="0">
                <a:solidFill>
                  <a:schemeClr val="tx2"/>
                </a:solidFill>
              </a:rPr>
              <a:t>Fosgen COCl</a:t>
            </a:r>
            <a:r>
              <a:rPr lang="cs-CZ" altLang="en-US" sz="2800" b="1" baseline="-25000" smtClean="0">
                <a:solidFill>
                  <a:schemeClr val="tx2"/>
                </a:solidFill>
              </a:rPr>
              <a:t>2</a:t>
            </a:r>
            <a:r>
              <a:rPr lang="cs-CZ" altLang="en-US" smtClean="0"/>
              <a:t> </a:t>
            </a:r>
            <a:r>
              <a:rPr lang="cs-CZ" altLang="en-US" smtClean="0">
                <a:solidFill>
                  <a:srgbClr val="FF0000"/>
                </a:solidFill>
                <a:sym typeface="Wingdings" panose="05000000000000000000" pitchFamily="2" charset="2"/>
              </a:rPr>
              <a:t></a:t>
            </a:r>
          </a:p>
          <a:p>
            <a:pPr eaLnBrk="1" hangingPunct="1">
              <a:buFontTx/>
              <a:buBlip>
                <a:blip r:embed="rId2"/>
              </a:buBlip>
            </a:pPr>
            <a:r>
              <a:rPr lang="cs-CZ" altLang="en-US" sz="2400" b="1" smtClean="0"/>
              <a:t>Fosgen je jedním z nejnebezpečnějších plynů</a:t>
            </a:r>
          </a:p>
          <a:p>
            <a:pPr eaLnBrk="1" hangingPunct="1">
              <a:buFontTx/>
              <a:buBlip>
                <a:blip r:embed="rId2"/>
              </a:buBlip>
            </a:pPr>
            <a:r>
              <a:rPr lang="cs-CZ" altLang="en-US" sz="2400" b="1" smtClean="0"/>
              <a:t>jako bojový plyn byl poprvé použit v první světové válce</a:t>
            </a:r>
          </a:p>
          <a:p>
            <a:pPr eaLnBrk="1" hangingPunct="1">
              <a:buFontTx/>
              <a:buBlip>
                <a:blip r:embed="rId2"/>
              </a:buBlip>
            </a:pPr>
            <a:r>
              <a:rPr lang="cs-CZ" altLang="en-US" sz="2400" b="1" smtClean="0"/>
              <a:t>v průmyslu se používá při výrobě pesticidů, barviv a léčiv</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4210"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solidFill>
                  <a:schemeClr val="tx2"/>
                </a:solidFill>
              </a:rPr>
              <a:t>Projevy otravy</a:t>
            </a:r>
            <a:r>
              <a:rPr lang="cs-CZ" altLang="en-US" sz="2400" b="1" smtClean="0"/>
              <a:t> - kašel, bolesti břicha, pocit žízně, modrání koncových částí těla (cyanosa), vědomí však zůstává neporušené</a:t>
            </a:r>
          </a:p>
          <a:p>
            <a:pPr eaLnBrk="1" hangingPunct="1">
              <a:buFontTx/>
              <a:buBlip>
                <a:blip r:embed="rId2"/>
              </a:buBlip>
            </a:pPr>
            <a:r>
              <a:rPr lang="cs-CZ" altLang="en-US" sz="2400" b="1" smtClean="0"/>
              <a:t>Vážnější otravy </a:t>
            </a:r>
            <a:r>
              <a:rPr lang="cs-CZ" altLang="en-US" sz="2400" b="1" smtClean="0">
                <a:solidFill>
                  <a:srgbClr val="FF0000"/>
                </a:solidFill>
                <a:sym typeface="Wingdings 3" panose="05040102010807070707" pitchFamily="18" charset="2"/>
              </a:rPr>
              <a:t></a:t>
            </a:r>
            <a:r>
              <a:rPr lang="cs-CZ" altLang="en-US" sz="2400" b="1" smtClean="0">
                <a:sym typeface="Wingdings 3" panose="05040102010807070707" pitchFamily="18" charset="2"/>
              </a:rPr>
              <a:t> </a:t>
            </a:r>
            <a:r>
              <a:rPr lang="cs-CZ" altLang="en-US" sz="2400" b="1" smtClean="0"/>
              <a:t>edém plic a </a:t>
            </a:r>
            <a:r>
              <a:rPr lang="cs-CZ" altLang="en-US" sz="2400" smtClean="0">
                <a:solidFill>
                  <a:srgbClr val="FF0000"/>
                </a:solidFill>
                <a:sym typeface="Wingdings" panose="05000000000000000000" pitchFamily="2" charset="2"/>
              </a:rPr>
              <a:t></a:t>
            </a:r>
            <a:r>
              <a:rPr lang="cs-CZ" altLang="en-US" sz="2400" b="1" smtClean="0">
                <a:sym typeface="Wingdings" panose="05000000000000000000" pitchFamily="2" charset="2"/>
              </a:rPr>
              <a:t> (</a:t>
            </a:r>
            <a:r>
              <a:rPr lang="cs-CZ" altLang="en-US" sz="2400" b="1" smtClean="0"/>
              <a:t>smrt)</a:t>
            </a:r>
          </a:p>
          <a:p>
            <a:pPr eaLnBrk="1" hangingPunct="1">
              <a:buFontTx/>
              <a:buBlip>
                <a:blip r:embed="rId2"/>
              </a:buBlip>
            </a:pPr>
            <a:r>
              <a:rPr lang="cs-CZ" altLang="en-US" sz="2400" b="1" smtClean="0"/>
              <a:t>fosgen se může tvořit i z halogenovaných uhlovodíků, jako je tetrachlormethan či chloroform, a to působením světla či vyšších teplot za přítomnosti kyslíku </a:t>
            </a:r>
            <a:r>
              <a:rPr lang="cs-CZ" altLang="en-US" sz="2400" b="1" smtClean="0">
                <a:solidFill>
                  <a:srgbClr val="FF0000"/>
                </a:solidFill>
                <a:sym typeface="Wingdings 3" panose="05040102010807070707" pitchFamily="18" charset="2"/>
              </a:rPr>
              <a:t></a:t>
            </a:r>
            <a:r>
              <a:rPr lang="cs-CZ" altLang="en-US" sz="2400" b="1" smtClean="0"/>
              <a:t> Proto je nutno tyto látky uchovávat v </a:t>
            </a:r>
            <a:r>
              <a:rPr lang="cs-CZ" altLang="en-US" sz="2400" b="1" smtClean="0">
                <a:solidFill>
                  <a:srgbClr val="FF0000"/>
                </a:solidFill>
              </a:rPr>
              <a:t>tmavých lahvích</a:t>
            </a:r>
            <a:r>
              <a:rPr lang="cs-CZ" altLang="en-US" sz="2400" b="1" smtClean="0"/>
              <a:t> a přidávat k nim </a:t>
            </a:r>
            <a:r>
              <a:rPr lang="cs-CZ" altLang="en-US" sz="2400" b="1" smtClean="0">
                <a:solidFill>
                  <a:srgbClr val="FF0000"/>
                </a:solidFill>
              </a:rPr>
              <a:t>stabilizátor</a:t>
            </a:r>
          </a:p>
          <a:p>
            <a:pPr eaLnBrk="1" hangingPunct="1">
              <a:buFontTx/>
              <a:buNone/>
            </a:pPr>
            <a:endParaRPr lang="cs-CZ" altLang="en-US" smtClean="0"/>
          </a:p>
          <a:p>
            <a:pPr eaLnBrk="1" hangingPunct="1">
              <a:buClr>
                <a:srgbClr val="FF0000"/>
              </a:buClr>
              <a:buFont typeface="Wingdings" panose="05000000000000000000" pitchFamily="2" charset="2"/>
              <a:buChar char="N"/>
            </a:pPr>
            <a:r>
              <a:rPr lang="cs-CZ" altLang="en-US" sz="2800" b="1" smtClean="0">
                <a:solidFill>
                  <a:schemeClr val="tx2"/>
                </a:solidFill>
              </a:rPr>
              <a:t>Sirouhlík CS</a:t>
            </a:r>
            <a:r>
              <a:rPr lang="cs-CZ" altLang="en-US" sz="2800" b="1" baseline="-25000" smtClean="0">
                <a:solidFill>
                  <a:schemeClr val="tx2"/>
                </a:solidFill>
              </a:rPr>
              <a:t>2</a:t>
            </a:r>
            <a:r>
              <a:rPr lang="cs-CZ" altLang="en-US" smtClean="0"/>
              <a:t> </a:t>
            </a:r>
            <a:r>
              <a:rPr lang="cs-CZ" altLang="en-US" smtClean="0">
                <a:solidFill>
                  <a:srgbClr val="FF0000"/>
                </a:solidFill>
                <a:sym typeface="Wingdings" panose="05000000000000000000" pitchFamily="2" charset="2"/>
              </a:rPr>
              <a:t></a:t>
            </a:r>
            <a:r>
              <a:rPr lang="cs-CZ" altLang="en-US" smtClean="0"/>
              <a:t> </a:t>
            </a:r>
          </a:p>
          <a:p>
            <a:pPr eaLnBrk="1" hangingPunct="1">
              <a:buFont typeface="Wingdings" panose="05000000000000000000" pitchFamily="2" charset="2"/>
              <a:buBlip>
                <a:blip r:embed="rId2"/>
              </a:buBlip>
            </a:pPr>
            <a:r>
              <a:rPr lang="cs-CZ" altLang="en-US" sz="2400" b="1" smtClean="0"/>
              <a:t>Sirouhlík je významným průmyslovým rozpouštědlem</a:t>
            </a:r>
          </a:p>
          <a:p>
            <a:pPr eaLnBrk="1" hangingPunct="1">
              <a:buFont typeface="Wingdings" panose="05000000000000000000" pitchFamily="2" charset="2"/>
              <a:buBlip>
                <a:blip r:embed="rId2"/>
              </a:buBlip>
            </a:pPr>
            <a:r>
              <a:rPr lang="cs-CZ" altLang="en-US" sz="2400" b="1" smtClean="0"/>
              <a:t>k otravám dochází poměrně často, přestože je čichově snadno odhalitelný i v malých množstvích</a:t>
            </a:r>
          </a:p>
          <a:p>
            <a:pPr eaLnBrk="1" hangingPunct="1">
              <a:buFont typeface="Wingdings" panose="05000000000000000000" pitchFamily="2" charset="2"/>
              <a:buBlip>
                <a:blip r:embed="rId2"/>
              </a:buBlip>
            </a:pPr>
            <a:r>
              <a:rPr lang="cs-CZ" altLang="en-US" sz="2400" b="1" smtClean="0"/>
              <a:t>působí narkoticky a poškozuje nervovou soustavu   </a:t>
            </a:r>
          </a:p>
          <a:p>
            <a:pPr eaLnBrk="1" hangingPunct="1"/>
            <a:endParaRPr lang="cs-CZ" altLang="en-US" sz="2400" b="1"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5234"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Poškozuje paměť a vyvolává známky schizofrenie, melancholie a parkinsonismu, oslabuje sexuální potenci, vyvolává chudokrevnost a poruchy srdečního svalu</a:t>
            </a:r>
          </a:p>
          <a:p>
            <a:pPr eaLnBrk="1" hangingPunct="1">
              <a:buFontTx/>
              <a:buNone/>
            </a:pPr>
            <a:endParaRPr lang="cs-CZ" altLang="en-US" smtClean="0"/>
          </a:p>
          <a:p>
            <a:pPr eaLnBrk="1" hangingPunct="1">
              <a:buClr>
                <a:srgbClr val="FF0000"/>
              </a:buClr>
              <a:buFont typeface="Wingdings" panose="05000000000000000000" pitchFamily="2" charset="2"/>
              <a:buChar char="N"/>
            </a:pPr>
            <a:r>
              <a:rPr lang="cs-CZ" altLang="en-US" sz="2800" b="1" smtClean="0">
                <a:solidFill>
                  <a:schemeClr val="tx2"/>
                </a:solidFill>
              </a:rPr>
              <a:t>Kyanovodík HCN </a:t>
            </a:r>
            <a:r>
              <a:rPr lang="cs-CZ" altLang="en-US" sz="2800" b="1" smtClean="0">
                <a:solidFill>
                  <a:srgbClr val="FF0000"/>
                </a:solidFill>
                <a:sym typeface="Wingdings" panose="05000000000000000000" pitchFamily="2" charset="2"/>
              </a:rPr>
              <a:t></a:t>
            </a:r>
          </a:p>
          <a:p>
            <a:pPr eaLnBrk="1" hangingPunct="1">
              <a:buFont typeface="Wingdings" panose="05000000000000000000" pitchFamily="2" charset="2"/>
              <a:buBlip>
                <a:blip r:embed="rId2"/>
              </a:buBlip>
            </a:pPr>
            <a:r>
              <a:rPr lang="cs-CZ" altLang="en-US" sz="2400" b="1" smtClean="0"/>
              <a:t>Kyanovodík je velmi těkavá kapalina s bodem varu 25°C. </a:t>
            </a:r>
          </a:p>
          <a:p>
            <a:pPr eaLnBrk="1" hangingPunct="1">
              <a:buFont typeface="Wingdings" panose="05000000000000000000" pitchFamily="2" charset="2"/>
              <a:buBlip>
                <a:blip r:embed="rId2"/>
              </a:buBlip>
            </a:pPr>
            <a:r>
              <a:rPr lang="cs-CZ" altLang="en-US" sz="2400" b="1" smtClean="0"/>
              <a:t>charakteristicky páchne po hořkých mandlích, ale značná část populace je vůči kyanovodíku necitlivá a nedokáže jeho zápach rozpoznat</a:t>
            </a:r>
          </a:p>
          <a:p>
            <a:pPr eaLnBrk="1" hangingPunct="1">
              <a:buFont typeface="Wingdings" panose="05000000000000000000" pitchFamily="2" charset="2"/>
              <a:buBlip>
                <a:blip r:embed="rId2"/>
              </a:buBlip>
            </a:pPr>
            <a:r>
              <a:rPr lang="cs-CZ" altLang="en-US" sz="2400" b="1" smtClean="0"/>
              <a:t>toxický je kyanidový aniont CN</a:t>
            </a:r>
            <a:r>
              <a:rPr lang="cs-CZ" altLang="en-US" sz="2400" b="1" baseline="30000" smtClean="0"/>
              <a:t>-</a:t>
            </a:r>
            <a:r>
              <a:rPr lang="cs-CZ" altLang="en-US" sz="2400" b="1" smtClean="0"/>
              <a:t>, který je obsažen v kyanidech a může se enzymaticky i neenzymaticky uvolnit z různých organických sloučenin, např. z nitrilů (R-CN) či z glykosidu amygdalinu </a:t>
            </a:r>
          </a:p>
          <a:p>
            <a:pPr eaLnBrk="1" hangingPunct="1">
              <a:buFont typeface="Wingdings" panose="05000000000000000000" pitchFamily="2" charset="2"/>
              <a:buBlip>
                <a:blip r:embed="rId2"/>
              </a:buBlip>
            </a:pPr>
            <a:r>
              <a:rPr lang="cs-CZ" altLang="en-US" sz="2400" b="1" smtClean="0"/>
              <a:t>Kyanidovou otravu může způsobit i předávkování se nitroprusidem sodným Na</a:t>
            </a:r>
            <a:r>
              <a:rPr lang="cs-CZ" altLang="en-US" sz="2400" b="1" baseline="-25000" smtClean="0"/>
              <a:t>2</a:t>
            </a:r>
            <a:r>
              <a:rPr lang="cs-CZ" altLang="en-US" sz="2400" b="1" smtClean="0"/>
              <a:t>[Fe(CN)</a:t>
            </a:r>
            <a:r>
              <a:rPr lang="cs-CZ" altLang="en-US" sz="2400" b="1" baseline="-25000" smtClean="0"/>
              <a:t>5</a:t>
            </a:r>
            <a:r>
              <a:rPr lang="cs-CZ" altLang="en-US" sz="2400" b="1" smtClean="0"/>
              <a:t>NO], který se používá proti vysokému krevnímu tlaku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6258"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Hexakyanoželezitan draselný (červená krevní sůl) a hexakyanoželeznatan draselný (žlutá krevní sůl) tolik toxické nejsou</a:t>
            </a:r>
          </a:p>
          <a:p>
            <a:pPr eaLnBrk="1" hangingPunct="1">
              <a:buFontTx/>
              <a:buBlip>
                <a:blip r:embed="rId2"/>
              </a:buBlip>
            </a:pPr>
            <a:r>
              <a:rPr lang="cs-CZ" altLang="en-US" sz="2400" b="1" smtClean="0"/>
              <a:t>Do organismu proniká HCN velmi rychle všemi cestami (sliznicemi, kůží, plícemi)</a:t>
            </a:r>
          </a:p>
          <a:p>
            <a:pPr eaLnBrk="1" hangingPunct="1">
              <a:buFontTx/>
              <a:buBlip>
                <a:blip r:embed="rId2"/>
              </a:buBlip>
            </a:pPr>
            <a:r>
              <a:rPr lang="cs-CZ" altLang="en-US" sz="2400" b="1" smtClean="0"/>
              <a:t>kyanovodík může velmi lehce pronikat buněčnými membránami, neboť se při fyziologickém pH vyskytuje především v nedisociovaném stavu</a:t>
            </a:r>
          </a:p>
          <a:p>
            <a:pPr eaLnBrk="1" hangingPunct="1">
              <a:buFontTx/>
              <a:buBlip>
                <a:blip r:embed="rId2"/>
              </a:buBlip>
            </a:pPr>
            <a:r>
              <a:rPr lang="cs-CZ" altLang="en-US" sz="2400" b="1" smtClean="0"/>
              <a:t>kyanidový iont má vysokou afinitu k železitým iontům</a:t>
            </a:r>
          </a:p>
          <a:p>
            <a:pPr eaLnBrk="1" hangingPunct="1">
              <a:buFontTx/>
              <a:buBlip>
                <a:blip r:embed="rId2"/>
              </a:buBlip>
            </a:pPr>
            <a:r>
              <a:rPr lang="cs-CZ" altLang="en-US" sz="2400" b="1" smtClean="0"/>
              <a:t>po průniku do buňky velmi rychle reaguje s trojmocným železem cytochromoxidasy dýchacího řetězce v mitochondriích</a:t>
            </a:r>
          </a:p>
          <a:p>
            <a:pPr eaLnBrk="1" hangingPunct="1">
              <a:buFontTx/>
              <a:buBlip>
                <a:blip r:embed="rId2"/>
              </a:buBlip>
            </a:pPr>
            <a:r>
              <a:rPr lang="cs-CZ" altLang="en-US" sz="2400" b="1" smtClean="0"/>
              <a:t>je tak zablokován přenos elektronu na molekulární kyslík, který tak nemůže být využit pro oxidační pochody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7282"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vzhledem k tomu, že tkáně nemohou zpracovávat kyslík, obsahuje i žilní krev mnoho oxyhemoglobinu a je tudíž světle červená</a:t>
            </a:r>
          </a:p>
          <a:p>
            <a:pPr eaLnBrk="1" hangingPunct="1">
              <a:buFontTx/>
              <a:buBlip>
                <a:blip r:embed="rId2"/>
              </a:buBlip>
            </a:pPr>
            <a:r>
              <a:rPr lang="cs-CZ" altLang="en-US" sz="2400" b="1" smtClean="0"/>
              <a:t>Kyanovodík patří k nejrychleji působícím jedům</a:t>
            </a:r>
          </a:p>
          <a:p>
            <a:pPr eaLnBrk="1" hangingPunct="1">
              <a:buFontTx/>
              <a:buBlip>
                <a:blip r:embed="rId2"/>
              </a:buBlip>
            </a:pPr>
            <a:r>
              <a:rPr lang="cs-CZ" altLang="en-US" sz="2400" b="1" smtClean="0"/>
              <a:t>nejrychlejší je průběh otravy po inhalaci par kyanovodíku - smrt nastává v průběhu několika sekund</a:t>
            </a:r>
          </a:p>
          <a:p>
            <a:pPr eaLnBrk="1" hangingPunct="1">
              <a:buFontTx/>
              <a:buBlip>
                <a:blip r:embed="rId2"/>
              </a:buBlip>
            </a:pPr>
            <a:r>
              <a:rPr lang="cs-CZ" altLang="en-US" sz="2400" b="1" smtClean="0"/>
              <a:t>při požití anorganických kyanidů se kyanovodík uvolňuje působením kyseliny chlorovodíkové v žaludku příznaky otravy se objeví po několika minutách</a:t>
            </a:r>
          </a:p>
          <a:p>
            <a:pPr eaLnBrk="1" hangingPunct="1">
              <a:buFontTx/>
              <a:buBlip>
                <a:blip r:embed="rId2"/>
              </a:buBlip>
            </a:pPr>
            <a:r>
              <a:rPr lang="cs-CZ" altLang="en-US" sz="2400" b="1" smtClean="0"/>
              <a:t>po požití nitrilu nebo amygdalinu z rostlinných zdrojů se otrava začíná projevovat až po určité době latence - od čtvrt hodiny po hodinu</a:t>
            </a:r>
          </a:p>
          <a:p>
            <a:pPr eaLnBrk="1" hangingPunct="1">
              <a:buFontTx/>
              <a:buBlip>
                <a:blip r:embed="rId2"/>
              </a:buBlip>
            </a:pPr>
            <a:r>
              <a:rPr lang="cs-CZ" altLang="en-US" sz="2400" b="1" smtClean="0"/>
              <a:t>smrtelnou dávkou kyanovodíku pro člověka je 50 mg, v případě kyanidu draselného 200 mg</a:t>
            </a:r>
            <a:r>
              <a:rPr lang="cs-CZ" altLang="en-US" sz="2400" smtClean="0"/>
              <a:t> </a:t>
            </a:r>
            <a:r>
              <a:rPr lang="cs-CZ" altLang="en-US" sz="2400" b="1" smtClean="0"/>
              <a:t> </a:t>
            </a:r>
          </a:p>
          <a:p>
            <a:pPr eaLnBrk="1" hangingPunct="1"/>
            <a:endParaRPr lang="cs-CZ" altLang="en-US" sz="2400" smtClean="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8306"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solidFill>
                  <a:schemeClr val="tx2"/>
                </a:solidFill>
              </a:rPr>
              <a:t>Projevy otravy</a:t>
            </a:r>
            <a:r>
              <a:rPr lang="cs-CZ" altLang="en-US" sz="2400" b="1" smtClean="0"/>
              <a:t> -</a:t>
            </a:r>
            <a:r>
              <a:rPr lang="cs-CZ" altLang="en-US" sz="2400" smtClean="0"/>
              <a:t> </a:t>
            </a:r>
            <a:r>
              <a:rPr lang="cs-CZ" altLang="en-US" sz="2400" b="1" smtClean="0"/>
              <a:t>u tkání s největšími nároky na kyslík; nejcitlivější je nervová tkáň (únava, bolesti hlavy, hučení v uších a nevolnost, barva kůže je růžová)</a:t>
            </a:r>
          </a:p>
          <a:p>
            <a:pPr eaLnBrk="1" hangingPunct="1">
              <a:buFontTx/>
              <a:buBlip>
                <a:blip r:embed="rId2"/>
              </a:buBlip>
            </a:pPr>
            <a:r>
              <a:rPr lang="cs-CZ" altLang="en-US" sz="2400" b="1" smtClean="0"/>
              <a:t>smrt nastává jako důsledek nedostatku kyslíku životně důležitých center v prodloužené míše, zejména dýchacích</a:t>
            </a:r>
          </a:p>
          <a:p>
            <a:pPr eaLnBrk="1" hangingPunct="1">
              <a:buFontTx/>
              <a:buBlip>
                <a:blip r:embed="rId2"/>
              </a:buBlip>
            </a:pPr>
            <a:r>
              <a:rPr lang="cs-CZ" altLang="en-US" sz="2400" b="1" smtClean="0">
                <a:solidFill>
                  <a:schemeClr val="tx2"/>
                </a:solidFill>
              </a:rPr>
              <a:t>Terapie</a:t>
            </a:r>
            <a:r>
              <a:rPr lang="cs-CZ" altLang="en-US" sz="2400" b="1" smtClean="0"/>
              <a:t> – rozhoduje čas </a:t>
            </a:r>
          </a:p>
          <a:p>
            <a:pPr eaLnBrk="1" hangingPunct="1">
              <a:buFontTx/>
              <a:buBlip>
                <a:blip r:embed="rId2"/>
              </a:buBlip>
            </a:pPr>
            <a:r>
              <a:rPr lang="cs-CZ" altLang="en-US" sz="2400" b="1" smtClean="0"/>
              <a:t>podání dávky železitých iontů, aby se zrušila vazba kyanidů na cytochromoxidasu</a:t>
            </a:r>
          </a:p>
          <a:p>
            <a:pPr eaLnBrk="1" hangingPunct="1">
              <a:buFontTx/>
              <a:buBlip>
                <a:blip r:embed="rId2"/>
              </a:buBlip>
            </a:pPr>
            <a:r>
              <a:rPr lang="cs-CZ" altLang="en-US" sz="2400" b="1" smtClean="0"/>
              <a:t>podání dusitanů, které oxidují železnatý ion hemoglobinu na železitý, přičemž vzniká methemoglobin, vytváří se kyanmethemoglobin a obnovuje se funkce cytochromoxidasy</a:t>
            </a:r>
          </a:p>
          <a:p>
            <a:pPr eaLnBrk="1" hangingPunct="1">
              <a:buFontTx/>
              <a:buNone/>
            </a:pPr>
            <a:endParaRPr lang="cs-CZ" altLang="en-US" smtClean="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9330"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k urychlení detoxikace slouží i podání thiosíranu sodného, který kyanidový iont přeměňuje za působení enzymu </a:t>
            </a:r>
            <a:r>
              <a:rPr lang="cs-CZ" altLang="en-US" sz="2400" b="1" smtClean="0">
                <a:solidFill>
                  <a:srgbClr val="00FF00"/>
                </a:solidFill>
              </a:rPr>
              <a:t>rhodanidasy</a:t>
            </a:r>
            <a:r>
              <a:rPr lang="cs-CZ" altLang="en-US" sz="2400" b="1" smtClean="0"/>
              <a:t> na rhodanidový, který je relativně netoxický a rychle se vylučuje močí</a:t>
            </a:r>
          </a:p>
          <a:p>
            <a:pPr eaLnBrk="1" hangingPunct="1">
              <a:buFontTx/>
              <a:buBlip>
                <a:blip r:embed="rId2"/>
              </a:buBlip>
            </a:pPr>
            <a:r>
              <a:rPr lang="cs-CZ" altLang="en-US" sz="2400" b="1" smtClean="0"/>
              <a:t>alternativní možnost představuje podání komplexu Co</a:t>
            </a:r>
            <a:r>
              <a:rPr lang="cs-CZ" altLang="en-US" sz="2400" b="1" baseline="-25000" smtClean="0"/>
              <a:t>2</a:t>
            </a:r>
            <a:r>
              <a:rPr lang="cs-CZ" altLang="en-US" sz="2400" b="1" smtClean="0"/>
              <a:t>EDTA, kde má kobalt vysokou afinitu ke kyanidovým iontům a vznikají tak stabilní komplexy</a:t>
            </a:r>
          </a:p>
          <a:p>
            <a:pPr eaLnBrk="1" hangingPunct="1">
              <a:buFontTx/>
              <a:buBlip>
                <a:blip r:embed="rId2"/>
              </a:buBlip>
            </a:pPr>
            <a:endParaRPr lang="cs-CZ" altLang="en-US" sz="2400" b="1" smtClean="0"/>
          </a:p>
          <a:p>
            <a:pPr algn="ctr" eaLnBrk="1" hangingPunct="1">
              <a:buFontTx/>
              <a:buNone/>
            </a:pPr>
            <a:r>
              <a:rPr lang="cs-CZ" altLang="en-US" sz="3600" b="1" smtClean="0">
                <a:solidFill>
                  <a:schemeClr val="tx2"/>
                </a:solidFill>
              </a:rPr>
              <a:t>Křemík Si</a:t>
            </a:r>
            <a:r>
              <a:rPr lang="cs-CZ" altLang="en-US" smtClean="0"/>
              <a:t> </a:t>
            </a:r>
          </a:p>
          <a:p>
            <a:pPr eaLnBrk="1" hangingPunct="1">
              <a:buFontTx/>
              <a:buNone/>
            </a:pPr>
            <a:r>
              <a:rPr lang="cs-CZ" altLang="en-US" sz="2800" b="1" smtClean="0">
                <a:solidFill>
                  <a:schemeClr val="tx2"/>
                </a:solidFill>
              </a:rPr>
              <a:t>Oxid křemičitý SiO</a:t>
            </a:r>
            <a:r>
              <a:rPr lang="cs-CZ" altLang="en-US" sz="2800" b="1" baseline="-25000" smtClean="0">
                <a:solidFill>
                  <a:schemeClr val="tx2"/>
                </a:solidFill>
              </a:rPr>
              <a:t>2</a:t>
            </a:r>
          </a:p>
          <a:p>
            <a:pPr eaLnBrk="1" hangingPunct="1">
              <a:buFontTx/>
              <a:buBlip>
                <a:blip r:embed="rId2"/>
              </a:buBlip>
            </a:pPr>
            <a:r>
              <a:rPr lang="cs-CZ" altLang="en-US" sz="2400" b="1" smtClean="0"/>
              <a:t>Dlouhodobé vdechování prachu oxidu křemičitého, případně křemičitanů</a:t>
            </a:r>
            <a:r>
              <a:rPr lang="cs-CZ" altLang="en-US" sz="2400" smtClean="0"/>
              <a:t> </a:t>
            </a:r>
            <a:r>
              <a:rPr lang="cs-CZ" altLang="en-US" sz="2400" smtClean="0">
                <a:solidFill>
                  <a:srgbClr val="FF0000"/>
                </a:solidFill>
                <a:sym typeface="Wingdings 3" panose="05040102010807070707" pitchFamily="18" charset="2"/>
              </a:rPr>
              <a:t></a:t>
            </a:r>
            <a:r>
              <a:rPr lang="cs-CZ" altLang="en-US" sz="2400" smtClean="0">
                <a:sym typeface="Wingdings 3" panose="05040102010807070707" pitchFamily="18" charset="2"/>
              </a:rPr>
              <a:t> </a:t>
            </a:r>
            <a:r>
              <a:rPr lang="cs-CZ" altLang="en-US" sz="2400" b="1" smtClean="0"/>
              <a:t>Silikóza plic (doly, kamenolomy, sklářství, stavebnictví…)</a:t>
            </a:r>
            <a:r>
              <a:rPr lang="cs-CZ" altLang="en-US" smtClean="0"/>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0354"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Azbest</a:t>
            </a:r>
            <a:r>
              <a:rPr lang="cs-CZ" altLang="en-US" smtClean="0"/>
              <a:t> </a:t>
            </a:r>
          </a:p>
          <a:p>
            <a:pPr eaLnBrk="1" hangingPunct="1">
              <a:buFontTx/>
              <a:buBlip>
                <a:blip r:embed="rId2"/>
              </a:buBlip>
            </a:pPr>
            <a:r>
              <a:rPr lang="cs-CZ" altLang="en-US" sz="2400" b="1" smtClean="0"/>
              <a:t>Azbest je tvořen vláknitými křemičitany vápenatými a hořečnatými</a:t>
            </a:r>
          </a:p>
          <a:p>
            <a:pPr eaLnBrk="1" hangingPunct="1">
              <a:buFontTx/>
              <a:buBlip>
                <a:blip r:embed="rId2"/>
              </a:buBlip>
            </a:pPr>
            <a:r>
              <a:rPr lang="cs-CZ" altLang="en-US" sz="2400" b="1" smtClean="0"/>
              <a:t>vdechování jeho drobných vláken </a:t>
            </a:r>
            <a:r>
              <a:rPr lang="cs-CZ" altLang="en-US" sz="2400" b="1" smtClean="0">
                <a:solidFill>
                  <a:srgbClr val="FF0000"/>
                </a:solidFill>
                <a:sym typeface="Wingdings 3" panose="05040102010807070707" pitchFamily="18" charset="2"/>
              </a:rPr>
              <a:t> tzv. </a:t>
            </a:r>
            <a:r>
              <a:rPr lang="cs-CZ" altLang="en-US" sz="2400" b="1" smtClean="0">
                <a:solidFill>
                  <a:srgbClr val="FF0000"/>
                </a:solidFill>
              </a:rPr>
              <a:t>azbestosa</a:t>
            </a:r>
            <a:r>
              <a:rPr lang="cs-CZ" altLang="en-US" sz="2400" b="1" smtClean="0"/>
              <a:t> </a:t>
            </a:r>
          </a:p>
          <a:p>
            <a:pPr eaLnBrk="1" hangingPunct="1">
              <a:buFontTx/>
              <a:buBlip>
                <a:blip r:embed="rId2"/>
              </a:buBlip>
            </a:pPr>
            <a:r>
              <a:rPr lang="cs-CZ" altLang="en-US" sz="2400" b="1" smtClean="0"/>
              <a:t>v případě azbestu byla prokázána jeho </a:t>
            </a:r>
            <a:r>
              <a:rPr lang="cs-CZ" altLang="en-US" sz="2400" b="1" smtClean="0">
                <a:solidFill>
                  <a:srgbClr val="FF0000"/>
                </a:solidFill>
              </a:rPr>
              <a:t>karcinogenita</a:t>
            </a:r>
          </a:p>
          <a:p>
            <a:pPr eaLnBrk="1" hangingPunct="1">
              <a:buFontTx/>
              <a:buNone/>
            </a:pPr>
            <a:endParaRPr lang="cs-CZ" altLang="en-US" smtClean="0">
              <a:solidFill>
                <a:srgbClr val="FF0000"/>
              </a:solidFill>
            </a:endParaRPr>
          </a:p>
          <a:p>
            <a:pPr algn="ctr" eaLnBrk="1" hangingPunct="1">
              <a:buFontTx/>
              <a:buNone/>
            </a:pPr>
            <a:r>
              <a:rPr lang="cs-CZ" altLang="en-US" sz="3600" b="1" smtClean="0">
                <a:solidFill>
                  <a:schemeClr val="tx2"/>
                </a:solidFill>
              </a:rPr>
              <a:t>Germanium Ge</a:t>
            </a:r>
          </a:p>
          <a:p>
            <a:pPr eaLnBrk="1" hangingPunct="1">
              <a:buFontTx/>
              <a:buBlip>
                <a:blip r:embed="rId2"/>
              </a:buBlip>
            </a:pPr>
            <a:r>
              <a:rPr lang="cs-CZ" altLang="en-US" sz="2400" b="1" smtClean="0"/>
              <a:t>Germánium vzhledem ke svému rozšíření nepatří mezi toxikologicky významné prvky </a:t>
            </a:r>
          </a:p>
          <a:p>
            <a:pPr eaLnBrk="1" hangingPunct="1">
              <a:buFontTx/>
              <a:buBlip>
                <a:blip r:embed="rId2"/>
              </a:buBlip>
            </a:pPr>
            <a:r>
              <a:rPr lang="cs-CZ" altLang="en-US" sz="2400" b="1" smtClean="0"/>
              <a:t>Germanovodíky jsou považovány za nebezpečné jedy, které mohou způsobovat hemolýzu krve</a:t>
            </a:r>
          </a:p>
          <a:p>
            <a:pPr eaLnBrk="1" hangingPunct="1">
              <a:buFontTx/>
              <a:buNone/>
            </a:pPr>
            <a:endParaRPr lang="cs-CZ" altLang="en-US" smtClean="0"/>
          </a:p>
          <a:p>
            <a:pPr eaLnBrk="1" hangingPunct="1">
              <a:buFontTx/>
              <a:buNone/>
            </a:pPr>
            <a:r>
              <a:rPr lang="cs-CZ" altLang="en-US" smtClean="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1378" name="Rectangle 3"/>
          <p:cNvSpPr>
            <a:spLocks noGrp="1" noChangeArrowheads="1"/>
          </p:cNvSpPr>
          <p:nvPr>
            <p:ph idx="1"/>
          </p:nvPr>
        </p:nvSpPr>
        <p:spPr>
          <a:xfrm>
            <a:off x="0" y="188913"/>
            <a:ext cx="9144000" cy="6669087"/>
          </a:xfrm>
        </p:spPr>
        <p:txBody>
          <a:bodyPr/>
          <a:lstStyle/>
          <a:p>
            <a:pPr algn="ctr" eaLnBrk="1" hangingPunct="1">
              <a:buFontTx/>
              <a:buNone/>
            </a:pPr>
            <a:r>
              <a:rPr lang="cs-CZ" altLang="en-US" sz="3600" b="1" smtClean="0">
                <a:solidFill>
                  <a:schemeClr val="tx2"/>
                </a:solidFill>
              </a:rPr>
              <a:t>Cín Sn</a:t>
            </a:r>
          </a:p>
          <a:p>
            <a:pPr eaLnBrk="1" hangingPunct="1">
              <a:buFontTx/>
              <a:buBlip>
                <a:blip r:embed="rId2"/>
              </a:buBlip>
            </a:pPr>
            <a:r>
              <a:rPr lang="cs-CZ" altLang="en-US" sz="2400" b="1" smtClean="0"/>
              <a:t>Cín a jeho anorganické sloučeniny nejsou většinou příliš toxické</a:t>
            </a:r>
          </a:p>
          <a:p>
            <a:pPr eaLnBrk="1" hangingPunct="1">
              <a:buFontTx/>
              <a:buBlip>
                <a:blip r:embed="rId2"/>
              </a:buBlip>
            </a:pPr>
            <a:r>
              <a:rPr lang="cs-CZ" altLang="en-US" sz="2400" b="1" smtClean="0"/>
              <a:t>Roztoky cínatých a cíničitých solí však mohou působit dráždivě, zejména kvůli redukčním vlastnostem dvoumocného cínu a probíhající hydrolýze</a:t>
            </a:r>
          </a:p>
          <a:p>
            <a:pPr eaLnBrk="1" hangingPunct="1">
              <a:buFontTx/>
              <a:buBlip>
                <a:blip r:embed="rId2"/>
              </a:buBlip>
            </a:pPr>
            <a:r>
              <a:rPr lang="cs-CZ" altLang="en-US" sz="2400" b="1" smtClean="0"/>
              <a:t>Toxický je </a:t>
            </a:r>
            <a:r>
              <a:rPr lang="cs-CZ" altLang="en-US" sz="2400" b="1" smtClean="0">
                <a:solidFill>
                  <a:srgbClr val="FF0000"/>
                </a:solidFill>
              </a:rPr>
              <a:t>stannan SnH</a:t>
            </a:r>
            <a:r>
              <a:rPr lang="cs-CZ" altLang="en-US" sz="2400" b="1" baseline="-25000" smtClean="0">
                <a:solidFill>
                  <a:srgbClr val="FF0000"/>
                </a:solidFill>
              </a:rPr>
              <a:t>4</a:t>
            </a:r>
          </a:p>
          <a:p>
            <a:pPr eaLnBrk="1" hangingPunct="1">
              <a:buFontTx/>
              <a:buBlip>
                <a:blip r:embed="rId2"/>
              </a:buBlip>
            </a:pPr>
            <a:r>
              <a:rPr lang="cs-CZ" altLang="en-US" sz="2400" b="1" smtClean="0"/>
              <a:t>Organické sloučeniny cínu jsou vysoce neurotoxické, obzvláště pro hmyz</a:t>
            </a:r>
            <a:r>
              <a:rPr lang="cs-CZ" altLang="en-US" smtClean="0"/>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2402" name="Rectangle 3"/>
          <p:cNvSpPr>
            <a:spLocks noGrp="1" noChangeArrowheads="1"/>
          </p:cNvSpPr>
          <p:nvPr>
            <p:ph idx="1"/>
          </p:nvPr>
        </p:nvSpPr>
        <p:spPr>
          <a:xfrm>
            <a:off x="0" y="188913"/>
            <a:ext cx="9144000" cy="6669087"/>
          </a:xfrm>
        </p:spPr>
        <p:txBody>
          <a:bodyPr/>
          <a:lstStyle/>
          <a:p>
            <a:pPr algn="ctr" eaLnBrk="1" hangingPunct="1">
              <a:lnSpc>
                <a:spcPct val="80000"/>
              </a:lnSpc>
              <a:buFontTx/>
              <a:buNone/>
            </a:pPr>
            <a:r>
              <a:rPr lang="cs-CZ" altLang="en-US" sz="3600" b="1" smtClean="0">
                <a:solidFill>
                  <a:srgbClr val="FF0000"/>
                </a:solidFill>
                <a:sym typeface="Wingdings" panose="05000000000000000000" pitchFamily="2" charset="2"/>
              </a:rPr>
              <a:t></a:t>
            </a:r>
            <a:r>
              <a:rPr lang="cs-CZ" altLang="en-US" sz="3600" b="1" smtClean="0">
                <a:solidFill>
                  <a:schemeClr val="tx2"/>
                </a:solidFill>
              </a:rPr>
              <a:t> Olovo Pb </a:t>
            </a:r>
            <a:r>
              <a:rPr lang="cs-CZ" altLang="en-US" sz="3600" b="1" smtClean="0">
                <a:solidFill>
                  <a:srgbClr val="FF0000"/>
                </a:solidFill>
                <a:sym typeface="Wingdings" panose="05000000000000000000" pitchFamily="2" charset="2"/>
              </a:rPr>
              <a:t></a:t>
            </a:r>
            <a:endParaRPr lang="cs-CZ" altLang="en-US" sz="3600" b="1" smtClean="0">
              <a:solidFill>
                <a:schemeClr val="tx2"/>
              </a:solidFill>
            </a:endParaRPr>
          </a:p>
          <a:p>
            <a:pPr eaLnBrk="1" hangingPunct="1">
              <a:buFontTx/>
              <a:buBlip>
                <a:blip r:embed="rId2"/>
              </a:buBlip>
            </a:pPr>
            <a:r>
              <a:rPr lang="cs-CZ" altLang="en-US" sz="2400" b="1" smtClean="0"/>
              <a:t>Olovo je z toxikologického hlediska velice významným prvkem především </a:t>
            </a:r>
            <a:r>
              <a:rPr lang="cs-CZ" altLang="en-US" sz="2400" b="1" smtClean="0">
                <a:solidFill>
                  <a:srgbClr val="FF0000"/>
                </a:solidFill>
              </a:rPr>
              <a:t>chronickými účinky</a:t>
            </a:r>
            <a:r>
              <a:rPr lang="cs-CZ" altLang="en-US" sz="2400" b="1" smtClean="0"/>
              <a:t> (akutní účinky jsou relativně slabé - otravu vyvolají až 2-3 g octanu olovnatého, smrtelnou dávkou je pro člověka 20 až 25 g)</a:t>
            </a:r>
          </a:p>
          <a:p>
            <a:pPr eaLnBrk="1" hangingPunct="1">
              <a:buFontTx/>
              <a:buBlip>
                <a:blip r:embed="rId2"/>
              </a:buBlip>
            </a:pPr>
            <a:r>
              <a:rPr lang="cs-CZ" altLang="en-US" sz="2400" b="1" smtClean="0"/>
              <a:t>Olovo se v organismu </a:t>
            </a:r>
            <a:r>
              <a:rPr lang="cs-CZ" altLang="en-US" sz="2400" b="1" smtClean="0">
                <a:solidFill>
                  <a:srgbClr val="FF0000"/>
                </a:solidFill>
              </a:rPr>
              <a:t>hromadí</a:t>
            </a:r>
            <a:r>
              <a:rPr lang="cs-CZ" altLang="en-US" sz="2400" b="1" smtClean="0"/>
              <a:t> a vyvolává chronickou otravu</a:t>
            </a:r>
          </a:p>
          <a:p>
            <a:pPr eaLnBrk="1" hangingPunct="1">
              <a:buFontTx/>
              <a:buBlip>
                <a:blip r:embed="rId2"/>
              </a:buBlip>
            </a:pPr>
            <a:r>
              <a:rPr lang="cs-CZ" altLang="en-US" sz="2400" b="1" smtClean="0"/>
              <a:t>z olověných nádob, nebo jen z nádob olovo obsahujících se může olovo uvolňovat, a to zejména při styku s kyselými roztoky (různé nápoje, džusy, voda s rozpuštěným oxidem uhličitým...)</a:t>
            </a:r>
          </a:p>
          <a:p>
            <a:pPr eaLnBrk="1" hangingPunct="1">
              <a:buFontTx/>
              <a:buBlip>
                <a:blip r:embed="rId2"/>
              </a:buBlip>
            </a:pPr>
            <a:r>
              <a:rPr lang="cs-CZ" altLang="en-US" sz="2400" b="1" smtClean="0"/>
              <a:t>používání olověných trubek vedlo ve starověkém Římě ke vzniku otrav olovem</a:t>
            </a:r>
          </a:p>
          <a:p>
            <a:pPr eaLnBrk="1" hangingPunct="1">
              <a:buFontTx/>
              <a:buBlip>
                <a:blip r:embed="rId2"/>
              </a:buBlip>
            </a:pPr>
            <a:r>
              <a:rPr lang="cs-CZ" altLang="en-US" sz="2400" b="1" smtClean="0"/>
              <a:t>olovo se může mnoha způsoby dostat do potravin</a:t>
            </a:r>
          </a:p>
          <a:p>
            <a:pPr eaLnBrk="1" hangingPunct="1">
              <a:buFontTx/>
              <a:buBlip>
                <a:blip r:embed="rId2"/>
              </a:buBlip>
            </a:pPr>
            <a:r>
              <a:rPr lang="cs-CZ" altLang="en-US" sz="2400" b="1" smtClean="0"/>
              <a:t>výfukové plyny, vzniklé spalování olovnatého benzínu, obsahují páry chloridu olovičitého, rovněž pevné částečky mohou obsahovat olovo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3426"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rostliny poměrně snadno olovo kumulují, přičemž rostliny, vyskytující se podél frekventovaných silnic, obsahují značná množství olova (proto by se tyto rostliny měly využívat až od vzdálenosti 100 metrů od frekventované silnice)</a:t>
            </a:r>
            <a:endParaRPr lang="cs-CZ" altLang="en-US" sz="2400" smtClean="0"/>
          </a:p>
          <a:p>
            <a:pPr eaLnBrk="1" hangingPunct="1">
              <a:buFontTx/>
              <a:buBlip>
                <a:blip r:embed="rId2"/>
              </a:buBlip>
            </a:pPr>
            <a:r>
              <a:rPr lang="cs-CZ" altLang="en-US" sz="2400" b="1" smtClean="0"/>
              <a:t>k otravám olovem může vést i požití olověných barviv, které, ač ve vodě nerozpustné, se rozpouštějí v žaludeční kyselině chlorovodíkové</a:t>
            </a:r>
          </a:p>
          <a:p>
            <a:pPr eaLnBrk="1" hangingPunct="1">
              <a:buFontTx/>
              <a:buBlip>
                <a:blip r:embed="rId2"/>
              </a:buBlip>
            </a:pPr>
            <a:r>
              <a:rPr lang="cs-CZ" altLang="en-US" sz="2400" b="1" smtClean="0"/>
              <a:t>roztavené olovo, jehož teplota se pohybuje nad 600°C je těkavé a inhalace jeho výparů taktéž vede k otravě</a:t>
            </a:r>
          </a:p>
          <a:p>
            <a:pPr eaLnBrk="1" hangingPunct="1">
              <a:buFontTx/>
              <a:buBlip>
                <a:blip r:embed="rId2"/>
              </a:buBlip>
            </a:pPr>
            <a:r>
              <a:rPr lang="cs-CZ" altLang="en-US" sz="2400" b="1" smtClean="0"/>
              <a:t>nejvíce ohrožení jsou lidé, kteří se s roztaveným olovem stýkají (v hutnictví, sklářství a při výrobě akumulátorů…)</a:t>
            </a:r>
          </a:p>
          <a:p>
            <a:pPr eaLnBrk="1" hangingPunct="1">
              <a:buFontTx/>
              <a:buBlip>
                <a:blip r:embed="rId2"/>
              </a:buBlip>
            </a:pPr>
            <a:r>
              <a:rPr lang="cs-CZ" altLang="en-US" sz="2400" b="1" smtClean="0"/>
              <a:t>olovo do těla vstupuje zejména trávicí a dýchací soustavou</a:t>
            </a:r>
          </a:p>
          <a:p>
            <a:pPr eaLnBrk="1" hangingPunct="1">
              <a:buFontTx/>
              <a:buBlip>
                <a:blip r:embed="rId2"/>
              </a:buBlip>
            </a:pPr>
            <a:r>
              <a:rPr lang="cs-CZ" altLang="en-US" sz="2400" b="1" smtClean="0"/>
              <a:t>podíl olova, vstřebaného z trávicí soustavy, závisí na věku</a:t>
            </a:r>
          </a:p>
          <a:p>
            <a:pPr eaLnBrk="1" hangingPunct="1">
              <a:buFontTx/>
              <a:buBlip>
                <a:blip r:embed="rId2"/>
              </a:buBlip>
            </a:pPr>
            <a:r>
              <a:rPr lang="cs-CZ" altLang="en-US" sz="2400" b="1" smtClean="0"/>
              <a:t>dospělí absorbují asi 10% požité dávky, zatímco děti až 40%</a:t>
            </a:r>
          </a:p>
          <a:p>
            <a:pPr eaLnBrk="1" hangingPunct="1">
              <a:buFontTx/>
              <a:buBlip>
                <a:blip r:embed="rId2"/>
              </a:buBlip>
            </a:pPr>
            <a:r>
              <a:rPr lang="cs-CZ" altLang="en-US" sz="2400" b="1" smtClean="0"/>
              <a:t>při přechodu přes střevní bariéru snad olovo využívá transportní mechanismus, určený pro vápenaté ionty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4450"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nedostatek železa v potravě taktéž usnadňuje vstřebávání olova</a:t>
            </a:r>
          </a:p>
          <a:p>
            <a:pPr eaLnBrk="1" hangingPunct="1">
              <a:buFontTx/>
              <a:buBlip>
                <a:blip r:embed="rId2"/>
              </a:buBlip>
            </a:pPr>
            <a:r>
              <a:rPr lang="cs-CZ" altLang="en-US" sz="2400" b="1" smtClean="0"/>
              <a:t>příjem olova plícemi závisí jednak na objemu vdechovaného vzduchu, jednak na velikosti částic, neboť pouze částice menší než 0,5 µm se dostávají až do plic</a:t>
            </a:r>
          </a:p>
          <a:p>
            <a:pPr eaLnBrk="1" hangingPunct="1">
              <a:buFontTx/>
              <a:buBlip>
                <a:blip r:embed="rId2"/>
              </a:buBlip>
            </a:pPr>
            <a:r>
              <a:rPr lang="cs-CZ" altLang="en-US" sz="2400" b="1" smtClean="0"/>
              <a:t>olovo prochází placentární bariérou a vstupuje rovněž do mateřského mléka</a:t>
            </a:r>
          </a:p>
          <a:p>
            <a:pPr eaLnBrk="1" hangingPunct="1">
              <a:buFontTx/>
              <a:buBlip>
                <a:blip r:embed="rId2"/>
              </a:buBlip>
            </a:pPr>
            <a:r>
              <a:rPr lang="cs-CZ" altLang="en-US" sz="2400" b="1" smtClean="0"/>
              <a:t>kůží anorganické sloučeniny nepronikají, ale </a:t>
            </a:r>
            <a:r>
              <a:rPr lang="cs-CZ" altLang="en-US" sz="2400" b="1" smtClean="0">
                <a:solidFill>
                  <a:srgbClr val="FF0000"/>
                </a:solidFill>
              </a:rPr>
              <a:t>lipofilní organické sloučeniny</a:t>
            </a:r>
            <a:r>
              <a:rPr lang="cs-CZ" altLang="en-US" sz="2400" b="1" smtClean="0"/>
              <a:t> olova (např. tetraethylolovo) ano</a:t>
            </a:r>
          </a:p>
          <a:p>
            <a:pPr eaLnBrk="1" hangingPunct="1">
              <a:buFontTx/>
              <a:buBlip>
                <a:blip r:embed="rId2"/>
              </a:buBlip>
            </a:pPr>
            <a:r>
              <a:rPr lang="cs-CZ" altLang="en-US" sz="2400" b="1" smtClean="0"/>
              <a:t>V krvi se více než 90% olova váže na červené krvinky, zejména na jejich membránu a hemoglobin, odtud se olovo dostává nejprve do měkkých tkání (ledvin, jater), následně se ukládá zejména v kostech</a:t>
            </a:r>
          </a:p>
          <a:p>
            <a:pPr eaLnBrk="1" hangingPunct="1">
              <a:buFontTx/>
              <a:buBlip>
                <a:blip r:embed="rId2"/>
              </a:buBlip>
            </a:pPr>
            <a:r>
              <a:rPr lang="cs-CZ" altLang="en-US" sz="2400" b="1" smtClean="0"/>
              <a:t>Olovo, zabudované do kostí, již toxické není, ale některé faktory, např. těhotenství či otrava ethanolem, mohou způsobit jeho vyplavení a přivodit tak náhlou otravu i po dlouhé době od expozice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74"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pouze malé množství olova se ukládá v mozku</a:t>
            </a:r>
          </a:p>
          <a:p>
            <a:pPr eaLnBrk="1" hangingPunct="1">
              <a:buFontTx/>
              <a:buBlip>
                <a:blip r:embed="rId2"/>
              </a:buBlip>
            </a:pPr>
            <a:r>
              <a:rPr lang="cs-CZ" altLang="en-US" sz="2400" b="1" smtClean="0"/>
              <a:t>vylučování olova probíhá zejména močí</a:t>
            </a:r>
          </a:p>
          <a:p>
            <a:pPr eaLnBrk="1" hangingPunct="1">
              <a:buFontTx/>
              <a:buBlip>
                <a:blip r:embed="rId2"/>
              </a:buBlip>
            </a:pPr>
            <a:r>
              <a:rPr lang="cs-CZ" altLang="en-US" sz="2400" b="1" smtClean="0">
                <a:solidFill>
                  <a:schemeClr val="tx2"/>
                </a:solidFill>
              </a:rPr>
              <a:t>Akutní otravy</a:t>
            </a:r>
            <a:r>
              <a:rPr lang="cs-CZ" altLang="en-US" sz="2400" b="1" smtClean="0"/>
              <a:t> olovem jsou poměrně vzácné a vznikají obvykle při vdechování par olova, případně po požití vysoce kontaminované potravy</a:t>
            </a:r>
          </a:p>
          <a:p>
            <a:pPr eaLnBrk="1" hangingPunct="1">
              <a:buFontTx/>
              <a:buBlip>
                <a:blip r:embed="rId2"/>
              </a:buBlip>
            </a:pPr>
            <a:r>
              <a:rPr lang="cs-CZ" altLang="en-US" sz="2400" b="1" smtClean="0"/>
              <a:t>objevují se příznaky působení na nervovou soustavu, jako je svalová slabost, dále probíhá rozklad červených krvinek s následným poškozením ledvin </a:t>
            </a:r>
          </a:p>
          <a:p>
            <a:pPr eaLnBrk="1" hangingPunct="1">
              <a:buFontTx/>
              <a:buBlip>
                <a:blip r:embed="rId2"/>
              </a:buBlip>
            </a:pPr>
            <a:r>
              <a:rPr lang="cs-CZ" altLang="en-US" sz="2400" b="1" smtClean="0"/>
              <a:t>Při </a:t>
            </a:r>
            <a:r>
              <a:rPr lang="cs-CZ" altLang="en-US" sz="2400" b="1" smtClean="0">
                <a:solidFill>
                  <a:schemeClr val="tx2"/>
                </a:solidFill>
              </a:rPr>
              <a:t>chronické otravě</a:t>
            </a:r>
            <a:r>
              <a:rPr lang="cs-CZ" altLang="en-US" sz="2400" b="1" smtClean="0"/>
              <a:t> dochází k postižení celé řady orgánových systémů a biochemických pochodů</a:t>
            </a:r>
          </a:p>
          <a:p>
            <a:pPr eaLnBrk="1" hangingPunct="1">
              <a:buFontTx/>
              <a:buBlip>
                <a:blip r:embed="rId2"/>
              </a:buBlip>
            </a:pPr>
            <a:r>
              <a:rPr lang="cs-CZ" altLang="en-US" sz="2400" b="1" smtClean="0"/>
              <a:t>nejdůležitější je ovšem působení na nervovou soustavu</a:t>
            </a:r>
          </a:p>
          <a:p>
            <a:pPr eaLnBrk="1" hangingPunct="1">
              <a:buFontTx/>
              <a:buBlip>
                <a:blip r:embed="rId2"/>
              </a:buBlip>
            </a:pPr>
            <a:r>
              <a:rPr lang="cs-CZ" altLang="en-US" sz="2400" b="1" smtClean="0"/>
              <a:t>děti, a to zejména batolata, jsou vůči olovu mnohem citlivější</a:t>
            </a:r>
          </a:p>
          <a:p>
            <a:pPr eaLnBrk="1" hangingPunct="1">
              <a:buFontTx/>
              <a:buBlip>
                <a:blip r:embed="rId2"/>
              </a:buBlip>
            </a:pPr>
            <a:r>
              <a:rPr lang="cs-CZ" altLang="en-US" sz="2400" b="1" smtClean="0"/>
              <a:t>dochází k poškození mozku, které se projevuje závratěmi a končí až kómatem a smrtí, kdy bývá nalezen edém mozku</a:t>
            </a:r>
          </a:p>
          <a:p>
            <a:pPr eaLnBrk="1" hangingPunct="1">
              <a:buFontTx/>
              <a:buBlip>
                <a:blip r:embed="rId2"/>
              </a:buBlip>
            </a:pPr>
            <a:r>
              <a:rPr lang="cs-CZ" altLang="en-US" sz="2400" b="1" smtClean="0"/>
              <a:t>Při chronické otravě olovem dochází zejména u dětí ke snižování schopnosti soustředit se, přičemž IQ také klesá</a:t>
            </a:r>
          </a:p>
          <a:p>
            <a:pPr eaLnBrk="1" hangingPunct="1">
              <a:lnSpc>
                <a:spcPct val="80000"/>
              </a:lnSpc>
              <a:buFontTx/>
              <a:buNone/>
            </a:pPr>
            <a:endParaRPr lang="cs-CZ" altLang="en-US" sz="2400" smtClean="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6498"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Olovo nejspíš ovlivňuje funkci neurotransmiterů (acetylcholin, dopamin či kyselina γ-aminomáselná) a poškozuje kapiláry v mozku</a:t>
            </a:r>
          </a:p>
          <a:p>
            <a:pPr eaLnBrk="1" hangingPunct="1">
              <a:buFontTx/>
              <a:buBlip>
                <a:blip r:embed="rId2"/>
              </a:buBlip>
            </a:pPr>
            <a:r>
              <a:rPr lang="cs-CZ" altLang="en-US" sz="2400" b="1" smtClean="0"/>
              <a:t>Olovo působí na hladký sval trávicí trubice, kdy dochází k projevům zvracení až anorexie, vzniká zácpa</a:t>
            </a:r>
          </a:p>
          <a:p>
            <a:pPr eaLnBrk="1" hangingPunct="1">
              <a:buFontTx/>
              <a:buBlip>
                <a:blip r:embed="rId2"/>
              </a:buBlip>
            </a:pPr>
            <a:r>
              <a:rPr lang="cs-CZ" altLang="en-US" sz="2400" b="1" smtClean="0"/>
              <a:t>v případě těžších otrav se objevují záchvatovité střevní křeče, které jsou příčinou silných bolestí břicha a kolik</a:t>
            </a:r>
          </a:p>
          <a:p>
            <a:pPr eaLnBrk="1" hangingPunct="1">
              <a:buFontTx/>
              <a:buBlip>
                <a:blip r:embed="rId2"/>
              </a:buBlip>
            </a:pPr>
            <a:r>
              <a:rPr lang="cs-CZ" altLang="en-US" sz="2400" b="1" smtClean="0"/>
              <a:t>dále má olovo vliv na vznik chudokrevnosti; je to způsobeno zejména inhibicí některých enzymů při syntéze hemu</a:t>
            </a:r>
          </a:p>
          <a:p>
            <a:pPr eaLnBrk="1" hangingPunct="1">
              <a:buFontTx/>
              <a:buBlip>
                <a:blip r:embed="rId2"/>
              </a:buBlip>
            </a:pPr>
            <a:r>
              <a:rPr lang="cs-CZ" altLang="en-US" sz="2400" b="1" smtClean="0"/>
              <a:t>olovo je toxické pro ledviny</a:t>
            </a:r>
          </a:p>
          <a:p>
            <a:pPr eaLnBrk="1" hangingPunct="1">
              <a:buFontTx/>
              <a:buBlip>
                <a:blip r:embed="rId2"/>
              </a:buBlip>
            </a:pPr>
            <a:r>
              <a:rPr lang="cs-CZ" altLang="en-US" sz="2400" b="1" smtClean="0"/>
              <a:t>Olovo má špatný vliv na vývoj gamet, oslabuje imunitní systém a je podezřelé z karcinogenních účinků </a:t>
            </a:r>
            <a:r>
              <a:rPr lang="cs-CZ" altLang="en-US" sz="2400" b="1" smtClean="0">
                <a:solidFill>
                  <a:srgbClr val="FF0000"/>
                </a:solidFill>
              </a:rPr>
              <a:t>(dvojmocné)</a:t>
            </a:r>
            <a:r>
              <a:rPr lang="cs-CZ" altLang="en-US" sz="2400" b="1" smtClean="0"/>
              <a:t> </a:t>
            </a:r>
          </a:p>
          <a:p>
            <a:pPr eaLnBrk="1" hangingPunct="1">
              <a:buFontTx/>
              <a:buBlip>
                <a:blip r:embed="rId2"/>
              </a:buBlip>
            </a:pPr>
            <a:r>
              <a:rPr lang="cs-CZ" altLang="en-US" sz="2400" b="1" smtClean="0"/>
              <a:t>Při léčbě otrav olovem se aplikují chelatační činidla (edetan vápenato-disodný, dimerkaprol či d-penicilamin)</a:t>
            </a:r>
          </a:p>
          <a:p>
            <a:pPr eaLnBrk="1" hangingPunct="1">
              <a:buFontTx/>
              <a:buBlip>
                <a:blip r:embed="rId2"/>
              </a:buBlip>
            </a:pPr>
            <a:r>
              <a:rPr lang="cs-CZ" altLang="en-US" sz="2400" b="1" smtClean="0"/>
              <a:t>chelatační činidla komplexují olovnaté ionty, přičemž vzniklé komplexy mohou být vyloučeny pomocí ledvin</a:t>
            </a:r>
          </a:p>
          <a:p>
            <a:pPr eaLnBrk="1" hangingPunct="1">
              <a:buFontTx/>
              <a:buBlip>
                <a:blip r:embed="rId2"/>
              </a:buBlip>
            </a:pPr>
            <a:endParaRPr lang="cs-CZ" altLang="en-US" sz="2400" b="1" smtClean="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7522"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V případě organických sloučenin olova (např. tetraethylolova) nemá podávání chelatačních činidel takový účinek, neboť většina olova je přítomna v neionizované formě a chelatační činidla pouze urychlují vylučování anorganického olova, vzniklého biotransformací příslušné organické sloučeniny</a:t>
            </a:r>
          </a:p>
          <a:p>
            <a:pPr eaLnBrk="1" hangingPunct="1">
              <a:buFontTx/>
              <a:buBlip>
                <a:blip r:embed="rId2"/>
              </a:buBlip>
            </a:pPr>
            <a:r>
              <a:rPr lang="cs-CZ" altLang="en-US" sz="2400" b="1" smtClean="0"/>
              <a:t>z běžně dostupných prostředků má příznivý vliv podání mléka či čaje</a:t>
            </a:r>
          </a:p>
          <a:p>
            <a:pPr eaLnBrk="1" hangingPunct="1">
              <a:buFontTx/>
              <a:buNone/>
            </a:pPr>
            <a:r>
              <a:rPr lang="cs-CZ" altLang="en-US" smtClean="0"/>
              <a:t> </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755650" y="188913"/>
            <a:ext cx="7704138" cy="936625"/>
          </a:xfrm>
          <a:ln w="76200">
            <a:solidFill>
              <a:schemeClr val="tx2"/>
            </a:solidFill>
            <a:miter lim="800000"/>
            <a:headEnd/>
            <a:tailEnd/>
          </a:ln>
        </p:spPr>
        <p:txBody>
          <a:bodyPr/>
          <a:lstStyle/>
          <a:p>
            <a:pPr eaLnBrk="1" hangingPunct="1"/>
            <a:r>
              <a:rPr lang="cs-CZ" altLang="en-US" sz="3600" smtClean="0"/>
              <a:t>V.A skupina - skupina dusíku</a:t>
            </a:r>
            <a:r>
              <a:rPr lang="cs-CZ" altLang="en-US" smtClean="0"/>
              <a:t> </a:t>
            </a:r>
          </a:p>
        </p:txBody>
      </p:sp>
      <p:sp>
        <p:nvSpPr>
          <p:cNvPr id="108547" name="Rectangle 3"/>
          <p:cNvSpPr>
            <a:spLocks noGrp="1" noChangeArrowheads="1"/>
          </p:cNvSpPr>
          <p:nvPr>
            <p:ph idx="1"/>
          </p:nvPr>
        </p:nvSpPr>
        <p:spPr>
          <a:xfrm>
            <a:off x="0" y="765175"/>
            <a:ext cx="9144000" cy="6092825"/>
          </a:xfrm>
        </p:spPr>
        <p:txBody>
          <a:bodyPr/>
          <a:lstStyle/>
          <a:p>
            <a:pPr algn="ctr" eaLnBrk="1" hangingPunct="1">
              <a:buFontTx/>
              <a:buNone/>
            </a:pPr>
            <a:endParaRPr lang="cs-CZ" altLang="en-US" sz="3600" b="1" smtClean="0">
              <a:solidFill>
                <a:schemeClr val="tx2"/>
              </a:solidFill>
            </a:endParaRPr>
          </a:p>
          <a:p>
            <a:pPr algn="ctr" eaLnBrk="1" hangingPunct="1">
              <a:buFontTx/>
              <a:buNone/>
            </a:pPr>
            <a:r>
              <a:rPr lang="cs-CZ" altLang="en-US" sz="3600" b="1" smtClean="0">
                <a:solidFill>
                  <a:schemeClr val="tx2"/>
                </a:solidFill>
              </a:rPr>
              <a:t>Dusík N</a:t>
            </a:r>
          </a:p>
          <a:p>
            <a:pPr eaLnBrk="1" hangingPunct="1">
              <a:buFontTx/>
              <a:buBlip>
                <a:blip r:embed="rId2"/>
              </a:buBlip>
            </a:pPr>
            <a:endParaRPr lang="cs-CZ" altLang="en-US" sz="2400" b="1" smtClean="0">
              <a:solidFill>
                <a:schemeClr val="tx2"/>
              </a:solidFill>
            </a:endParaRPr>
          </a:p>
          <a:p>
            <a:pPr eaLnBrk="1" hangingPunct="1">
              <a:buFontTx/>
              <a:buBlip>
                <a:blip r:embed="rId2"/>
              </a:buBlip>
            </a:pPr>
            <a:r>
              <a:rPr lang="cs-CZ" altLang="en-US" sz="2400" b="1" smtClean="0"/>
              <a:t>Za normálních podmínek je dusík neškodnýplyn (vzduch obsahuje více než 70% dusíku - je-li však procento dusíku výrazně zvýšeno, hrozí udušení z nedostatku kyslíku) </a:t>
            </a:r>
          </a:p>
          <a:p>
            <a:pPr eaLnBrk="1" hangingPunct="1">
              <a:buFontTx/>
              <a:buBlip>
                <a:blip r:embed="rId2"/>
              </a:buBlip>
            </a:pPr>
            <a:r>
              <a:rPr lang="cs-CZ" altLang="en-US" sz="2400" b="1" smtClean="0"/>
              <a:t>Dusík je toxikologicky významný prvek, jako součást organických sloučenin (biogenní aminy, alkaloidy, nitrosloučeniny...), rovněž jako součást sloučenin anorganických (oxidy, kyseliny a jejich soli, estery, amoniak, hydrazin, hydroxylamin a azidy)</a:t>
            </a:r>
            <a:r>
              <a:rPr lang="cs-CZ" altLang="en-US" smtClean="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9570"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Oxid dusný N</a:t>
            </a:r>
            <a:r>
              <a:rPr lang="cs-CZ" altLang="en-US" sz="2800" b="1" baseline="-25000" smtClean="0">
                <a:solidFill>
                  <a:schemeClr val="tx2"/>
                </a:solidFill>
              </a:rPr>
              <a:t>2</a:t>
            </a:r>
            <a:r>
              <a:rPr lang="cs-CZ" altLang="en-US" sz="2800" b="1" smtClean="0">
                <a:solidFill>
                  <a:schemeClr val="tx2"/>
                </a:solidFill>
              </a:rPr>
              <a:t>0</a:t>
            </a:r>
            <a:r>
              <a:rPr lang="cs-CZ" altLang="en-US" sz="2400" smtClean="0"/>
              <a:t> </a:t>
            </a:r>
            <a:endParaRPr lang="cs-CZ" altLang="en-US" sz="2400" b="1" smtClean="0"/>
          </a:p>
          <a:p>
            <a:pPr eaLnBrk="1" hangingPunct="1">
              <a:buFontTx/>
              <a:buBlip>
                <a:blip r:embed="rId2"/>
              </a:buBlip>
            </a:pPr>
            <a:r>
              <a:rPr lang="cs-CZ" altLang="en-US" sz="2400" b="1" smtClean="0"/>
              <a:t>Oxid dusný je z oxidů dusíku nejméně jedovatý</a:t>
            </a:r>
          </a:p>
          <a:p>
            <a:pPr eaLnBrk="1" hangingPunct="1">
              <a:buFontTx/>
              <a:buBlip>
                <a:blip r:embed="rId2"/>
              </a:buBlip>
            </a:pPr>
            <a:r>
              <a:rPr lang="cs-CZ" altLang="en-US" sz="2400" b="1" smtClean="0"/>
              <a:t>je to nehořlavý a nevýbušný plyn nasládlé chuti</a:t>
            </a:r>
          </a:p>
          <a:p>
            <a:pPr eaLnBrk="1" hangingPunct="1">
              <a:buFontTx/>
              <a:buBlip>
                <a:blip r:embed="rId2"/>
              </a:buBlip>
            </a:pPr>
            <a:r>
              <a:rPr lang="cs-CZ" altLang="en-US" sz="2400" b="1" smtClean="0"/>
              <a:t>je to prostředek celkového znecitlivění</a:t>
            </a:r>
          </a:p>
          <a:p>
            <a:pPr eaLnBrk="1" hangingPunct="1">
              <a:buFontTx/>
              <a:buBlip>
                <a:blip r:embed="rId2"/>
              </a:buBlip>
            </a:pPr>
            <a:r>
              <a:rPr lang="cs-CZ" altLang="en-US" sz="2400" b="1" smtClean="0"/>
              <a:t>je-li vdechován čistý oxid dusný, způsobuje cyanosu a hlubokou narkózu, která by vyústila v udušení</a:t>
            </a:r>
          </a:p>
          <a:p>
            <a:pPr eaLnBrk="1" hangingPunct="1">
              <a:buFontTx/>
              <a:buBlip>
                <a:blip r:embed="rId2"/>
              </a:buBlip>
            </a:pPr>
            <a:r>
              <a:rPr lang="cs-CZ" altLang="en-US" sz="2400" b="1" smtClean="0"/>
              <a:t>jako anestetika se užívá jeho směsi se vzduchem, zvané rajský plyn</a:t>
            </a:r>
          </a:p>
          <a:p>
            <a:pPr eaLnBrk="1" hangingPunct="1">
              <a:buFontTx/>
              <a:buNone/>
            </a:pPr>
            <a:endParaRPr lang="cs-CZ" altLang="en-US" sz="2400" b="1" smtClean="0"/>
          </a:p>
          <a:p>
            <a:pPr eaLnBrk="1" hangingPunct="1">
              <a:buFontTx/>
              <a:buNone/>
            </a:pPr>
            <a:r>
              <a:rPr lang="cs-CZ" altLang="en-US" sz="2800" b="1" smtClean="0">
                <a:solidFill>
                  <a:schemeClr val="tx2"/>
                </a:solidFill>
              </a:rPr>
              <a:t>Oxid dusnatý NO</a:t>
            </a:r>
          </a:p>
          <a:p>
            <a:pPr eaLnBrk="1" hangingPunct="1">
              <a:buFontTx/>
              <a:buBlip>
                <a:blip r:embed="rId2"/>
              </a:buBlip>
            </a:pPr>
            <a:r>
              <a:rPr lang="cs-CZ" altLang="en-US" sz="2400" b="1" smtClean="0"/>
              <a:t>Oxid dusnatý silně dráždí dýchací cesty, způsobuje cyanosu a hemoglobin mění na oxidovaný methemoglobin (Dochází k oxidaci železa na vyšší stupeň (Fe3+); methemoglobin nemá afinitu ke kyslíku, tzn. není schopen kyslík přenášet</a:t>
            </a:r>
          </a:p>
          <a:p>
            <a:pPr eaLnBrk="1" hangingPunct="1">
              <a:buFontTx/>
              <a:buBlip>
                <a:blip r:embed="rId2"/>
              </a:buBlip>
            </a:pPr>
            <a:endParaRPr lang="cs-CZ" altLang="en-US" sz="2400" b="1" smtClean="0"/>
          </a:p>
          <a:p>
            <a:pPr eaLnBrk="1" hangingPunct="1">
              <a:buFontTx/>
              <a:buNone/>
            </a:pPr>
            <a:endParaRPr lang="cs-CZ" altLang="en-US" sz="240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0594"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Přítomnost methemoglobinu v krvi se projevuje modravým zbarvením kůže</a:t>
            </a:r>
          </a:p>
          <a:p>
            <a:pPr eaLnBrk="1" hangingPunct="1">
              <a:buFontTx/>
              <a:buBlip>
                <a:blip r:embed="rId2"/>
              </a:buBlip>
            </a:pPr>
            <a:r>
              <a:rPr lang="cs-CZ" altLang="en-US" sz="2400" b="1" smtClean="0"/>
              <a:t>dusičnany obsažené ve vodě a v některých potravinách (např. uzené maso, některé druhy zeleniny) ohrožují zejm. kojence, protože jejich organismus nemá schopnost zpětně přeměnit methemoglobin na hemoglobin</a:t>
            </a:r>
          </a:p>
          <a:p>
            <a:pPr eaLnBrk="1" hangingPunct="1">
              <a:buFontTx/>
              <a:buBlip>
                <a:blip r:embed="rId2"/>
              </a:buBlip>
            </a:pPr>
            <a:r>
              <a:rPr lang="cs-CZ" altLang="en-US" sz="2400" b="1" smtClean="0"/>
              <a:t>Oxid dusnatý se na vzduchu snadno oxiduje, a proto se vyskytuje většinou ve směsi s oxidem dusičitým, jako tzv. nitrosní plyny NOx. </a:t>
            </a:r>
          </a:p>
          <a:p>
            <a:pPr eaLnBrk="1" hangingPunct="1">
              <a:buFontTx/>
              <a:buBlip>
                <a:blip r:embed="rId2"/>
              </a:buBlip>
            </a:pPr>
            <a:r>
              <a:rPr lang="cs-CZ" altLang="en-US" sz="2400" b="1" smtClean="0"/>
              <a:t>Nejvyšší přípustnou koncentrací nitrosních plynů ve vzduchu je 0,1 mg/m</a:t>
            </a:r>
            <a:r>
              <a:rPr lang="cs-CZ" altLang="en-US" sz="2400" b="1" baseline="30000" smtClean="0"/>
              <a:t>3</a:t>
            </a:r>
            <a:r>
              <a:rPr lang="cs-CZ" altLang="en-US" sz="2400" b="1" smtClean="0"/>
              <a:t> během 24 hodin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1618"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Oxid dusičitý NO</a:t>
            </a:r>
            <a:r>
              <a:rPr lang="cs-CZ" altLang="en-US" sz="2800" b="1" baseline="-25000" smtClean="0">
                <a:solidFill>
                  <a:schemeClr val="tx2"/>
                </a:solidFill>
              </a:rPr>
              <a:t>2</a:t>
            </a:r>
          </a:p>
          <a:p>
            <a:pPr eaLnBrk="1" hangingPunct="1">
              <a:buFontTx/>
              <a:buBlip>
                <a:blip r:embed="rId2"/>
              </a:buBlip>
            </a:pPr>
            <a:r>
              <a:rPr lang="cs-CZ" altLang="en-US" sz="2400" b="1" smtClean="0"/>
              <a:t>Oxid dusičitý lze snadno odhalit čichem podle typického odporně nasládlého zápachu</a:t>
            </a:r>
          </a:p>
          <a:p>
            <a:pPr eaLnBrk="1" hangingPunct="1">
              <a:buFontTx/>
              <a:buBlip>
                <a:blip r:embed="rId2"/>
              </a:buBlip>
            </a:pPr>
            <a:r>
              <a:rPr lang="cs-CZ" altLang="en-US" sz="2400" b="1" smtClean="0"/>
              <a:t>již ve velmi nízkých koncentracích působí dráždivě na dýchací cesty</a:t>
            </a:r>
          </a:p>
          <a:p>
            <a:pPr eaLnBrk="1" hangingPunct="1">
              <a:buFontTx/>
              <a:buBlip>
                <a:blip r:embed="rId2"/>
              </a:buBlip>
            </a:pPr>
            <a:r>
              <a:rPr lang="cs-CZ" altLang="en-US" sz="2400" b="1" smtClean="0"/>
              <a:t>akutní otrava se projevuje úporným kašlem, může vznikat edém plic či jiná plicní poškození</a:t>
            </a:r>
          </a:p>
          <a:p>
            <a:pPr eaLnBrk="1" hangingPunct="1">
              <a:buFontTx/>
              <a:buBlip>
                <a:blip r:embed="rId2"/>
              </a:buBlip>
            </a:pPr>
            <a:r>
              <a:rPr lang="cs-CZ" altLang="en-US" sz="2400" b="1" smtClean="0"/>
              <a:t>v krvi se objevuje methemoglobin, což se projevuje cyanosou (v těžších případech působí šok, křeče, zástavu dechu a smrt)</a:t>
            </a:r>
          </a:p>
          <a:p>
            <a:pPr eaLnBrk="1" hangingPunct="1">
              <a:buFontTx/>
              <a:buBlip>
                <a:blip r:embed="rId2"/>
              </a:buBlip>
            </a:pPr>
            <a:r>
              <a:rPr lang="cs-CZ" altLang="en-US" sz="2400" b="1" smtClean="0"/>
              <a:t>nitrosní plyny jsou podezřelé z karcinogenity poškozují rostliny, účastní se vzniku smogu a poškozují ozonovou vrstvu</a:t>
            </a:r>
            <a:r>
              <a:rPr lang="cs-CZ" altLang="en-US" smtClean="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2642" name="Rectangle 3"/>
          <p:cNvSpPr>
            <a:spLocks noGrp="1" noChangeArrowheads="1"/>
          </p:cNvSpPr>
          <p:nvPr>
            <p:ph idx="1"/>
          </p:nvPr>
        </p:nvSpPr>
        <p:spPr>
          <a:xfrm>
            <a:off x="0" y="188913"/>
            <a:ext cx="9144000" cy="5697537"/>
          </a:xfrm>
        </p:spPr>
        <p:txBody>
          <a:bodyPr/>
          <a:lstStyle/>
          <a:p>
            <a:pPr eaLnBrk="1" hangingPunct="1">
              <a:buFontTx/>
              <a:buNone/>
            </a:pPr>
            <a:r>
              <a:rPr lang="cs-CZ" altLang="en-US" sz="2800" b="1" smtClean="0">
                <a:solidFill>
                  <a:schemeClr val="tx2"/>
                </a:solidFill>
              </a:rPr>
              <a:t>Dusitany NO</a:t>
            </a:r>
            <a:r>
              <a:rPr lang="cs-CZ" altLang="en-US" sz="2800" b="1" baseline="-25000" smtClean="0">
                <a:solidFill>
                  <a:schemeClr val="tx2"/>
                </a:solidFill>
              </a:rPr>
              <a:t>2</a:t>
            </a:r>
            <a:r>
              <a:rPr lang="cs-CZ" altLang="en-US" sz="2800" b="1" baseline="30000" smtClean="0">
                <a:solidFill>
                  <a:schemeClr val="tx2"/>
                </a:solidFill>
              </a:rPr>
              <a:t>-</a:t>
            </a:r>
          </a:p>
          <a:p>
            <a:pPr eaLnBrk="1" hangingPunct="1">
              <a:buFontTx/>
              <a:buBlip>
                <a:blip r:embed="rId2"/>
              </a:buBlip>
            </a:pPr>
            <a:r>
              <a:rPr lang="cs-CZ" altLang="en-US" sz="2400" b="1" smtClean="0"/>
              <a:t>dusitany jsou nejméně stokrát jedovatější než dusičnany</a:t>
            </a:r>
          </a:p>
          <a:p>
            <a:pPr eaLnBrk="1" hangingPunct="1">
              <a:buFontTx/>
              <a:buBlip>
                <a:blip r:embed="rId2"/>
              </a:buBlip>
            </a:pPr>
            <a:r>
              <a:rPr lang="cs-CZ" altLang="en-US" sz="2400" b="1" smtClean="0"/>
              <a:t>u člověka již 0,5 g dusitanů způsobuje akutní otravu (4 g jsou smrtelnou dávkou)</a:t>
            </a:r>
          </a:p>
          <a:p>
            <a:pPr eaLnBrk="1" hangingPunct="1">
              <a:buFontTx/>
              <a:buBlip>
                <a:blip r:embed="rId2"/>
              </a:buBlip>
            </a:pPr>
            <a:r>
              <a:rPr lang="cs-CZ" altLang="en-US" sz="2400" b="1" smtClean="0"/>
              <a:t>dusitany způsobují oxidaci hemoglobinu na methemoglobin</a:t>
            </a:r>
          </a:p>
          <a:p>
            <a:pPr eaLnBrk="1" hangingPunct="1">
              <a:buFontTx/>
              <a:buBlip>
                <a:blip r:embed="rId2"/>
              </a:buBlip>
            </a:pPr>
            <a:r>
              <a:rPr lang="cs-CZ" altLang="en-US" sz="2400" b="1" smtClean="0"/>
              <a:t>jejich působením dochází též k roztažení cév a krevní tlak stoupá</a:t>
            </a:r>
          </a:p>
          <a:p>
            <a:pPr eaLnBrk="1" hangingPunct="1">
              <a:buFontTx/>
              <a:buBlip>
                <a:blip r:embed="rId2"/>
              </a:buBlip>
            </a:pPr>
            <a:r>
              <a:rPr lang="cs-CZ" altLang="en-US" sz="2400" b="1" smtClean="0"/>
              <a:t>jsou podezřelé z karcinogenity, neboť mohou být biotransformovány na N-nitrososloučeniny, které poté přecházejí na diazosloučeniny (jsou silně elektrofilní a mohou tak velice snadno alkylovat DNA, čímž dochází ke vzniku mutací</a:t>
            </a:r>
          </a:p>
          <a:p>
            <a:pPr eaLnBrk="1" hangingPunct="1">
              <a:buFontTx/>
              <a:buNone/>
            </a:pPr>
            <a:r>
              <a:rPr lang="cs-CZ" altLang="en-US" smtClean="0"/>
              <a:t> </a:t>
            </a:r>
            <a:endParaRPr lang="cs-CZ" altLang="en-US" sz="2800" b="1" baseline="30000" smtClean="0">
              <a:solidFill>
                <a:schemeClr val="tx2"/>
              </a:solidFill>
            </a:endParaRPr>
          </a:p>
          <a:p>
            <a:pPr eaLnBrk="1" hangingPunct="1"/>
            <a:endParaRPr lang="cs-CZ" altLang="en-US" smtClean="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3666"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Estery kyseliny dusičné a dusité</a:t>
            </a:r>
          </a:p>
          <a:p>
            <a:pPr eaLnBrk="1" hangingPunct="1">
              <a:buFontTx/>
              <a:buBlip>
                <a:blip r:embed="rId2"/>
              </a:buBlip>
            </a:pPr>
            <a:r>
              <a:rPr lang="cs-CZ" altLang="en-US" sz="2400" b="1" smtClean="0"/>
              <a:t>Z toxikol. hlediska jsou významné ethylenglykoldinitrát a glyceroltrinitrát</a:t>
            </a:r>
          </a:p>
          <a:p>
            <a:pPr eaLnBrk="1" hangingPunct="1">
              <a:buFontTx/>
              <a:buBlip>
                <a:blip r:embed="rId2"/>
              </a:buBlip>
            </a:pPr>
            <a:r>
              <a:rPr lang="cs-CZ" altLang="en-US" sz="2400" b="1" smtClean="0"/>
              <a:t>používají se např. při léčbě anginy pectoris</a:t>
            </a:r>
          </a:p>
          <a:p>
            <a:pPr eaLnBrk="1" hangingPunct="1">
              <a:buFontTx/>
              <a:buBlip>
                <a:blip r:embed="rId2"/>
              </a:buBlip>
            </a:pPr>
            <a:r>
              <a:rPr lang="cs-CZ" altLang="en-US" sz="2400" b="1" smtClean="0"/>
              <a:t>jde o vysoce jedovaté látky (kardiotoxické a neurotoxické)</a:t>
            </a:r>
          </a:p>
          <a:p>
            <a:pPr eaLnBrk="1" hangingPunct="1">
              <a:buFontTx/>
              <a:buBlip>
                <a:blip r:embed="rId2"/>
              </a:buBlip>
            </a:pPr>
            <a:r>
              <a:rPr lang="cs-CZ" altLang="en-US" sz="2400" b="1" smtClean="0"/>
              <a:t>při vysokých dávkách vyvolávají oxidaci hemoglobinu na methemoglobin, vznik chudokrevnosti, poškození srdečního svalu, ledvin, jater a sleziny</a:t>
            </a:r>
          </a:p>
          <a:p>
            <a:pPr eaLnBrk="1" hangingPunct="1">
              <a:buFontTx/>
              <a:buBlip>
                <a:blip r:embed="rId2"/>
              </a:buBlip>
            </a:pPr>
            <a:r>
              <a:rPr lang="cs-CZ" altLang="en-US" sz="2400" b="1" smtClean="0"/>
              <a:t>akutní otravy často končí smrtí</a:t>
            </a:r>
          </a:p>
          <a:p>
            <a:pPr eaLnBrk="1" hangingPunct="1">
              <a:buFontTx/>
              <a:buBlip>
                <a:blip r:embed="rId2"/>
              </a:buBlip>
            </a:pPr>
            <a:r>
              <a:rPr lang="cs-CZ" altLang="en-US" sz="2400" b="1" smtClean="0"/>
              <a:t>do organismu tyto látky vstupují všemi cestami, tedy požitím (i z pod jazyka), inhalací i přes kůži </a:t>
            </a:r>
          </a:p>
          <a:p>
            <a:pPr eaLnBrk="1" hangingPunct="1">
              <a:buFontTx/>
              <a:buBlip>
                <a:blip r:embed="rId2"/>
              </a:buBlip>
            </a:pPr>
            <a:r>
              <a:rPr lang="cs-CZ" altLang="en-US" sz="2400" b="1" smtClean="0"/>
              <a:t>Pokud otrávený otravu přežije, zůstává často trvalé poškození jater a ledvin</a:t>
            </a:r>
            <a:endParaRPr lang="cs-CZ" altLang="en-US"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4690" name="Rectangle 3"/>
          <p:cNvSpPr>
            <a:spLocks noGrp="1" noChangeArrowheads="1"/>
          </p:cNvSpPr>
          <p:nvPr>
            <p:ph idx="1"/>
          </p:nvPr>
        </p:nvSpPr>
        <p:spPr>
          <a:xfrm>
            <a:off x="0" y="188913"/>
            <a:ext cx="9144000" cy="6669087"/>
          </a:xfrm>
        </p:spPr>
        <p:txBody>
          <a:bodyPr/>
          <a:lstStyle/>
          <a:p>
            <a:pPr eaLnBrk="1" hangingPunct="1">
              <a:buFontTx/>
              <a:buNone/>
            </a:pPr>
            <a:r>
              <a:rPr lang="cs-CZ" altLang="en-US" sz="2400" b="1" smtClean="0">
                <a:solidFill>
                  <a:schemeClr val="tx2"/>
                </a:solidFill>
              </a:rPr>
              <a:t>Amoniak NH</a:t>
            </a:r>
            <a:r>
              <a:rPr lang="cs-CZ" altLang="en-US" sz="2400" b="1" baseline="-25000" smtClean="0">
                <a:solidFill>
                  <a:schemeClr val="tx2"/>
                </a:solidFill>
              </a:rPr>
              <a:t>3</a:t>
            </a:r>
            <a:r>
              <a:rPr lang="cs-CZ" altLang="en-US" sz="2400" b="1" smtClean="0">
                <a:solidFill>
                  <a:schemeClr val="tx2"/>
                </a:solidFill>
              </a:rPr>
              <a:t> </a:t>
            </a:r>
          </a:p>
          <a:p>
            <a:pPr eaLnBrk="1" hangingPunct="1">
              <a:buFontTx/>
              <a:buBlip>
                <a:blip r:embed="rId2"/>
              </a:buBlip>
            </a:pPr>
            <a:r>
              <a:rPr lang="cs-CZ" altLang="en-US" sz="2400" b="1" smtClean="0"/>
              <a:t>Amoniak je plyn dráždivého až leptavého účinku, dobře poznatelný čichem (vodný roztok = čpavek)</a:t>
            </a:r>
          </a:p>
          <a:p>
            <a:pPr eaLnBrk="1" hangingPunct="1">
              <a:buFontTx/>
              <a:buBlip>
                <a:blip r:embed="rId2"/>
              </a:buBlip>
            </a:pPr>
            <a:r>
              <a:rPr lang="cs-CZ" altLang="en-US" sz="2400" b="1" smtClean="0"/>
              <a:t>je-li jeho koncentrace ve vzduchu vyšší než 3500 mg/m</a:t>
            </a:r>
            <a:r>
              <a:rPr lang="cs-CZ" altLang="en-US" sz="2400" b="1" baseline="30000" smtClean="0"/>
              <a:t>3</a:t>
            </a:r>
            <a:r>
              <a:rPr lang="cs-CZ" altLang="en-US" sz="2400" b="1" smtClean="0"/>
              <a:t>, způsobuje okamžitou smrt</a:t>
            </a:r>
          </a:p>
          <a:p>
            <a:pPr eaLnBrk="1" hangingPunct="1">
              <a:buFontTx/>
              <a:buBlip>
                <a:blip r:embed="rId2"/>
              </a:buBlip>
            </a:pPr>
            <a:r>
              <a:rPr lang="cs-CZ" altLang="en-US" sz="2400" b="1" smtClean="0"/>
              <a:t> čpavek leptá sliznice a nebezpečný je zejména pro oči</a:t>
            </a:r>
          </a:p>
          <a:p>
            <a:pPr eaLnBrk="1" hangingPunct="1">
              <a:buFontTx/>
              <a:buNone/>
            </a:pPr>
            <a:endParaRPr lang="cs-CZ" altLang="en-US" sz="2400" b="1" smtClean="0"/>
          </a:p>
          <a:p>
            <a:pPr eaLnBrk="1" hangingPunct="1">
              <a:buFontTx/>
              <a:buNone/>
            </a:pPr>
            <a:r>
              <a:rPr lang="cs-CZ" altLang="en-US" sz="2400" b="1" smtClean="0">
                <a:solidFill>
                  <a:schemeClr val="tx2"/>
                </a:solidFill>
              </a:rPr>
              <a:t>Hydrazin NH</a:t>
            </a:r>
            <a:r>
              <a:rPr lang="cs-CZ" altLang="en-US" sz="2400" b="1" baseline="-25000" smtClean="0">
                <a:solidFill>
                  <a:schemeClr val="tx2"/>
                </a:solidFill>
              </a:rPr>
              <a:t>2</a:t>
            </a:r>
            <a:r>
              <a:rPr lang="cs-CZ" altLang="en-US" sz="2400" b="1" smtClean="0">
                <a:solidFill>
                  <a:schemeClr val="tx2"/>
                </a:solidFill>
              </a:rPr>
              <a:t>NH</a:t>
            </a:r>
            <a:r>
              <a:rPr lang="cs-CZ" altLang="en-US" sz="2400" b="1" baseline="-25000" smtClean="0">
                <a:solidFill>
                  <a:schemeClr val="tx2"/>
                </a:solidFill>
              </a:rPr>
              <a:t>2</a:t>
            </a:r>
          </a:p>
          <a:p>
            <a:pPr eaLnBrk="1" hangingPunct="1">
              <a:buFontTx/>
              <a:buBlip>
                <a:blip r:embed="rId2"/>
              </a:buBlip>
            </a:pPr>
            <a:r>
              <a:rPr lang="cs-CZ" altLang="en-US" sz="2400" b="1" smtClean="0"/>
              <a:t>Hydrazin je toxikologicky významný (silná zásada s dráždivými a leptavými účinky)</a:t>
            </a:r>
          </a:p>
          <a:p>
            <a:pPr eaLnBrk="1" hangingPunct="1">
              <a:buFontTx/>
              <a:buBlip>
                <a:blip r:embed="rId2"/>
              </a:buBlip>
            </a:pPr>
            <a:r>
              <a:rPr lang="cs-CZ" altLang="en-US" sz="2400" b="1" smtClean="0"/>
              <a:t>toxický pro játra, ledviny i srdce poškozuje embryo a je podezřelý z karcinogenity</a:t>
            </a:r>
          </a:p>
          <a:p>
            <a:pPr eaLnBrk="1" hangingPunct="1">
              <a:buFontTx/>
              <a:buBlip>
                <a:blip r:embed="rId2"/>
              </a:buBlip>
            </a:pPr>
            <a:r>
              <a:rPr lang="cs-CZ" altLang="en-US" sz="2400" b="1" smtClean="0"/>
              <a:t>velmi snadno reaguje s ketoskupinami za vzniku hydrazonu, čímž inhibuje mnohé enzymy (reaguje např. s koenzymem pyridoxalfosfátem), může tak ale též reagovat s bázemi DNA</a:t>
            </a:r>
          </a:p>
          <a:p>
            <a:pPr eaLnBrk="1" hangingPunct="1">
              <a:buFontTx/>
              <a:buBlip>
                <a:blip r:embed="rId2"/>
              </a:buBlip>
            </a:pPr>
            <a:r>
              <a:rPr lang="cs-CZ" altLang="en-US" sz="2400" b="1" smtClean="0"/>
              <a:t>dobře se vstřebává kůží</a:t>
            </a:r>
            <a:r>
              <a:rPr lang="cs-CZ" altLang="en-US" sz="1800" smtClean="0"/>
              <a:t> </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14"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Hydroxylamin NH</a:t>
            </a:r>
            <a:r>
              <a:rPr lang="cs-CZ" altLang="en-US" sz="2800" b="1" baseline="-25000" smtClean="0">
                <a:solidFill>
                  <a:schemeClr val="tx2"/>
                </a:solidFill>
              </a:rPr>
              <a:t>2</a:t>
            </a:r>
            <a:r>
              <a:rPr lang="cs-CZ" altLang="en-US" sz="2800" b="1" smtClean="0">
                <a:solidFill>
                  <a:schemeClr val="tx2"/>
                </a:solidFill>
              </a:rPr>
              <a:t>OH</a:t>
            </a:r>
          </a:p>
          <a:p>
            <a:pPr eaLnBrk="1" hangingPunct="1">
              <a:buFontTx/>
              <a:buBlip>
                <a:blip r:embed="rId2"/>
              </a:buBlip>
            </a:pPr>
            <a:r>
              <a:rPr lang="cs-CZ" altLang="en-US" sz="2400" b="1" smtClean="0"/>
              <a:t>hydroxylamin se v těle přeměňuje na dusitan a amoniak, podporuje tak tedy vznik rakoviny</a:t>
            </a:r>
          </a:p>
          <a:p>
            <a:pPr eaLnBrk="1" hangingPunct="1">
              <a:buFontTx/>
              <a:buBlip>
                <a:blip r:embed="rId2"/>
              </a:buBlip>
            </a:pPr>
            <a:r>
              <a:rPr lang="cs-CZ" altLang="en-US" sz="2400" b="1" smtClean="0"/>
              <a:t>způsobuje hemolýzu krve, hemoglobin oxiduje na methemoglobin</a:t>
            </a:r>
          </a:p>
          <a:p>
            <a:pPr eaLnBrk="1" hangingPunct="1">
              <a:buFontTx/>
              <a:buBlip>
                <a:blip r:embed="rId2"/>
              </a:buBlip>
            </a:pPr>
            <a:r>
              <a:rPr lang="cs-CZ" altLang="en-US" sz="2400" b="1" smtClean="0"/>
              <a:t>způsobuje změny v nervovém systému (rozklad myelinové pochvy nervových vláken)</a:t>
            </a:r>
          </a:p>
          <a:p>
            <a:pPr eaLnBrk="1" hangingPunct="1">
              <a:buFontTx/>
              <a:buBlip>
                <a:blip r:embed="rId2"/>
              </a:buBlip>
            </a:pPr>
            <a:r>
              <a:rPr lang="cs-CZ" altLang="en-US" sz="2400" b="1" smtClean="0"/>
              <a:t>ovlivňuje též funkce sleziny a štítné žlázy</a:t>
            </a:r>
            <a:r>
              <a:rPr lang="cs-CZ" altLang="en-US" smtClean="0"/>
              <a:t> </a:t>
            </a:r>
          </a:p>
          <a:p>
            <a:pPr eaLnBrk="1" hangingPunct="1">
              <a:buFontTx/>
              <a:buNone/>
            </a:pPr>
            <a:endParaRPr lang="cs-CZ" altLang="en-US" smtClean="0"/>
          </a:p>
          <a:p>
            <a:pPr eaLnBrk="1" hangingPunct="1">
              <a:buFontTx/>
              <a:buNone/>
            </a:pPr>
            <a:r>
              <a:rPr lang="cs-CZ" altLang="en-US" sz="2800" b="1" smtClean="0">
                <a:solidFill>
                  <a:schemeClr val="tx2"/>
                </a:solidFill>
              </a:rPr>
              <a:t>Azidy N</a:t>
            </a:r>
            <a:r>
              <a:rPr lang="cs-CZ" altLang="en-US" sz="2800" b="1" baseline="30000" smtClean="0">
                <a:solidFill>
                  <a:schemeClr val="tx2"/>
                </a:solidFill>
              </a:rPr>
              <a:t>3-</a:t>
            </a:r>
          </a:p>
          <a:p>
            <a:pPr eaLnBrk="1" hangingPunct="1">
              <a:buFontTx/>
              <a:buBlip>
                <a:blip r:embed="rId2"/>
              </a:buBlip>
            </a:pPr>
            <a:r>
              <a:rPr lang="cs-CZ" altLang="en-US" sz="2400" b="1" smtClean="0"/>
              <a:t>Azidy v těle napodobují chloridové ionty, čímž ovlivňují otevírání a zavírání nervových kanálů, které fungují na bázi signálu chloridových iontů</a:t>
            </a:r>
          </a:p>
          <a:p>
            <a:pPr eaLnBrk="1" hangingPunct="1">
              <a:buFontTx/>
              <a:buBlip>
                <a:blip r:embed="rId2"/>
              </a:buBlip>
            </a:pPr>
            <a:r>
              <a:rPr lang="cs-CZ" altLang="en-US" sz="2400" b="1" smtClean="0"/>
              <a:t>poškozují zejména nervy, mohou též poškozovat DNA</a:t>
            </a:r>
          </a:p>
          <a:p>
            <a:pPr eaLnBrk="1" hangingPunct="1">
              <a:buFontTx/>
              <a:buBlip>
                <a:blip r:embed="rId2"/>
              </a:buBlip>
            </a:pPr>
            <a:r>
              <a:rPr lang="cs-CZ" altLang="en-US" sz="2400" b="1" smtClean="0"/>
              <a:t>azidovodík je asi tak toxický, jako kyanovodík</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6738" name="Rectangle 3"/>
          <p:cNvSpPr>
            <a:spLocks noGrp="1" noChangeArrowheads="1"/>
          </p:cNvSpPr>
          <p:nvPr>
            <p:ph idx="1"/>
          </p:nvPr>
        </p:nvSpPr>
        <p:spPr>
          <a:xfrm>
            <a:off x="0" y="188913"/>
            <a:ext cx="9144000" cy="6669087"/>
          </a:xfrm>
        </p:spPr>
        <p:txBody>
          <a:bodyPr/>
          <a:lstStyle/>
          <a:p>
            <a:pPr algn="ctr" eaLnBrk="1" hangingPunct="1">
              <a:buFontTx/>
              <a:buNone/>
            </a:pPr>
            <a:r>
              <a:rPr lang="cs-CZ" altLang="en-US" b="1" smtClean="0">
                <a:solidFill>
                  <a:schemeClr val="tx2"/>
                </a:solidFill>
              </a:rPr>
              <a:t>Fosfor P</a:t>
            </a:r>
            <a:r>
              <a:rPr lang="cs-CZ" altLang="en-US" sz="2800" smtClean="0"/>
              <a:t> </a:t>
            </a:r>
          </a:p>
          <a:p>
            <a:pPr eaLnBrk="1" hangingPunct="1">
              <a:buFontTx/>
              <a:buNone/>
            </a:pPr>
            <a:r>
              <a:rPr lang="cs-CZ" altLang="en-US" sz="2800" b="1" smtClean="0">
                <a:solidFill>
                  <a:srgbClr val="FF0000"/>
                </a:solidFill>
                <a:sym typeface="Wingdings" panose="05000000000000000000" pitchFamily="2" charset="2"/>
              </a:rPr>
              <a:t></a:t>
            </a:r>
            <a:r>
              <a:rPr lang="cs-CZ" altLang="en-US" sz="2800" b="1" smtClean="0">
                <a:solidFill>
                  <a:schemeClr val="tx2"/>
                </a:solidFill>
              </a:rPr>
              <a:t> Bílý fosfor P</a:t>
            </a:r>
            <a:r>
              <a:rPr lang="cs-CZ" altLang="en-US" sz="2800" b="1" baseline="-25000" smtClean="0">
                <a:solidFill>
                  <a:schemeClr val="tx2"/>
                </a:solidFill>
              </a:rPr>
              <a:t>4 </a:t>
            </a:r>
            <a:r>
              <a:rPr lang="cs-CZ" altLang="en-US" sz="2800" b="1" smtClean="0">
                <a:solidFill>
                  <a:srgbClr val="FF0000"/>
                </a:solidFill>
                <a:sym typeface="Wingdings" panose="05000000000000000000" pitchFamily="2" charset="2"/>
              </a:rPr>
              <a:t></a:t>
            </a:r>
            <a:endParaRPr lang="cs-CZ" altLang="en-US" sz="2800" b="1" baseline="-25000" smtClean="0">
              <a:solidFill>
                <a:schemeClr val="tx2"/>
              </a:solidFill>
            </a:endParaRPr>
          </a:p>
          <a:p>
            <a:pPr eaLnBrk="1" hangingPunct="1">
              <a:buFontTx/>
              <a:buBlip>
                <a:blip r:embed="rId2"/>
              </a:buBlip>
            </a:pPr>
            <a:r>
              <a:rPr lang="cs-CZ" altLang="en-US" sz="2400" b="1" smtClean="0"/>
              <a:t>bílá modifikace fosforu je na rozdíl od červené vysoce jedovatá; červená modifikace bývá bílým fosforem znečištěna</a:t>
            </a:r>
          </a:p>
          <a:p>
            <a:pPr eaLnBrk="1" hangingPunct="1">
              <a:buFontTx/>
              <a:buBlip>
                <a:blip r:embed="rId2"/>
              </a:buBlip>
            </a:pPr>
            <a:r>
              <a:rPr lang="cs-CZ" altLang="en-US" sz="2400" b="1" smtClean="0"/>
              <a:t>bílý fosfor je samozápalný, působí destrukce tkání a těžce se hojící popáleniny</a:t>
            </a:r>
          </a:p>
          <a:p>
            <a:pPr eaLnBrk="1" hangingPunct="1">
              <a:buFontTx/>
              <a:buBlip>
                <a:blip r:embed="rId2"/>
              </a:buBlip>
            </a:pPr>
            <a:r>
              <a:rPr lang="cs-CZ" altLang="en-US" sz="2400" b="1" smtClean="0"/>
              <a:t>narušuje metabolismus cukrů (brání ukládání glykogenu v játrech), tuků i bílkovin; poškozuje játra, ledviny a nervovou soustavu a kosti</a:t>
            </a:r>
          </a:p>
          <a:p>
            <a:pPr eaLnBrk="1" hangingPunct="1">
              <a:buFontTx/>
              <a:buBlip>
                <a:blip r:embed="rId2"/>
              </a:buBlip>
            </a:pPr>
            <a:r>
              <a:rPr lang="cs-CZ" altLang="en-US" sz="2400" b="1" smtClean="0"/>
              <a:t>smrtelnou dávkou je pro dospělého asi 70 mg bílého fosforu</a:t>
            </a:r>
            <a:r>
              <a:rPr lang="cs-CZ" altLang="en-US" sz="2000" b="1" smtClean="0"/>
              <a:t> </a:t>
            </a:r>
          </a:p>
          <a:p>
            <a:pPr eaLnBrk="1" hangingPunct="1">
              <a:buFontTx/>
              <a:buNone/>
            </a:pPr>
            <a:endParaRPr lang="cs-CZ" altLang="en-US" sz="2000" b="1" smtClean="0"/>
          </a:p>
          <a:p>
            <a:pPr eaLnBrk="1" hangingPunct="1">
              <a:buFontTx/>
              <a:buNone/>
            </a:pPr>
            <a:r>
              <a:rPr lang="cs-CZ" altLang="en-US" sz="2800" b="1" smtClean="0">
                <a:solidFill>
                  <a:schemeClr val="tx2"/>
                </a:solidFill>
              </a:rPr>
              <a:t>Fosfan PH</a:t>
            </a:r>
            <a:r>
              <a:rPr lang="cs-CZ" altLang="en-US" sz="2800" b="1" baseline="-25000" smtClean="0">
                <a:solidFill>
                  <a:schemeClr val="tx2"/>
                </a:solidFill>
              </a:rPr>
              <a:t>3</a:t>
            </a:r>
          </a:p>
          <a:p>
            <a:pPr eaLnBrk="1" hangingPunct="1">
              <a:buFontTx/>
              <a:buBlip>
                <a:blip r:embed="rId2"/>
              </a:buBlip>
            </a:pPr>
            <a:r>
              <a:rPr lang="cs-CZ" altLang="en-US" sz="2400" b="1" smtClean="0"/>
              <a:t>Fosfan (fosfin) a fosfidy jsou prudce jedovaté sloučeniny</a:t>
            </a:r>
          </a:p>
          <a:p>
            <a:pPr eaLnBrk="1" hangingPunct="1">
              <a:buFontTx/>
              <a:buBlip>
                <a:blip r:embed="rId2"/>
              </a:buBlip>
            </a:pPr>
            <a:r>
              <a:rPr lang="cs-CZ" altLang="en-US" sz="2400" b="1" smtClean="0"/>
              <a:t>fosfan vzniká působením kyseliny fosforečné na kovy</a:t>
            </a:r>
          </a:p>
          <a:p>
            <a:pPr eaLnBrk="1" hangingPunct="1">
              <a:buFontTx/>
              <a:buBlip>
                <a:blip r:embed="rId2"/>
              </a:buBlip>
            </a:pPr>
            <a:r>
              <a:rPr lang="cs-CZ" altLang="en-US" sz="2400" b="1" smtClean="0"/>
              <a:t>bývá přítomen v technickém acetylenu; páchne rybinou</a:t>
            </a:r>
          </a:p>
          <a:p>
            <a:pPr eaLnBrk="1" hangingPunct="1">
              <a:buFontTx/>
              <a:buBlip>
                <a:blip r:embed="rId2"/>
              </a:buBlip>
            </a:pPr>
            <a:r>
              <a:rPr lang="cs-CZ" altLang="en-US" sz="2400" b="1" smtClean="0"/>
              <a:t>působí dráždivě a je neurotoxický  </a:t>
            </a:r>
          </a:p>
          <a:p>
            <a:pPr eaLnBrk="1" hangingPunct="1">
              <a:buFontTx/>
              <a:buNone/>
            </a:pPr>
            <a:endParaRPr lang="cs-CZ" altLang="en-US" sz="2400" b="1"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62"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Organofosfáty</a:t>
            </a:r>
          </a:p>
          <a:p>
            <a:pPr eaLnBrk="1" hangingPunct="1">
              <a:buFontTx/>
              <a:buBlip>
                <a:blip r:embed="rId2"/>
              </a:buBlip>
            </a:pPr>
            <a:r>
              <a:rPr lang="cs-CZ" altLang="en-US" sz="2400" b="1" smtClean="0"/>
              <a:t>Organické estery kyseliny fosforečné jsou vysoce toxickými sloučeninami</a:t>
            </a:r>
          </a:p>
          <a:p>
            <a:pPr eaLnBrk="1" hangingPunct="1">
              <a:buFontTx/>
              <a:buBlip>
                <a:blip r:embed="rId2"/>
              </a:buBlip>
            </a:pPr>
            <a:r>
              <a:rPr lang="cs-CZ" altLang="en-US" sz="2400" b="1" smtClean="0"/>
              <a:t>Používají se jako insekticidy nebo jako součást bojových nervových plynů</a:t>
            </a:r>
          </a:p>
          <a:p>
            <a:pPr eaLnBrk="1" hangingPunct="1">
              <a:buFontTx/>
              <a:buBlip>
                <a:blip r:embed="rId2"/>
              </a:buBlip>
            </a:pPr>
            <a:r>
              <a:rPr lang="cs-CZ" altLang="en-US" sz="2400" b="1" smtClean="0"/>
              <a:t>do těla pronikají dobře všemi cestami</a:t>
            </a:r>
          </a:p>
          <a:p>
            <a:pPr eaLnBrk="1" hangingPunct="1">
              <a:buFontTx/>
              <a:buBlip>
                <a:blip r:embed="rId2"/>
              </a:buBlip>
            </a:pPr>
            <a:r>
              <a:rPr lang="cs-CZ" altLang="en-US" sz="2400" b="1" smtClean="0"/>
              <a:t>při inhalaci se první příznaky objevují již po několika minutách, při požití ústy asi za čtvrt hodiny až za hodinu, po absorpci kůží až za 2 až 3 hodiny</a:t>
            </a:r>
          </a:p>
          <a:p>
            <a:pPr eaLnBrk="1" hangingPunct="1">
              <a:buFontTx/>
              <a:buBlip>
                <a:blip r:embed="rId2"/>
              </a:buBlip>
            </a:pPr>
            <a:r>
              <a:rPr lang="cs-CZ" altLang="en-US" sz="2400" b="1" smtClean="0"/>
              <a:t>organofosfáty nevratným způsobem inhibují enzym acetylcholinesterasu, který na nervových zakončeních katalyzuje rozklad nervového přenašeče acetylcholinu na cholin a kyselinu octovou</a:t>
            </a:r>
          </a:p>
          <a:p>
            <a:pPr eaLnBrk="1" hangingPunct="1">
              <a:buFontTx/>
              <a:buBlip>
                <a:blip r:embed="rId2"/>
              </a:buBlip>
            </a:pPr>
            <a:r>
              <a:rPr lang="cs-CZ" altLang="en-US" sz="2400" b="1" smtClean="0"/>
              <a:t>inhibice tohoto rozkladu vede ke zvýšeným koncentracím acetylcholinu na nervových zakončeních</a:t>
            </a:r>
          </a:p>
          <a:p>
            <a:pPr eaLnBrk="1" hangingPunct="1">
              <a:buFontTx/>
              <a:buNone/>
            </a:pPr>
            <a:endParaRPr lang="cs-CZ" altLang="en-US" sz="240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8786"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při otravě organofosfáty tedy na místech, kde je acetylcholin používán jako nervový přenašeč (ganglia, dřeň nadledvin, nervosvalové ploténky, CNS), dochází ke vzniku neustálého nervového dráždění</a:t>
            </a:r>
          </a:p>
          <a:p>
            <a:pPr eaLnBrk="1" hangingPunct="1">
              <a:buFontTx/>
              <a:buBlip>
                <a:blip r:embed="rId2"/>
              </a:buBlip>
            </a:pPr>
            <a:r>
              <a:rPr lang="cs-CZ" altLang="en-US" sz="2400" b="1" smtClean="0"/>
              <a:t>Otrava se projevuje jednak příznaky u trávicí soustavy (křeče, zvracení, průjmy), dále slzením, pocením, snížením krevního tlaku, svalovou slabostí až paralýzou (otrávený je neklidný, nemůže se soustředit, objevují se poruchy paměti a spánku; dýchání je oslabeno</a:t>
            </a:r>
          </a:p>
          <a:p>
            <a:pPr eaLnBrk="1" hangingPunct="1">
              <a:buFontTx/>
              <a:buBlip>
                <a:blip r:embed="rId2"/>
              </a:buBlip>
            </a:pPr>
            <a:r>
              <a:rPr lang="cs-CZ" altLang="en-US" sz="2400" b="1" smtClean="0"/>
              <a:t>Dochází k poškození slinivky břišní, ledvin, krvácení do jater a do dalších orgánů až smrt následkem křečí průdušek, případně v důsledku paralýzy příčně pruhovaného svalstva (zejména bránice)</a:t>
            </a:r>
          </a:p>
          <a:p>
            <a:pPr eaLnBrk="1" hangingPunct="1">
              <a:buFontTx/>
              <a:buBlip>
                <a:blip r:embed="rId2"/>
              </a:buBlip>
            </a:pPr>
            <a:r>
              <a:rPr lang="cs-CZ" altLang="en-US" sz="2400" b="1" smtClean="0"/>
              <a:t>Při chronické expozici dochází snadno k hromadění organofosfátů v organismu (vypadávají vlasy a zuby, silné zažívací potíže; hubnutí)</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9810" name="Rectangle 3"/>
          <p:cNvSpPr>
            <a:spLocks noGrp="1" noChangeArrowheads="1"/>
          </p:cNvSpPr>
          <p:nvPr>
            <p:ph idx="1"/>
          </p:nvPr>
        </p:nvSpPr>
        <p:spPr>
          <a:xfrm>
            <a:off x="0" y="0"/>
            <a:ext cx="9144000" cy="6858000"/>
          </a:xfrm>
        </p:spPr>
        <p:txBody>
          <a:bodyPr/>
          <a:lstStyle/>
          <a:p>
            <a:pPr eaLnBrk="1" hangingPunct="1">
              <a:buFontTx/>
              <a:buBlip>
                <a:blip r:embed="rId2"/>
              </a:buBlip>
            </a:pPr>
            <a:r>
              <a:rPr lang="cs-CZ" altLang="en-US" sz="2400" b="1" smtClean="0"/>
              <a:t>Při otravě organofosfáty musí pomoc přijít zejména rychle</a:t>
            </a:r>
          </a:p>
          <a:p>
            <a:pPr eaLnBrk="1" hangingPunct="1">
              <a:buFontTx/>
              <a:buBlip>
                <a:blip r:embed="rId2"/>
              </a:buBlip>
            </a:pPr>
            <a:r>
              <a:rPr lang="cs-CZ" altLang="en-US" sz="2400" b="1" smtClean="0"/>
              <a:t>Nejprve je třeba zabránit další absorpci inhibitoru</a:t>
            </a:r>
          </a:p>
          <a:p>
            <a:pPr eaLnBrk="1" hangingPunct="1">
              <a:buFontTx/>
              <a:buBlip>
                <a:blip r:embed="rId2"/>
              </a:buBlip>
            </a:pPr>
            <a:r>
              <a:rPr lang="cs-CZ" altLang="en-US" sz="2400" b="1" smtClean="0"/>
              <a:t>Při nadýchání dostaneme postiženého ze zamořeného prostoru</a:t>
            </a:r>
          </a:p>
          <a:p>
            <a:pPr eaLnBrk="1" hangingPunct="1">
              <a:buFontTx/>
              <a:buBlip>
                <a:blip r:embed="rId2"/>
              </a:buBlip>
            </a:pPr>
            <a:r>
              <a:rPr lang="cs-CZ" altLang="en-US" sz="2400" b="1" smtClean="0"/>
              <a:t>při potřísnění kůže odstraníme kontaminovaný oděv a exponovanou pokožku důkladně omyjeme mýdlem a vodou</a:t>
            </a:r>
          </a:p>
          <a:p>
            <a:pPr eaLnBrk="1" hangingPunct="1">
              <a:buFontTx/>
              <a:buBlip>
                <a:blip r:embed="rId2"/>
              </a:buBlip>
            </a:pPr>
            <a:r>
              <a:rPr lang="cs-CZ" altLang="en-US" sz="2400" b="1" smtClean="0"/>
              <a:t>při vniknutí jedu do oka vypláchneme spojivkový vak vodou</a:t>
            </a:r>
          </a:p>
          <a:p>
            <a:pPr eaLnBrk="1" hangingPunct="1">
              <a:buFontTx/>
              <a:buBlip>
                <a:blip r:embed="rId2"/>
              </a:buBlip>
            </a:pPr>
            <a:r>
              <a:rPr lang="cs-CZ" altLang="en-US" sz="2400" b="1" smtClean="0"/>
              <a:t>při požití podáváme vodu a aktivní uhlí, které nespecificky váže přítomný toxin</a:t>
            </a:r>
          </a:p>
          <a:p>
            <a:pPr eaLnBrk="1" hangingPunct="1">
              <a:buFontTx/>
              <a:buBlip>
                <a:blip r:embed="rId2"/>
              </a:buBlip>
            </a:pPr>
            <a:r>
              <a:rPr lang="cs-CZ" altLang="en-US" sz="2400" b="1" smtClean="0"/>
              <a:t>jako antidotum se používá atropin, který kompetitivně blokuje účinky acetylcholinu (eliminuje účinek jedu na průdušky, zatímco kosterní svalstvo zůstává paralyzováno</a:t>
            </a:r>
          </a:p>
          <a:p>
            <a:pPr eaLnBrk="1" hangingPunct="1">
              <a:buFontTx/>
              <a:buBlip>
                <a:blip r:embed="rId2"/>
              </a:buBlip>
            </a:pPr>
            <a:r>
              <a:rPr lang="cs-CZ" altLang="en-US" sz="2400" b="1" smtClean="0"/>
              <a:t>kromě atropinu se podávají též reaktivátory acetylcholinesterasy, neboť pro velmi pevnou vazbu fosfátu na acetylcholinesterasu takto může účinek přetrvávat dny, týdny a někdy i měsíce</a:t>
            </a:r>
          </a:p>
          <a:p>
            <a:pPr eaLnBrk="1" hangingPunct="1">
              <a:buFontTx/>
              <a:buNone/>
            </a:pPr>
            <a:r>
              <a:rPr lang="cs-CZ" altLang="en-US" sz="2400" smtClean="0"/>
              <a:t>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0834"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Reaktivátory acetylcholinesterasy obsahují oximovou skupinu (=NOH), která reaguje s fosfátem inhibovaného enzymu a fosforylovaný enzym je tak hydrolyzován</a:t>
            </a:r>
          </a:p>
          <a:p>
            <a:pPr eaLnBrk="1" hangingPunct="1">
              <a:buFontTx/>
              <a:buBlip>
                <a:blip r:embed="rId2"/>
              </a:buBlip>
            </a:pPr>
            <a:r>
              <a:rPr lang="cs-CZ" altLang="en-US" sz="2400" b="1" smtClean="0"/>
              <a:t>Oximy je však nutno podat rychle (minuty až hodiny po intoxikaci), neboť dochází rychle k tzv. "stárnutí" vazby fosfátu na enzym, což představuje další zvýšení pevnosti vazby, kterou je pak těžké rozštěpit i pomocí oximů</a:t>
            </a:r>
          </a:p>
          <a:p>
            <a:pPr eaLnBrk="1" hangingPunct="1">
              <a:buFontTx/>
              <a:buBlip>
                <a:blip r:embed="rId2"/>
              </a:buBlip>
            </a:pPr>
            <a:endParaRPr lang="cs-CZ" altLang="en-US" sz="2400" b="1" smtClean="0"/>
          </a:p>
          <a:p>
            <a:pPr eaLnBrk="1" hangingPunct="1">
              <a:buFontTx/>
              <a:buNone/>
            </a:pPr>
            <a:r>
              <a:rPr lang="cs-CZ" altLang="en-US" sz="2800" b="1" smtClean="0">
                <a:solidFill>
                  <a:schemeClr val="tx2"/>
                </a:solidFill>
              </a:rPr>
              <a:t>Chlorid fosforečný PCl</a:t>
            </a:r>
            <a:r>
              <a:rPr lang="cs-CZ" altLang="en-US" sz="2800" b="1" baseline="-25000" smtClean="0">
                <a:solidFill>
                  <a:schemeClr val="tx2"/>
                </a:solidFill>
              </a:rPr>
              <a:t>5</a:t>
            </a:r>
            <a:r>
              <a:rPr lang="cs-CZ" altLang="en-US" sz="2800" b="1" smtClean="0">
                <a:solidFill>
                  <a:schemeClr val="tx2"/>
                </a:solidFill>
              </a:rPr>
              <a:t> a chlorid fosforitý PCl</a:t>
            </a:r>
            <a:r>
              <a:rPr lang="cs-CZ" altLang="en-US" sz="2800" b="1" baseline="-25000" smtClean="0">
                <a:solidFill>
                  <a:schemeClr val="tx2"/>
                </a:solidFill>
              </a:rPr>
              <a:t>3</a:t>
            </a:r>
          </a:p>
          <a:p>
            <a:pPr eaLnBrk="1" hangingPunct="1">
              <a:buFontTx/>
              <a:buBlip>
                <a:blip r:embed="rId2"/>
              </a:buBlip>
            </a:pPr>
            <a:r>
              <a:rPr lang="cs-CZ" altLang="en-US" sz="2400" b="1" smtClean="0"/>
              <a:t>Chloridy fosforu jsou silně dráždivými látkami</a:t>
            </a:r>
          </a:p>
          <a:p>
            <a:pPr eaLnBrk="1" hangingPunct="1">
              <a:buFontTx/>
              <a:buBlip>
                <a:blip r:embed="rId2"/>
              </a:buBlip>
            </a:pPr>
            <a:r>
              <a:rPr lang="cs-CZ" altLang="en-US" sz="2400" b="1" smtClean="0"/>
              <a:t>po expozici může vznikat edém plic, inhalace může být snadno smrtelná </a:t>
            </a:r>
            <a:r>
              <a:rPr lang="cs-CZ" altLang="en-US" sz="2400" b="1" smtClean="0">
                <a:solidFill>
                  <a:schemeClr val="tx2"/>
                </a:solidFill>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1858" name="Rectangle 3"/>
          <p:cNvSpPr>
            <a:spLocks noGrp="1" noChangeArrowheads="1"/>
          </p:cNvSpPr>
          <p:nvPr>
            <p:ph idx="1"/>
          </p:nvPr>
        </p:nvSpPr>
        <p:spPr>
          <a:xfrm>
            <a:off x="0" y="188913"/>
            <a:ext cx="9144000" cy="6669087"/>
          </a:xfrm>
        </p:spPr>
        <p:txBody>
          <a:bodyPr/>
          <a:lstStyle/>
          <a:p>
            <a:pPr algn="ctr" eaLnBrk="1" hangingPunct="1">
              <a:buFont typeface="Wingdings" panose="05000000000000000000" pitchFamily="2" charset="2"/>
              <a:buNone/>
            </a:pPr>
            <a:r>
              <a:rPr lang="cs-CZ" altLang="en-US" sz="3600" smtClean="0">
                <a:solidFill>
                  <a:srgbClr val="FF0000"/>
                </a:solidFill>
                <a:sym typeface="Wingdings" panose="05000000000000000000" pitchFamily="2" charset="2"/>
              </a:rPr>
              <a:t></a:t>
            </a:r>
            <a:r>
              <a:rPr lang="cs-CZ" altLang="en-US" sz="3600" b="1" smtClean="0">
                <a:solidFill>
                  <a:schemeClr val="tx2"/>
                </a:solidFill>
                <a:sym typeface="Wingdings" panose="05000000000000000000" pitchFamily="2" charset="2"/>
              </a:rPr>
              <a:t> </a:t>
            </a:r>
            <a:r>
              <a:rPr lang="cs-CZ" altLang="en-US" sz="3600" b="1" smtClean="0">
                <a:solidFill>
                  <a:schemeClr val="tx2"/>
                </a:solidFill>
              </a:rPr>
              <a:t>Arsen As </a:t>
            </a:r>
            <a:r>
              <a:rPr lang="cs-CZ" altLang="en-US" sz="3600" smtClean="0">
                <a:solidFill>
                  <a:srgbClr val="FF0000"/>
                </a:solidFill>
                <a:sym typeface="Wingdings" panose="05000000000000000000" pitchFamily="2" charset="2"/>
              </a:rPr>
              <a:t></a:t>
            </a:r>
          </a:p>
          <a:p>
            <a:pPr eaLnBrk="1" hangingPunct="1">
              <a:buFontTx/>
              <a:buBlip>
                <a:blip r:embed="rId2"/>
              </a:buBlip>
            </a:pPr>
            <a:r>
              <a:rPr lang="cs-CZ" altLang="en-US" sz="2400" b="1" smtClean="0"/>
              <a:t>Sloučeniny arsenu jsou vysoce jedovaté, a to jak akutně, tak chronicky</a:t>
            </a:r>
          </a:p>
          <a:p>
            <a:pPr eaLnBrk="1" hangingPunct="1">
              <a:buFontTx/>
              <a:buBlip>
                <a:blip r:embed="rId2"/>
              </a:buBlip>
            </a:pPr>
            <a:r>
              <a:rPr lang="cs-CZ" altLang="en-US" sz="2400" b="1" smtClean="0"/>
              <a:t>Některé jsou též prokázanými </a:t>
            </a:r>
            <a:r>
              <a:rPr lang="cs-CZ" altLang="en-US" sz="2400" b="1" smtClean="0">
                <a:solidFill>
                  <a:srgbClr val="FF0000"/>
                </a:solidFill>
              </a:rPr>
              <a:t>mutageny, karcinogeny a teratogeny</a:t>
            </a:r>
          </a:p>
          <a:p>
            <a:pPr eaLnBrk="1" hangingPunct="1">
              <a:buFontTx/>
              <a:buBlip>
                <a:blip r:embed="rId2"/>
              </a:buBlip>
            </a:pPr>
            <a:r>
              <a:rPr lang="cs-CZ" altLang="en-US" sz="2400" b="1" smtClean="0"/>
              <a:t>Za netoxický bývá považován kovový arsen, který je však v organismu přeměněn ve své toxické sloučeniny</a:t>
            </a:r>
          </a:p>
          <a:p>
            <a:pPr eaLnBrk="1" hangingPunct="1">
              <a:buFontTx/>
              <a:buBlip>
                <a:blip r:embed="rId2"/>
              </a:buBlip>
            </a:pPr>
            <a:r>
              <a:rPr lang="cs-CZ" altLang="en-US" sz="2400" b="1" smtClean="0"/>
              <a:t>Sloučeniny</a:t>
            </a:r>
            <a:r>
              <a:rPr lang="cs-CZ" altLang="en-US" sz="2400" b="1" smtClean="0">
                <a:solidFill>
                  <a:srgbClr val="FF0000"/>
                </a:solidFill>
              </a:rPr>
              <a:t> trojmocného</a:t>
            </a:r>
            <a:r>
              <a:rPr lang="cs-CZ" altLang="en-US" sz="2400" b="1" smtClean="0"/>
              <a:t> arsenu se snáze vstřebávají než sloučeniny arsenu pětimocného </a:t>
            </a:r>
            <a:r>
              <a:rPr lang="cs-CZ" altLang="en-US" sz="2400" b="1" smtClean="0">
                <a:solidFill>
                  <a:srgbClr val="FF0000"/>
                </a:solidFill>
                <a:sym typeface="Wingdings 3" panose="05040102010807070707" pitchFamily="18" charset="2"/>
              </a:rPr>
              <a:t></a:t>
            </a:r>
            <a:r>
              <a:rPr lang="cs-CZ" altLang="en-US" sz="2400" b="1" smtClean="0">
                <a:sym typeface="Wingdings 3" panose="05040102010807070707" pitchFamily="18" charset="2"/>
              </a:rPr>
              <a:t> </a:t>
            </a:r>
            <a:r>
              <a:rPr lang="cs-CZ" altLang="en-US" sz="2400" b="1" smtClean="0">
                <a:solidFill>
                  <a:srgbClr val="FF0000"/>
                </a:solidFill>
                <a:sym typeface="Wingdings 3" panose="05040102010807070707" pitchFamily="18" charset="2"/>
              </a:rPr>
              <a:t>jsou jedovatější</a:t>
            </a:r>
            <a:r>
              <a:rPr lang="cs-CZ" altLang="en-US" sz="2400" b="1" smtClean="0"/>
              <a:t> </a:t>
            </a:r>
          </a:p>
          <a:p>
            <a:pPr eaLnBrk="1" hangingPunct="1">
              <a:buFontTx/>
              <a:buBlip>
                <a:blip r:embed="rId2"/>
              </a:buBlip>
            </a:pPr>
            <a:r>
              <a:rPr lang="cs-CZ" altLang="en-US" sz="2400" b="1" smtClean="0"/>
              <a:t>Mezi nejjedovatější sloučeniny arsenu patří oxid arsenitý As</a:t>
            </a:r>
            <a:r>
              <a:rPr lang="cs-CZ" altLang="en-US" sz="2400" b="1" baseline="-25000" smtClean="0"/>
              <a:t>2</a:t>
            </a:r>
            <a:r>
              <a:rPr lang="cs-CZ" altLang="en-US" sz="2400" b="1" smtClean="0"/>
              <a:t>O</a:t>
            </a:r>
            <a:r>
              <a:rPr lang="cs-CZ" altLang="en-US" sz="2400" b="1" baseline="-25000" smtClean="0"/>
              <a:t>3</a:t>
            </a:r>
            <a:r>
              <a:rPr lang="cs-CZ" altLang="en-US" sz="2400" b="1" smtClean="0"/>
              <a:t> (</a:t>
            </a:r>
            <a:r>
              <a:rPr lang="cs-CZ" altLang="en-US" sz="2400" b="1" smtClean="0">
                <a:solidFill>
                  <a:srgbClr val="FFCC00"/>
                </a:solidFill>
              </a:rPr>
              <a:t>arsenik, otrušík</a:t>
            </a:r>
            <a:r>
              <a:rPr lang="cs-CZ" altLang="en-US" sz="2400" b="1" smtClean="0"/>
              <a:t>), </a:t>
            </a:r>
            <a:r>
              <a:rPr lang="cs-CZ" altLang="en-US" sz="2400" b="1" smtClean="0">
                <a:solidFill>
                  <a:srgbClr val="FFCC00"/>
                </a:solidFill>
              </a:rPr>
              <a:t>chlorid arsenitý</a:t>
            </a:r>
            <a:r>
              <a:rPr lang="cs-CZ" altLang="en-US" sz="2400" b="1" smtClean="0"/>
              <a:t> AsCl</a:t>
            </a:r>
            <a:r>
              <a:rPr lang="cs-CZ" altLang="en-US" sz="2400" b="1" baseline="-25000" smtClean="0"/>
              <a:t>3</a:t>
            </a:r>
            <a:r>
              <a:rPr lang="cs-CZ" altLang="en-US" sz="2400" b="1" smtClean="0"/>
              <a:t>, dále </a:t>
            </a:r>
            <a:r>
              <a:rPr lang="cs-CZ" altLang="en-US" sz="2400" b="1" smtClean="0">
                <a:solidFill>
                  <a:srgbClr val="FFCC00"/>
                </a:solidFill>
              </a:rPr>
              <a:t>arsenovodík</a:t>
            </a:r>
            <a:r>
              <a:rPr lang="cs-CZ" altLang="en-US" sz="2400" b="1" smtClean="0"/>
              <a:t> AsH</a:t>
            </a:r>
            <a:r>
              <a:rPr lang="cs-CZ" altLang="en-US" sz="2400" b="1" baseline="-25000" smtClean="0"/>
              <a:t>3</a:t>
            </a:r>
            <a:r>
              <a:rPr lang="cs-CZ" altLang="en-US" sz="2400" b="1" smtClean="0"/>
              <a:t>, z organických sloučenin je nejvýznamnější bojový </a:t>
            </a:r>
            <a:r>
              <a:rPr lang="cs-CZ" altLang="en-US" sz="2400" b="1" smtClean="0">
                <a:solidFill>
                  <a:srgbClr val="FF0000"/>
                </a:solidFill>
              </a:rPr>
              <a:t>Lewisit</a:t>
            </a:r>
            <a:r>
              <a:rPr lang="cs-CZ" altLang="en-US" sz="2400" b="1" smtClean="0"/>
              <a:t> </a:t>
            </a:r>
          </a:p>
          <a:p>
            <a:pPr algn="ctr" eaLnBrk="1" hangingPunct="1">
              <a:buFontTx/>
              <a:buNone/>
            </a:pPr>
            <a:r>
              <a:rPr lang="cs-CZ" altLang="en-US" sz="4000" b="1" smtClean="0">
                <a:solidFill>
                  <a:srgbClr val="FF0000"/>
                </a:solidFill>
                <a:sym typeface="Wingdings" panose="05000000000000000000" pitchFamily="2" charset="2"/>
              </a:rPr>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82"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solidFill>
                  <a:schemeClr val="tx2"/>
                </a:solidFill>
              </a:rPr>
              <a:t>Toxický účinek</a:t>
            </a:r>
            <a:r>
              <a:rPr lang="cs-CZ" altLang="en-US" sz="2400" b="1" smtClean="0"/>
              <a:t> arsenu na enzymy a enzymové systémy, kde se jednak váže na thiolové (-SH) skupiny proteinů </a:t>
            </a:r>
          </a:p>
          <a:p>
            <a:pPr eaLnBrk="1" hangingPunct="1">
              <a:buFontTx/>
              <a:buBlip>
                <a:blip r:embed="rId2"/>
              </a:buBlip>
            </a:pPr>
            <a:r>
              <a:rPr lang="cs-CZ" altLang="en-US" sz="2400" b="1" smtClean="0"/>
              <a:t>dále rozpojuje oxidační fosforylace v mitochondriích a tím narušuje tkáňové dýchání</a:t>
            </a:r>
          </a:p>
          <a:p>
            <a:pPr eaLnBrk="1" hangingPunct="1">
              <a:buFontTx/>
              <a:buBlip>
                <a:blip r:embed="rId2"/>
              </a:buBlip>
            </a:pPr>
            <a:r>
              <a:rPr lang="cs-CZ" altLang="en-US" sz="2400" b="1" smtClean="0"/>
              <a:t>přímý účinek na epitel kapilár, vyvolává poškození stěny cév a zvyšuje jejich křehkost</a:t>
            </a:r>
          </a:p>
          <a:p>
            <a:pPr eaLnBrk="1" hangingPunct="1">
              <a:buFontTx/>
              <a:buBlip>
                <a:blip r:embed="rId2"/>
              </a:buBlip>
            </a:pPr>
            <a:r>
              <a:rPr lang="cs-CZ" altLang="en-US" sz="2400" b="1" smtClean="0">
                <a:solidFill>
                  <a:schemeClr val="tx2"/>
                </a:solidFill>
              </a:rPr>
              <a:t>Vstřebávání</a:t>
            </a:r>
            <a:r>
              <a:rPr lang="cs-CZ" altLang="en-US" sz="2400" b="1" smtClean="0"/>
              <a:t> trávicím traktem, plícemi a sliznicemi (také placentou – hromadění v plodu</a:t>
            </a:r>
          </a:p>
          <a:p>
            <a:pPr eaLnBrk="1" hangingPunct="1">
              <a:buFontTx/>
              <a:buBlip>
                <a:blip r:embed="rId2"/>
              </a:buBlip>
            </a:pPr>
            <a:r>
              <a:rPr lang="cs-CZ" altLang="en-US" sz="2400" b="1" smtClean="0">
                <a:solidFill>
                  <a:schemeClr val="tx2"/>
                </a:solidFill>
              </a:rPr>
              <a:t>Detoxikace</a:t>
            </a:r>
            <a:r>
              <a:rPr lang="cs-CZ" altLang="en-US" sz="2400" b="1" smtClean="0"/>
              <a:t> sloučenin arsenu methylací (při nadbytku, hromadění v játrech, kostech, nehtech a vlasech, kde se váže zejména na S-S můstky keratinu) </a:t>
            </a:r>
          </a:p>
          <a:p>
            <a:pPr eaLnBrk="1" hangingPunct="1">
              <a:buFontTx/>
              <a:buBlip>
                <a:blip r:embed="rId2"/>
              </a:buBlip>
            </a:pPr>
            <a:r>
              <a:rPr lang="cs-CZ" altLang="en-US" sz="2400" b="1" smtClean="0">
                <a:solidFill>
                  <a:schemeClr val="tx2"/>
                </a:solidFill>
              </a:rPr>
              <a:t>Vylučování </a:t>
            </a:r>
            <a:r>
              <a:rPr lang="cs-CZ" altLang="en-US" sz="2400" b="1" smtClean="0"/>
              <a:t>především močí ve formě anorganické i ve formě methylovaných metabolitů</a:t>
            </a:r>
          </a:p>
          <a:p>
            <a:pPr eaLnBrk="1" hangingPunct="1">
              <a:buFontTx/>
              <a:buBlip>
                <a:blip r:embed="rId2"/>
              </a:buBlip>
            </a:pPr>
            <a:r>
              <a:rPr lang="cs-CZ" altLang="en-US" sz="2400" b="1" smtClean="0">
                <a:solidFill>
                  <a:schemeClr val="tx2"/>
                </a:solidFill>
              </a:rPr>
              <a:t>Letální dávka</a:t>
            </a:r>
            <a:r>
              <a:rPr lang="cs-CZ" altLang="en-US" sz="2400" b="1" smtClean="0"/>
              <a:t> pro člověka - 200 mg arseniku podaná ústy usmrcuje v průběhu několika hodin</a:t>
            </a:r>
          </a:p>
          <a:p>
            <a:pPr algn="ctr" eaLnBrk="1" hangingPunct="1">
              <a:buFontTx/>
              <a:buNone/>
            </a:pPr>
            <a:r>
              <a:rPr lang="cs-CZ" altLang="en-US" sz="4000" b="1" smtClean="0">
                <a:solidFill>
                  <a:srgbClr val="FF0000"/>
                </a:solidFill>
                <a:sym typeface="Wingdings" panose="05000000000000000000" pitchFamily="2" charset="2"/>
              </a:rPr>
              <a:t></a:t>
            </a:r>
            <a:r>
              <a:rPr lang="cs-CZ" altLang="en-US" sz="2400" smtClean="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3906"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při otravě anorganickými arsenitými sloučeninami se objevují zejména problémy trávicí soustavy, (nevolnost, zvracení, kolikovité bolesti, krvavý vodnatý průjem celková dehydratace organismu a oběhové selhání)</a:t>
            </a:r>
          </a:p>
          <a:p>
            <a:pPr eaLnBrk="1" hangingPunct="1">
              <a:buFontTx/>
              <a:buBlip>
                <a:blip r:embed="rId2"/>
              </a:buBlip>
            </a:pPr>
            <a:r>
              <a:rPr lang="cs-CZ" altLang="en-US" sz="2400" b="1" smtClean="0"/>
              <a:t>dochází k poškození jater (cirhóza) a ledvin</a:t>
            </a:r>
          </a:p>
          <a:p>
            <a:pPr eaLnBrk="1" hangingPunct="1">
              <a:buFontTx/>
              <a:buBlip>
                <a:blip r:embed="rId2"/>
              </a:buBlip>
            </a:pPr>
            <a:r>
              <a:rPr lang="cs-CZ" altLang="en-US" sz="2400" b="1" smtClean="0"/>
              <a:t>sloučeniny arsenu jsou neurotoxické, (mozek není dostatečně prokrvován </a:t>
            </a:r>
            <a:r>
              <a:rPr lang="cs-CZ" altLang="en-US" sz="2400" b="1" smtClean="0">
                <a:solidFill>
                  <a:srgbClr val="FF0000"/>
                </a:solidFill>
                <a:sym typeface="Wingdings 3" panose="05040102010807070707" pitchFamily="18" charset="2"/>
              </a:rPr>
              <a:t></a:t>
            </a:r>
            <a:r>
              <a:rPr lang="cs-CZ" altLang="en-US" sz="2400" b="1" smtClean="0"/>
              <a:t> krvácení do mozku v důsledku poškození kapilár</a:t>
            </a:r>
          </a:p>
          <a:p>
            <a:pPr eaLnBrk="1" hangingPunct="1">
              <a:buFontTx/>
              <a:buBlip>
                <a:blip r:embed="rId2"/>
              </a:buBlip>
            </a:pPr>
            <a:r>
              <a:rPr lang="cs-CZ" altLang="en-US" sz="2400" b="1" smtClean="0"/>
              <a:t>V důsledku poškození kapilár mohou vznikat až gangrény dolních končetin</a:t>
            </a:r>
          </a:p>
          <a:p>
            <a:pPr eaLnBrk="1" hangingPunct="1">
              <a:buFontTx/>
              <a:buBlip>
                <a:blip r:embed="rId2"/>
              </a:buBlip>
            </a:pPr>
            <a:r>
              <a:rPr lang="cs-CZ" altLang="en-US" sz="2400" b="1" smtClean="0"/>
              <a:t>smrt nastává paralýzou CNS</a:t>
            </a:r>
          </a:p>
          <a:p>
            <a:pPr eaLnBrk="1" hangingPunct="1">
              <a:buFontTx/>
              <a:buBlip>
                <a:blip r:embed="rId2"/>
              </a:buBlip>
            </a:pPr>
            <a:r>
              <a:rPr lang="cs-CZ" altLang="en-US" sz="2400" b="1" smtClean="0"/>
              <a:t>při chronické expozici malým dávkám sloučenin arsenu vzniká návyk (navyklí jedinci pak mohou snášet bez problémů dávky mnohonásobně převyšující běžnou smrtelnou dávku)</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4930"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Je zajímavé, že jednorázové podání stopových množství arsenu má opačný, tedy posilující účinek, neboť dochází k efektu, zvanému </a:t>
            </a:r>
            <a:r>
              <a:rPr lang="cs-CZ" altLang="en-US" sz="2400" b="1" smtClean="0">
                <a:solidFill>
                  <a:srgbClr val="00FF00"/>
                </a:solidFill>
              </a:rPr>
              <a:t>hormeze</a:t>
            </a:r>
            <a:r>
              <a:rPr lang="cs-CZ" altLang="en-US" sz="2400" b="1" smtClean="0"/>
              <a:t>, kdy se tělo ve snaze ubránit se jinak neškodnému množství arsenu podnikne protiúčinek, který má za následek </a:t>
            </a:r>
            <a:r>
              <a:rPr lang="cs-CZ" altLang="en-US" sz="2400" b="1" smtClean="0">
                <a:solidFill>
                  <a:srgbClr val="00FF00"/>
                </a:solidFill>
              </a:rPr>
              <a:t>posílení organismu</a:t>
            </a:r>
          </a:p>
          <a:p>
            <a:pPr eaLnBrk="1" hangingPunct="1">
              <a:buFontTx/>
              <a:buBlip>
                <a:blip r:embed="rId2"/>
              </a:buBlip>
            </a:pPr>
            <a:endParaRPr lang="cs-CZ" altLang="en-US" sz="2400" b="1" smtClean="0">
              <a:solidFill>
                <a:srgbClr val="00FF00"/>
              </a:solidFill>
            </a:endParaRPr>
          </a:p>
          <a:p>
            <a:pPr eaLnBrk="1" hangingPunct="1">
              <a:buFontTx/>
              <a:buBlip>
                <a:blip r:embed="rId2"/>
              </a:buBlip>
            </a:pPr>
            <a:r>
              <a:rPr lang="cs-CZ" altLang="en-US" sz="2400" b="1" smtClean="0"/>
              <a:t>Jako účinné antidotum se pužívá dimerkaprol (2,3-disulfanyl-1-propanol)</a:t>
            </a:r>
          </a:p>
          <a:p>
            <a:pPr eaLnBrk="1" hangingPunct="1">
              <a:buFontTx/>
              <a:buBlip>
                <a:blip r:embed="rId2"/>
              </a:buBlip>
            </a:pPr>
            <a:r>
              <a:rPr lang="cs-CZ" altLang="en-US" sz="2400" b="1" smtClean="0"/>
              <a:t>dimerkaprol jakožto dithiol svými dvěma -SH skupinami váže arsen za vzniku stabilního chelátu, který je z organismu postupně vylučován</a:t>
            </a:r>
          </a:p>
          <a:p>
            <a:pPr eaLnBrk="1" hangingPunct="1">
              <a:buFontTx/>
              <a:buBlip>
                <a:blip r:embed="rId2"/>
              </a:buBlip>
            </a:pPr>
            <a:r>
              <a:rPr lang="cs-CZ" altLang="en-US" sz="2400" b="1" smtClean="0"/>
              <a:t>arsen má k této látce větší afinitu, než k -SH skupinám enzymů</a:t>
            </a:r>
          </a:p>
          <a:p>
            <a:pPr eaLnBrk="1" hangingPunct="1">
              <a:buFontTx/>
              <a:buNone/>
            </a:pPr>
            <a:r>
              <a:rPr lang="cs-CZ" altLang="en-US" smtClean="0"/>
              <a: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5954"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Arseničné sloučeniny</a:t>
            </a:r>
          </a:p>
          <a:p>
            <a:pPr eaLnBrk="1" hangingPunct="1">
              <a:buFontTx/>
              <a:buBlip>
                <a:blip r:embed="rId2"/>
              </a:buBlip>
            </a:pPr>
            <a:r>
              <a:rPr lang="cs-CZ" altLang="en-US" sz="2400" b="1" smtClean="0"/>
              <a:t>Arseničné sloučeniny jsou méně jedovaté než sloučeniny arsenité, ale jsou karcinogennější</a:t>
            </a:r>
          </a:p>
          <a:p>
            <a:pPr eaLnBrk="1" hangingPunct="1">
              <a:buFontTx/>
              <a:buBlip>
                <a:blip r:embed="rId2"/>
              </a:buBlip>
            </a:pPr>
            <a:r>
              <a:rPr lang="cs-CZ" altLang="en-US" sz="2400" b="1" smtClean="0"/>
              <a:t>Nejčastěji vzniká rakovina plic, která se může vyvinout až za velmi dlouhou dobu po expozici (35 až 45 let po opakované expozici arsenu)</a:t>
            </a:r>
          </a:p>
          <a:p>
            <a:pPr eaLnBrk="1" hangingPunct="1">
              <a:buFontTx/>
              <a:buBlip>
                <a:blip r:embed="rId2"/>
              </a:buBlip>
            </a:pPr>
            <a:r>
              <a:rPr lang="cs-CZ" altLang="en-US" sz="2400" b="1" smtClean="0"/>
              <a:t>dusičnany a dusitany karcinogenní účinek arsenu zesilují (častá je např. rakovina kůže po expozici arsenem na osvětlených částech těla)</a:t>
            </a:r>
          </a:p>
          <a:p>
            <a:pPr eaLnBrk="1" hangingPunct="1">
              <a:buFontTx/>
              <a:buBlip>
                <a:blip r:embed="rId2"/>
              </a:buBlip>
            </a:pPr>
            <a:endParaRPr lang="cs-CZ" altLang="en-US" sz="2400" b="1" smtClean="0"/>
          </a:p>
          <a:p>
            <a:pPr eaLnBrk="1" hangingPunct="1">
              <a:buFontTx/>
              <a:buNone/>
            </a:pPr>
            <a:r>
              <a:rPr lang="cs-CZ" altLang="en-US" sz="2800" b="1" smtClean="0">
                <a:solidFill>
                  <a:schemeClr val="tx2"/>
                </a:solidFill>
              </a:rPr>
              <a:t>Arsenovodík AsH</a:t>
            </a:r>
            <a:r>
              <a:rPr lang="cs-CZ" altLang="en-US" sz="2800" b="1" baseline="-25000" smtClean="0">
                <a:solidFill>
                  <a:schemeClr val="tx2"/>
                </a:solidFill>
              </a:rPr>
              <a:t>3</a:t>
            </a:r>
            <a:r>
              <a:rPr lang="cs-CZ" altLang="en-US" sz="2800" baseline="-25000" smtClean="0"/>
              <a:t> </a:t>
            </a:r>
          </a:p>
          <a:p>
            <a:pPr eaLnBrk="1" hangingPunct="1">
              <a:buFontTx/>
              <a:buBlip>
                <a:blip r:embed="rId2"/>
              </a:buBlip>
            </a:pPr>
            <a:r>
              <a:rPr lang="cs-CZ" altLang="en-US" sz="2400" b="1" smtClean="0"/>
              <a:t>Arsenovodík (arsan) je jedovatý plyn, páchnoucí po česneku</a:t>
            </a:r>
          </a:p>
          <a:p>
            <a:pPr eaLnBrk="1" hangingPunct="1">
              <a:buFontTx/>
              <a:buBlip>
                <a:blip r:embed="rId2"/>
              </a:buBlip>
            </a:pPr>
            <a:r>
              <a:rPr lang="cs-CZ" altLang="en-US" sz="2400" b="1" smtClean="0"/>
              <a:t>způsobuje zejména rozklad červených krvinek a hemoglobinu</a:t>
            </a:r>
          </a:p>
          <a:p>
            <a:pPr eaLnBrk="1" hangingPunct="1">
              <a:buFontTx/>
              <a:buNone/>
            </a:pPr>
            <a:endParaRPr lang="cs-CZ" altLang="en-US" sz="2400" b="1" smtClean="0">
              <a:solidFill>
                <a:schemeClr val="tx2"/>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6978"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při akutní otravě postižený umírá na selhání ledvin nebo na zástavu srdce</a:t>
            </a:r>
          </a:p>
          <a:p>
            <a:pPr eaLnBrk="1" hangingPunct="1">
              <a:buFontTx/>
              <a:buBlip>
                <a:blip r:embed="rId2"/>
              </a:buBlip>
            </a:pPr>
            <a:r>
              <a:rPr lang="cs-CZ" altLang="en-US" sz="2400" b="1" smtClean="0"/>
              <a:t>při chronické otravě patří k hlavním příznakům chudokrevnost, rozklad hemoglobinu, případně žloutenka</a:t>
            </a:r>
          </a:p>
          <a:p>
            <a:pPr eaLnBrk="1" hangingPunct="1">
              <a:buFontTx/>
              <a:buBlip>
                <a:blip r:embed="rId2"/>
              </a:buBlip>
            </a:pPr>
            <a:endParaRPr lang="cs-CZ" altLang="en-US" sz="2400" b="1" smtClean="0"/>
          </a:p>
          <a:p>
            <a:pPr eaLnBrk="1" hangingPunct="1">
              <a:buFontTx/>
              <a:buNone/>
            </a:pPr>
            <a:r>
              <a:rPr lang="cs-CZ" altLang="en-US" sz="2800" b="1" smtClean="0">
                <a:solidFill>
                  <a:srgbClr val="FF0000"/>
                </a:solidFill>
                <a:sym typeface="Wingdings" panose="05000000000000000000" pitchFamily="2" charset="2"/>
              </a:rPr>
              <a:t></a:t>
            </a:r>
            <a:r>
              <a:rPr lang="cs-CZ" altLang="en-US" sz="2800" b="1" smtClean="0">
                <a:solidFill>
                  <a:schemeClr val="tx2"/>
                </a:solidFill>
              </a:rPr>
              <a:t> Lewisit C</a:t>
            </a:r>
            <a:r>
              <a:rPr lang="cs-CZ" altLang="en-US" sz="2800" b="1" baseline="-25000" smtClean="0">
                <a:solidFill>
                  <a:schemeClr val="tx2"/>
                </a:solidFill>
              </a:rPr>
              <a:t>2</a:t>
            </a:r>
            <a:r>
              <a:rPr lang="cs-CZ" altLang="en-US" sz="2800" b="1" smtClean="0">
                <a:solidFill>
                  <a:schemeClr val="tx2"/>
                </a:solidFill>
              </a:rPr>
              <a:t>H</a:t>
            </a:r>
            <a:r>
              <a:rPr lang="cs-CZ" altLang="en-US" sz="2800" b="1" baseline="-25000" smtClean="0">
                <a:solidFill>
                  <a:schemeClr val="tx2"/>
                </a:solidFill>
              </a:rPr>
              <a:t>2</a:t>
            </a:r>
            <a:r>
              <a:rPr lang="cs-CZ" altLang="en-US" sz="2800" b="1" smtClean="0">
                <a:solidFill>
                  <a:schemeClr val="tx2"/>
                </a:solidFill>
              </a:rPr>
              <a:t>AsCl</a:t>
            </a:r>
            <a:r>
              <a:rPr lang="cs-CZ" altLang="en-US" sz="2800" b="1" baseline="-25000" smtClean="0">
                <a:solidFill>
                  <a:schemeClr val="tx2"/>
                </a:solidFill>
              </a:rPr>
              <a:t>3 </a:t>
            </a:r>
            <a:r>
              <a:rPr lang="cs-CZ" altLang="en-US" sz="2800" b="1" smtClean="0">
                <a:solidFill>
                  <a:srgbClr val="FF0000"/>
                </a:solidFill>
                <a:sym typeface="Wingdings" panose="05000000000000000000" pitchFamily="2" charset="2"/>
              </a:rPr>
              <a:t></a:t>
            </a:r>
            <a:endParaRPr lang="cs-CZ" altLang="en-US" sz="2800" b="1" baseline="-25000" smtClean="0">
              <a:solidFill>
                <a:schemeClr val="tx2"/>
              </a:solidFill>
            </a:endParaRPr>
          </a:p>
          <a:p>
            <a:pPr eaLnBrk="1" hangingPunct="1">
              <a:buFontTx/>
              <a:buBlip>
                <a:blip r:embed="rId2"/>
              </a:buBlip>
            </a:pPr>
            <a:r>
              <a:rPr lang="cs-CZ" altLang="en-US" sz="2400" b="1" smtClean="0"/>
              <a:t>Lewisit neboli (2-chlorvinyl)arsindichlorid, tedy adiční sloučenina acetylenu a chloridu arsenitého</a:t>
            </a:r>
          </a:p>
          <a:p>
            <a:pPr eaLnBrk="1" hangingPunct="1">
              <a:buFontTx/>
              <a:buBlip>
                <a:blip r:embed="rId2"/>
              </a:buBlip>
            </a:pPr>
            <a:r>
              <a:rPr lang="cs-CZ" altLang="en-US" sz="2400" b="1" smtClean="0"/>
              <a:t>je známým bojovým plynem</a:t>
            </a:r>
          </a:p>
          <a:p>
            <a:pPr eaLnBrk="1" hangingPunct="1">
              <a:buFontTx/>
              <a:buBlip>
                <a:blip r:embed="rId2"/>
              </a:buBlip>
            </a:pPr>
            <a:r>
              <a:rPr lang="cs-CZ" altLang="en-US" sz="2400" b="1" smtClean="0"/>
              <a:t>má zpuchýřující účinky, proniká kůží do hlubších vrstev škáry, kde napadá buňky a jejich DNA, přičemž se vyvíjejí ošklivé puchýře</a:t>
            </a:r>
          </a:p>
          <a:p>
            <a:pPr eaLnBrk="1" hangingPunct="1">
              <a:buFontTx/>
              <a:buBlip>
                <a:blip r:embed="rId2"/>
              </a:buBlip>
            </a:pPr>
            <a:r>
              <a:rPr lang="cs-CZ" altLang="en-US" sz="2400" b="1" smtClean="0"/>
              <a:t>při postižení lewisitem se podává antidotum dimerkaprol</a:t>
            </a:r>
            <a:r>
              <a:rPr lang="cs-CZ" altLang="en-US" smtClean="0"/>
              <a:t>  </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8002" name="Rectangle 3"/>
          <p:cNvSpPr>
            <a:spLocks noGrp="1" noChangeArrowheads="1"/>
          </p:cNvSpPr>
          <p:nvPr>
            <p:ph idx="1"/>
          </p:nvPr>
        </p:nvSpPr>
        <p:spPr>
          <a:xfrm>
            <a:off x="0" y="188913"/>
            <a:ext cx="9144000" cy="6669087"/>
          </a:xfrm>
        </p:spPr>
        <p:txBody>
          <a:bodyPr/>
          <a:lstStyle/>
          <a:p>
            <a:pPr eaLnBrk="1" hangingPunct="1">
              <a:buFontTx/>
              <a:buNone/>
            </a:pPr>
            <a:r>
              <a:rPr lang="cs-CZ" altLang="en-US" sz="2400" b="1" smtClean="0">
                <a:solidFill>
                  <a:schemeClr val="tx2"/>
                </a:solidFill>
              </a:rPr>
              <a:t>Antimon Sb</a:t>
            </a:r>
            <a:r>
              <a:rPr lang="cs-CZ" altLang="en-US" sz="2800" smtClean="0"/>
              <a:t> </a:t>
            </a:r>
          </a:p>
          <a:p>
            <a:pPr eaLnBrk="1" hangingPunct="1">
              <a:buFontTx/>
              <a:buBlip>
                <a:blip r:embed="rId2"/>
              </a:buBlip>
            </a:pPr>
            <a:r>
              <a:rPr lang="cs-CZ" altLang="en-US" sz="2400" b="1" smtClean="0"/>
              <a:t>Sloučeniny antimonu jsou méně toxické než sloučeniny arsenu, princip toxicity je však podobný</a:t>
            </a:r>
          </a:p>
          <a:p>
            <a:pPr eaLnBrk="1" hangingPunct="1">
              <a:buFontTx/>
              <a:buBlip>
                <a:blip r:embed="rId2"/>
              </a:buBlip>
            </a:pPr>
            <a:r>
              <a:rPr lang="cs-CZ" altLang="en-US" sz="2400" b="1" smtClean="0"/>
              <a:t>sloučeniny se špatně vstřebávají, rozpustné sloučeniny v trávicím traktu hydrolyzují, nerozpustné jsou málo toxické</a:t>
            </a:r>
          </a:p>
          <a:p>
            <a:pPr eaLnBrk="1" hangingPunct="1">
              <a:buFontTx/>
              <a:buBlip>
                <a:blip r:embed="rId2"/>
              </a:buBlip>
            </a:pPr>
            <a:r>
              <a:rPr lang="cs-CZ" altLang="en-US" sz="2400" b="1" smtClean="0"/>
              <a:t>Mezi nejtoxičtější sloučeniny antimonu patří vínan antimonylodraselný (dávivý vinný kámen), který je stejně jedovatý jako oxid arsenitý i se stejným obrazem otravy. Používá se jako antiparazitikum</a:t>
            </a:r>
          </a:p>
          <a:p>
            <a:pPr eaLnBrk="1" hangingPunct="1">
              <a:buFontTx/>
              <a:buBlip>
                <a:blip r:embed="rId2"/>
              </a:buBlip>
            </a:pPr>
            <a:endParaRPr lang="cs-CZ" altLang="en-US" sz="2800" b="1" smtClean="0"/>
          </a:p>
          <a:p>
            <a:pPr eaLnBrk="1" hangingPunct="1">
              <a:buFontTx/>
              <a:buNone/>
            </a:pPr>
            <a:r>
              <a:rPr lang="cs-CZ" altLang="en-US" sz="2800" b="1" smtClean="0">
                <a:solidFill>
                  <a:schemeClr val="tx2"/>
                </a:solidFill>
              </a:rPr>
              <a:t>Bismut Bi</a:t>
            </a:r>
          </a:p>
          <a:p>
            <a:pPr eaLnBrk="1" hangingPunct="1">
              <a:buFontTx/>
              <a:buBlip>
                <a:blip r:embed="rId2"/>
              </a:buBlip>
            </a:pPr>
            <a:r>
              <a:rPr lang="cs-CZ" altLang="en-US" sz="2400" b="1" smtClean="0"/>
              <a:t>Sloučeniny bismutu jsou jedovaté</a:t>
            </a:r>
          </a:p>
          <a:p>
            <a:pPr eaLnBrk="1" hangingPunct="1">
              <a:buFontTx/>
              <a:buBlip>
                <a:blip r:embed="rId2"/>
              </a:buBlip>
            </a:pPr>
            <a:r>
              <a:rPr lang="cs-CZ" altLang="en-US" sz="2400" b="1" smtClean="0"/>
              <a:t>otrava se podobá otravě sloučeninami olova či rtuti</a:t>
            </a:r>
          </a:p>
          <a:p>
            <a:pPr eaLnBrk="1" hangingPunct="1">
              <a:buFontTx/>
              <a:buBlip>
                <a:blip r:embed="rId2"/>
              </a:buBlip>
            </a:pPr>
            <a:r>
              <a:rPr lang="cs-CZ" altLang="en-US" sz="2400" b="1" smtClean="0"/>
              <a:t>při chronické expozici vzniká slinění a šedočerné povlaky na dásních</a:t>
            </a:r>
          </a:p>
          <a:p>
            <a:pPr eaLnBrk="1" hangingPunct="1">
              <a:buFontTx/>
              <a:buBlip>
                <a:blip r:embed="rId2"/>
              </a:buBlip>
            </a:pPr>
            <a:r>
              <a:rPr lang="cs-CZ" altLang="en-US" sz="2400" b="1" smtClean="0"/>
              <a:t>dochází zejména k poškození ledvin (rozpustné soli vyvolávají zástavu močení); poškození nervové soustavy</a:t>
            </a:r>
            <a:r>
              <a:rPr lang="cs-CZ" altLang="en-US" sz="2800" smtClean="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468313" y="260350"/>
            <a:ext cx="8207375" cy="1008063"/>
          </a:xfrm>
          <a:ln w="76200">
            <a:solidFill>
              <a:schemeClr val="tx2"/>
            </a:solidFill>
            <a:miter lim="800000"/>
            <a:headEnd/>
            <a:tailEnd/>
          </a:ln>
        </p:spPr>
        <p:txBody>
          <a:bodyPr/>
          <a:lstStyle/>
          <a:p>
            <a:pPr eaLnBrk="1" hangingPunct="1"/>
            <a:r>
              <a:rPr lang="cs-CZ" altLang="en-US" sz="4000" smtClean="0"/>
              <a:t>VI.A skupina - skupina kyslíku</a:t>
            </a:r>
            <a:r>
              <a:rPr lang="cs-CZ" altLang="en-US" smtClean="0"/>
              <a:t> </a:t>
            </a:r>
          </a:p>
        </p:txBody>
      </p:sp>
      <p:sp>
        <p:nvSpPr>
          <p:cNvPr id="129027" name="Rectangle 3"/>
          <p:cNvSpPr>
            <a:spLocks noGrp="1" noChangeArrowheads="1"/>
          </p:cNvSpPr>
          <p:nvPr>
            <p:ph idx="1"/>
          </p:nvPr>
        </p:nvSpPr>
        <p:spPr>
          <a:xfrm>
            <a:off x="0" y="1412875"/>
            <a:ext cx="9144000" cy="5445125"/>
          </a:xfrm>
        </p:spPr>
        <p:txBody>
          <a:bodyPr/>
          <a:lstStyle/>
          <a:p>
            <a:pPr algn="ctr" eaLnBrk="1" hangingPunct="1">
              <a:buFontTx/>
              <a:buNone/>
            </a:pPr>
            <a:endParaRPr lang="cs-CZ" altLang="en-US" sz="3600" b="1" smtClean="0">
              <a:solidFill>
                <a:schemeClr val="tx2"/>
              </a:solidFill>
            </a:endParaRPr>
          </a:p>
          <a:p>
            <a:pPr algn="ctr" eaLnBrk="1" hangingPunct="1">
              <a:buFontTx/>
              <a:buNone/>
            </a:pPr>
            <a:r>
              <a:rPr lang="cs-CZ" altLang="en-US" sz="3600" b="1" smtClean="0">
                <a:solidFill>
                  <a:schemeClr val="tx2"/>
                </a:solidFill>
              </a:rPr>
              <a:t>Kyslík O</a:t>
            </a:r>
            <a:r>
              <a:rPr lang="cs-CZ" altLang="en-US" smtClean="0"/>
              <a:t> </a:t>
            </a:r>
          </a:p>
          <a:p>
            <a:pPr eaLnBrk="1" hangingPunct="1">
              <a:buFontTx/>
              <a:buBlip>
                <a:blip r:embed="rId2"/>
              </a:buBlip>
            </a:pPr>
            <a:r>
              <a:rPr lang="cs-CZ" altLang="en-US" sz="2400" b="1" smtClean="0"/>
              <a:t>Kyslík je biogenním prvkem, je obsažen v oxidech, hydroxidech, kyselinách, jejich solích a v organických sloučeninách</a:t>
            </a:r>
          </a:p>
          <a:p>
            <a:pPr eaLnBrk="1" hangingPunct="1">
              <a:buFontTx/>
              <a:buNone/>
            </a:pPr>
            <a:endParaRPr lang="cs-CZ" altLang="en-US" smtClean="0"/>
          </a:p>
          <a:p>
            <a:pPr eaLnBrk="1" hangingPunct="1">
              <a:buFontTx/>
              <a:buNone/>
            </a:pPr>
            <a:r>
              <a:rPr lang="cs-CZ" altLang="en-US" sz="2800" b="1" smtClean="0">
                <a:solidFill>
                  <a:srgbClr val="FF0000"/>
                </a:solidFill>
                <a:sym typeface="Wingdings" panose="05000000000000000000" pitchFamily="2" charset="2"/>
              </a:rPr>
              <a:t></a:t>
            </a:r>
            <a:r>
              <a:rPr lang="cs-CZ" altLang="en-US" sz="2800" b="1" smtClean="0">
                <a:solidFill>
                  <a:schemeClr val="tx2"/>
                </a:solidFill>
              </a:rPr>
              <a:t> Ozon O</a:t>
            </a:r>
            <a:r>
              <a:rPr lang="cs-CZ" altLang="en-US" sz="2800" b="1" baseline="-25000" smtClean="0">
                <a:solidFill>
                  <a:schemeClr val="tx2"/>
                </a:solidFill>
              </a:rPr>
              <a:t>3 </a:t>
            </a:r>
            <a:r>
              <a:rPr lang="cs-CZ" altLang="en-US" sz="2800" b="1" smtClean="0">
                <a:solidFill>
                  <a:srgbClr val="FF0000"/>
                </a:solidFill>
                <a:sym typeface="Wingdings" panose="05000000000000000000" pitchFamily="2" charset="2"/>
              </a:rPr>
              <a:t></a:t>
            </a:r>
            <a:endParaRPr lang="cs-CZ" altLang="en-US" sz="2800" b="1" baseline="-25000" smtClean="0">
              <a:solidFill>
                <a:schemeClr val="tx2"/>
              </a:solidFill>
            </a:endParaRPr>
          </a:p>
          <a:p>
            <a:pPr eaLnBrk="1" hangingPunct="1">
              <a:buFontTx/>
              <a:buBlip>
                <a:blip r:embed="rId2"/>
              </a:buBlip>
            </a:pPr>
            <a:r>
              <a:rPr lang="cs-CZ" altLang="en-US" sz="2400" b="1" smtClean="0"/>
              <a:t>Ozon je vysoce toxický a reaktivní plyn</a:t>
            </a:r>
          </a:p>
          <a:p>
            <a:pPr eaLnBrk="1" hangingPunct="1">
              <a:buFontTx/>
              <a:buBlip>
                <a:blip r:embed="rId2"/>
              </a:buBlip>
            </a:pPr>
            <a:r>
              <a:rPr lang="cs-CZ" altLang="en-US" sz="2400" b="1" smtClean="0"/>
              <a:t>asi 90% atmosférického ozonu je přítomno v části stratosféry - v ozonosféře, která se nachází ve výšce asi 20 až 25 km</a:t>
            </a:r>
          </a:p>
          <a:p>
            <a:pPr eaLnBrk="1" hangingPunct="1">
              <a:buFontTx/>
              <a:buBlip>
                <a:blip r:embed="rId2"/>
              </a:buBlip>
            </a:pPr>
            <a:r>
              <a:rPr lang="cs-CZ" altLang="en-US" sz="2400" b="1" smtClean="0"/>
              <a:t>zde ozon vzniká působením UV záření</a:t>
            </a:r>
          </a:p>
          <a:p>
            <a:pPr eaLnBrk="1" hangingPunct="1">
              <a:buFontTx/>
              <a:buBlip>
                <a:blip r:embed="rId2"/>
              </a:buBlip>
            </a:pPr>
            <a:endParaRPr lang="cs-CZ" altLang="en-US" smtClean="0"/>
          </a:p>
          <a:p>
            <a:pPr eaLnBrk="1" hangingPunct="1">
              <a:buFontTx/>
              <a:buNone/>
            </a:pPr>
            <a:endParaRPr lang="cs-CZ" altLang="en-US" smtClean="0"/>
          </a:p>
          <a:p>
            <a:pPr eaLnBrk="1" hangingPunct="1">
              <a:buFontTx/>
              <a:buNone/>
            </a:pPr>
            <a:endParaRPr lang="cs-CZ" altLang="en-US"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0050"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pro život na Zemi je ozon významný </a:t>
            </a:r>
            <a:r>
              <a:rPr lang="cs-CZ" altLang="en-US" sz="2400" b="1" smtClean="0">
                <a:solidFill>
                  <a:srgbClr val="FF0000"/>
                </a:solidFill>
                <a:sym typeface="Wingdings 3" panose="05040102010807070707" pitchFamily="18" charset="2"/>
              </a:rPr>
              <a:t></a:t>
            </a:r>
            <a:r>
              <a:rPr lang="cs-CZ" altLang="en-US" sz="2400" b="1" smtClean="0"/>
              <a:t> neboť zachycuje velkou část ultrafialového záření (je nebezpečné pro zdraví člověka - způsobuje rakovinu kůže a poškození rohovky, ale i pro zelené rostliny - inhibuje fotosyntézu a způsobuje odumírání tkání</a:t>
            </a:r>
          </a:p>
          <a:p>
            <a:pPr eaLnBrk="1" hangingPunct="1">
              <a:buFontTx/>
              <a:buBlip>
                <a:blip r:embed="rId2"/>
              </a:buBlip>
            </a:pPr>
            <a:r>
              <a:rPr lang="cs-CZ" altLang="en-US" sz="2400" b="1" smtClean="0"/>
              <a:t>Zbylých asi 10 % ozonu se vyskytuje v nižších vrstvách atmosféry</a:t>
            </a:r>
          </a:p>
          <a:p>
            <a:pPr eaLnBrk="1" hangingPunct="1">
              <a:buFontTx/>
              <a:buBlip>
                <a:blip r:embed="rId2"/>
              </a:buBlip>
            </a:pPr>
            <a:r>
              <a:rPr lang="cs-CZ" altLang="en-US" sz="2400" b="1" smtClean="0"/>
              <a:t>v posledních letech se zvyšuje zejména obsah tzv. přízemního ozonu, což je způsobeno zejména znečištěním ovzduší uhlovodíky a oxidy dusíku, které mohou být díky fotochemickým reakcím příčinou vzniku ozonu</a:t>
            </a:r>
          </a:p>
          <a:p>
            <a:pPr eaLnBrk="1" hangingPunct="1">
              <a:buFontTx/>
              <a:buBlip>
                <a:blip r:embed="rId2"/>
              </a:buBlip>
            </a:pPr>
            <a:r>
              <a:rPr lang="cs-CZ" altLang="en-US" sz="2400" b="1" smtClean="0"/>
              <a:t>Ozon je škodlivý zejména tvorbou velmi reaktivních volných radikálů (částic s nepárovým elektronem)</a:t>
            </a:r>
          </a:p>
          <a:p>
            <a:pPr eaLnBrk="1" hangingPunct="1">
              <a:buFontTx/>
              <a:buBlip>
                <a:blip r:embed="rId2"/>
              </a:buBlip>
            </a:pPr>
            <a:r>
              <a:rPr lang="cs-CZ" altLang="en-US" sz="2400" b="1" smtClean="0"/>
              <a:t>VKR vznikají při interakci ozonu s thiolovými skupinami enzymů (způsobují oxidační stres v tkáních dýchací soustavy, jeho důsledkem je zvýšená propustnost membrán buněk epitelů) </a:t>
            </a:r>
          </a:p>
          <a:p>
            <a:pPr eaLnBrk="1" hangingPunct="1">
              <a:buFontTx/>
              <a:buNone/>
            </a:pPr>
            <a:endParaRPr lang="cs-CZ" altLang="en-US" sz="2400" b="1" smtClean="0"/>
          </a:p>
          <a:p>
            <a:pPr eaLnBrk="1" hangingPunct="1">
              <a:buFontTx/>
              <a:buBlip>
                <a:blip r:embed="rId2"/>
              </a:buBlip>
            </a:pPr>
            <a:endParaRPr lang="cs-CZ" altLang="en-US" sz="2400" b="1" smtClean="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1074"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Dráždí dýchací cesty a může vyvolat až plicní edém s fatálním průběhem</a:t>
            </a:r>
          </a:p>
          <a:p>
            <a:pPr eaLnBrk="1" hangingPunct="1">
              <a:buFontTx/>
              <a:buBlip>
                <a:blip r:embed="rId2"/>
              </a:buBlip>
            </a:pPr>
            <a:r>
              <a:rPr lang="cs-CZ" altLang="en-US" sz="2400" b="1" smtClean="0"/>
              <a:t>Cílovým místem působení je dýchací soustava (při chronické expozici ozonu vzniká zánět průdušek a zvyšuje citlivost plic vůči alergenům ) </a:t>
            </a:r>
          </a:p>
          <a:p>
            <a:pPr eaLnBrk="1" hangingPunct="1">
              <a:buFontTx/>
              <a:buBlip>
                <a:blip r:embed="rId2"/>
              </a:buBlip>
            </a:pPr>
            <a:r>
              <a:rPr lang="cs-CZ" altLang="en-US" sz="2400" b="1" smtClean="0"/>
              <a:t>Působí nepříznivě na centrální nervovou soustavu, což se projevuje podrážděností, bolestmi hlavy a únavou</a:t>
            </a:r>
          </a:p>
          <a:p>
            <a:pPr eaLnBrk="1" hangingPunct="1">
              <a:buFontTx/>
              <a:buBlip>
                <a:blip r:embed="rId2"/>
              </a:buBlip>
            </a:pPr>
            <a:r>
              <a:rPr lang="cs-CZ" altLang="en-US" sz="2400" b="1" smtClean="0"/>
              <a:t>Nejvyšší přípustnou koncentrací ozonu je 100 až 120 µg/m</a:t>
            </a:r>
            <a:r>
              <a:rPr lang="cs-CZ" altLang="en-US" sz="2400" b="1" baseline="30000" smtClean="0"/>
              <a:t>3</a:t>
            </a:r>
            <a:r>
              <a:rPr lang="cs-CZ" altLang="en-US" smtClean="0"/>
              <a:t> </a:t>
            </a:r>
          </a:p>
          <a:p>
            <a:pPr eaLnBrk="1" hangingPunct="1">
              <a:buFontTx/>
              <a:buBlip>
                <a:blip r:embed="rId2"/>
              </a:buBlip>
            </a:pPr>
            <a:endParaRPr lang="cs-CZ" altLang="en-US" smtClean="0"/>
          </a:p>
          <a:p>
            <a:pPr eaLnBrk="1" hangingPunct="1">
              <a:buFontTx/>
              <a:buNone/>
            </a:pPr>
            <a:r>
              <a:rPr lang="cs-CZ" altLang="en-US" sz="2800" b="1" smtClean="0">
                <a:solidFill>
                  <a:schemeClr val="tx2"/>
                </a:solidFill>
              </a:rPr>
              <a:t>Síra S</a:t>
            </a:r>
          </a:p>
          <a:p>
            <a:pPr eaLnBrk="1" hangingPunct="1">
              <a:buFontTx/>
              <a:buBlip>
                <a:blip r:embed="rId2"/>
              </a:buBlip>
            </a:pPr>
            <a:r>
              <a:rPr lang="cs-CZ" altLang="en-US" sz="2400" b="1" smtClean="0"/>
              <a:t>Síra je nejedovatá, avšak tvoří řadu toxických sloučenin (H</a:t>
            </a:r>
            <a:r>
              <a:rPr lang="cs-CZ" altLang="en-US" sz="2400" b="1" baseline="-25000" smtClean="0"/>
              <a:t>2</a:t>
            </a:r>
            <a:r>
              <a:rPr lang="cs-CZ" altLang="en-US" sz="2400" b="1" smtClean="0"/>
              <a:t>S, SO</a:t>
            </a:r>
            <a:r>
              <a:rPr lang="cs-CZ" altLang="en-US" sz="2400" b="1" baseline="-25000" smtClean="0"/>
              <a:t>2</a:t>
            </a:r>
            <a:r>
              <a:rPr lang="cs-CZ" altLang="en-US" sz="2400" b="1" smtClean="0"/>
              <a:t>, SO</a:t>
            </a:r>
            <a:r>
              <a:rPr lang="cs-CZ" altLang="en-US" sz="2400" b="1" baseline="-25000" smtClean="0"/>
              <a:t>3</a:t>
            </a:r>
            <a:r>
              <a:rPr lang="cs-CZ" altLang="en-US" sz="2400" b="1" smtClean="0"/>
              <a:t>, organosulfáty)</a:t>
            </a:r>
            <a:r>
              <a:rPr lang="cs-CZ" altLang="en-US" sz="2400" smtClean="0"/>
              <a:t> </a:t>
            </a:r>
            <a:endParaRPr lang="cs-CZ" altLang="en-US" sz="2400" b="1" smtClean="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2098"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rgbClr val="FF0000"/>
                </a:solidFill>
                <a:sym typeface="Wingdings" panose="05000000000000000000" pitchFamily="2" charset="2"/>
              </a:rPr>
              <a:t></a:t>
            </a:r>
            <a:r>
              <a:rPr lang="cs-CZ" altLang="en-US" sz="2800" b="1" smtClean="0">
                <a:solidFill>
                  <a:schemeClr val="tx2"/>
                </a:solidFill>
              </a:rPr>
              <a:t> Sulfan H</a:t>
            </a:r>
            <a:r>
              <a:rPr lang="cs-CZ" altLang="en-US" sz="2800" b="1" baseline="-25000" smtClean="0">
                <a:solidFill>
                  <a:schemeClr val="tx2"/>
                </a:solidFill>
              </a:rPr>
              <a:t>2</a:t>
            </a:r>
            <a:r>
              <a:rPr lang="cs-CZ" altLang="en-US" sz="2800" b="1" smtClean="0">
                <a:solidFill>
                  <a:schemeClr val="tx2"/>
                </a:solidFill>
              </a:rPr>
              <a:t>S </a:t>
            </a:r>
            <a:r>
              <a:rPr lang="cs-CZ" altLang="en-US" sz="2800" b="1" smtClean="0">
                <a:solidFill>
                  <a:srgbClr val="FF0000"/>
                </a:solidFill>
                <a:sym typeface="Wingdings" panose="05000000000000000000" pitchFamily="2" charset="2"/>
              </a:rPr>
              <a:t></a:t>
            </a:r>
            <a:endParaRPr lang="cs-CZ" altLang="en-US" sz="2800" b="1" smtClean="0">
              <a:solidFill>
                <a:schemeClr val="tx2"/>
              </a:solidFill>
            </a:endParaRPr>
          </a:p>
          <a:p>
            <a:pPr eaLnBrk="1" hangingPunct="1">
              <a:buFontTx/>
              <a:buBlip>
                <a:blip r:embed="rId2"/>
              </a:buBlip>
            </a:pPr>
            <a:r>
              <a:rPr lang="cs-CZ" altLang="en-US" sz="2400" b="1" smtClean="0"/>
              <a:t>Sulfan (sirovodík) je bezbarvý plyn, těžší než vzduch, hromadí se v nejnižších částech místnosti</a:t>
            </a:r>
          </a:p>
          <a:p>
            <a:pPr eaLnBrk="1" hangingPunct="1">
              <a:buFontTx/>
              <a:buBlip>
                <a:blip r:embed="rId2"/>
              </a:buBlip>
            </a:pPr>
            <a:r>
              <a:rPr lang="cs-CZ" altLang="en-US" sz="2400" b="1" smtClean="0"/>
              <a:t>v nižších koncentracích páchne charakteristicky po zkažených vejcích</a:t>
            </a:r>
          </a:p>
          <a:p>
            <a:pPr eaLnBrk="1" hangingPunct="1">
              <a:buFontTx/>
              <a:buBlip>
                <a:blip r:embed="rId2"/>
              </a:buBlip>
            </a:pPr>
            <a:r>
              <a:rPr lang="cs-CZ" altLang="en-US" sz="2400" b="1" smtClean="0"/>
              <a:t>ve vyšších koncentracích není čichem postřehnutelný, neboť ochrnuje zakončení čichového nervu, takže jej exponovaná osoba přestává vnímat</a:t>
            </a:r>
          </a:p>
          <a:p>
            <a:pPr eaLnBrk="1" hangingPunct="1">
              <a:buFontTx/>
              <a:buBlip>
                <a:blip r:embed="rId2"/>
              </a:buBlip>
            </a:pPr>
            <a:r>
              <a:rPr lang="cs-CZ" altLang="en-US" sz="2400" b="1" smtClean="0"/>
              <a:t>vzniká při hnití organických látek, obsahujících bílkoviny (vzniká odbouráváním cysteinu např. vejce) </a:t>
            </a:r>
          </a:p>
          <a:p>
            <a:pPr eaLnBrk="1" hangingPunct="1">
              <a:buFontTx/>
              <a:buBlip>
                <a:blip r:embed="rId2"/>
              </a:buBlip>
            </a:pPr>
            <a:r>
              <a:rPr lang="cs-CZ" altLang="en-US" sz="2400" b="1" smtClean="0"/>
              <a:t>Hromadí se především v odpadních jámách a kanálech</a:t>
            </a:r>
          </a:p>
          <a:p>
            <a:pPr eaLnBrk="1" hangingPunct="1">
              <a:buFontTx/>
              <a:buBlip>
                <a:blip r:embed="rId2"/>
              </a:buBlip>
            </a:pPr>
            <a:r>
              <a:rPr lang="cs-CZ" altLang="en-US" sz="2400" b="1" smtClean="0"/>
              <a:t>v laboratoři vzniká při rozkladu sulfidů kyselinami</a:t>
            </a:r>
          </a:p>
          <a:p>
            <a:pPr eaLnBrk="1" hangingPunct="1">
              <a:buFontTx/>
              <a:buBlip>
                <a:blip r:embed="rId2"/>
              </a:buBlip>
            </a:pPr>
            <a:r>
              <a:rPr lang="cs-CZ" altLang="en-US" sz="2400" b="1" smtClean="0"/>
              <a:t>je vysoce toxický, akutní toxicitou je srovnatelný s kyanovodíkem</a:t>
            </a:r>
          </a:p>
          <a:p>
            <a:pPr eaLnBrk="1" hangingPunct="1">
              <a:buFontTx/>
              <a:buBlip>
                <a:blip r:embed="rId2"/>
              </a:buBlip>
            </a:pPr>
            <a:r>
              <a:rPr lang="cs-CZ" altLang="en-US" sz="2400" b="1" smtClean="0"/>
              <a:t>Příznaky otravy jsou podobné jako při otravě kyanidy</a:t>
            </a:r>
            <a:r>
              <a:rPr lang="cs-CZ" altLang="en-US" sz="2400" smtClean="0"/>
              <a:t> </a:t>
            </a:r>
            <a:r>
              <a:rPr lang="cs-CZ" altLang="en-US" sz="2400" b="1" smtClean="0"/>
              <a:t>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22"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Sulfan se dobře vstřebává plícemi</a:t>
            </a:r>
          </a:p>
          <a:p>
            <a:pPr eaLnBrk="1" hangingPunct="1">
              <a:buFontTx/>
              <a:buBlip>
                <a:blip r:embed="rId2"/>
              </a:buBlip>
            </a:pPr>
            <a:r>
              <a:rPr lang="cs-CZ" altLang="en-US" sz="2400" b="1" smtClean="0"/>
              <a:t>toxické účinky jsou založeny na poškození buněčného metabolismu s následným nedostatkem kyslíku</a:t>
            </a:r>
          </a:p>
          <a:p>
            <a:pPr eaLnBrk="1" hangingPunct="1">
              <a:buFontTx/>
              <a:buBlip>
                <a:blip r:embed="rId2"/>
              </a:buBlip>
            </a:pPr>
            <a:r>
              <a:rPr lang="cs-CZ" altLang="en-US" sz="2400" b="1" smtClean="0"/>
              <a:t>nejvíce postižena je nervová soustava, dostavují se bolesti hlavy a únava </a:t>
            </a:r>
          </a:p>
          <a:p>
            <a:pPr eaLnBrk="1" hangingPunct="1">
              <a:buFontTx/>
              <a:buBlip>
                <a:blip r:embed="rId2"/>
              </a:buBlip>
            </a:pPr>
            <a:r>
              <a:rPr lang="cs-CZ" altLang="en-US" sz="2400" b="1" smtClean="0"/>
              <a:t>sulfan působí lokálně dráždivé, dráždí zejména dýchací cesty a oči (chronický kontakt se sulfanem způsobuje poškození rohovky</a:t>
            </a:r>
            <a:r>
              <a:rPr lang="cs-CZ" altLang="en-US" sz="2800" b="1" smtClean="0"/>
              <a:t>)</a:t>
            </a:r>
            <a:endParaRPr lang="cs-CZ" altLang="en-US" sz="2400" b="1" smtClean="0"/>
          </a:p>
          <a:p>
            <a:pPr eaLnBrk="1" hangingPunct="1">
              <a:buFontTx/>
              <a:buBlip>
                <a:blip r:embed="rId2"/>
              </a:buBlip>
            </a:pPr>
            <a:r>
              <a:rPr lang="cs-CZ" altLang="en-US" sz="2400" b="1" smtClean="0"/>
              <a:t>nižší koncentrace působí křeče a bezvědomí, vzniká edém plic</a:t>
            </a:r>
          </a:p>
          <a:p>
            <a:pPr eaLnBrk="1" hangingPunct="1">
              <a:buFontTx/>
              <a:buBlip>
                <a:blip r:embed="rId2"/>
              </a:buBlip>
            </a:pPr>
            <a:r>
              <a:rPr lang="cs-CZ" altLang="en-US" sz="2400" b="1" smtClean="0"/>
              <a:t>při vyšších koncentracích sulfanu nastává bezvědomí okamžitě již po několika vdechnutích</a:t>
            </a:r>
          </a:p>
          <a:p>
            <a:pPr eaLnBrk="1" hangingPunct="1">
              <a:buFontTx/>
              <a:buBlip>
                <a:blip r:embed="rId2"/>
              </a:buBlip>
            </a:pPr>
            <a:r>
              <a:rPr lang="cs-CZ" altLang="en-US" sz="2400" b="1" smtClean="0"/>
              <a:t>smrt nastává rychle v důsledku ochrnutí dýchacího centra</a:t>
            </a:r>
          </a:p>
          <a:p>
            <a:pPr eaLnBrk="1" hangingPunct="1">
              <a:buFontTx/>
              <a:buBlip>
                <a:blip r:embed="rId2"/>
              </a:buBlip>
            </a:pPr>
            <a:r>
              <a:rPr lang="cs-CZ" altLang="en-US" sz="2400" b="1" smtClean="0"/>
              <a:t>Při akutní otravě sulfanem je zejména třeba udržet dýchání</a:t>
            </a:r>
          </a:p>
          <a:p>
            <a:pPr eaLnBrk="1" hangingPunct="1">
              <a:buFontTx/>
              <a:buBlip>
                <a:blip r:embed="rId2"/>
              </a:buBlip>
            </a:pPr>
            <a:r>
              <a:rPr lang="cs-CZ" altLang="en-US" sz="2400" b="1" smtClean="0"/>
              <a:t>jako antidotum se podávají dusitany (podobně jako při otravě kyanidy) </a:t>
            </a:r>
          </a:p>
          <a:p>
            <a:pPr eaLnBrk="1" hangingPunct="1">
              <a:buFontTx/>
              <a:buBlip>
                <a:blip r:embed="rId2"/>
              </a:buBlip>
            </a:pPr>
            <a:endParaRPr lang="cs-CZ" altLang="en-US" sz="2400" b="1" smtClean="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4146"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Oxid siřičitý SO</a:t>
            </a:r>
            <a:r>
              <a:rPr lang="cs-CZ" altLang="en-US" sz="2800" b="1" baseline="-25000" smtClean="0">
                <a:solidFill>
                  <a:schemeClr val="tx2"/>
                </a:solidFill>
              </a:rPr>
              <a:t>2</a:t>
            </a:r>
          </a:p>
          <a:p>
            <a:pPr eaLnBrk="1" hangingPunct="1">
              <a:buFontTx/>
              <a:buBlip>
                <a:blip r:embed="rId2"/>
              </a:buBlip>
            </a:pPr>
            <a:r>
              <a:rPr lang="cs-CZ" altLang="en-US" sz="2400" b="1" smtClean="0"/>
              <a:t>Oxid siřičitý je dráždivý plyn, který se dostává do vzduchu zejména při spalování méně kvalitního uhlí</a:t>
            </a:r>
          </a:p>
          <a:p>
            <a:pPr eaLnBrk="1" hangingPunct="1">
              <a:buFontTx/>
              <a:buBlip>
                <a:blip r:embed="rId2"/>
              </a:buBlip>
            </a:pPr>
            <a:r>
              <a:rPr lang="cs-CZ" altLang="en-US" sz="2400" b="1" smtClean="0"/>
              <a:t>působí dráždivě zejména na horní cesty dýchací, dostavuje se kašel, v těžších případech může vzniknout až edém plic</a:t>
            </a:r>
          </a:p>
          <a:p>
            <a:pPr eaLnBrk="1" hangingPunct="1">
              <a:buFontTx/>
              <a:buBlip>
                <a:blip r:embed="rId2"/>
              </a:buBlip>
            </a:pPr>
            <a:r>
              <a:rPr lang="cs-CZ" altLang="en-US" sz="2400" b="1" smtClean="0"/>
              <a:t>menší koncentrace vyvolávají záněty průdušek a astma</a:t>
            </a:r>
          </a:p>
          <a:p>
            <a:pPr eaLnBrk="1" hangingPunct="1">
              <a:buFontTx/>
              <a:buBlip>
                <a:blip r:embed="rId2"/>
              </a:buBlip>
            </a:pPr>
            <a:r>
              <a:rPr lang="cs-CZ" altLang="en-US" sz="2400" b="1" smtClean="0"/>
              <a:t>chronická expozice oxidu siřičitému negativně ovlivňuje krvetvorbu, způsobuje rozedmu plic, poškozuje srdeční sval, negativně působí na menstruační cyklus</a:t>
            </a:r>
          </a:p>
          <a:p>
            <a:pPr eaLnBrk="1" hangingPunct="1">
              <a:buFontTx/>
              <a:buBlip>
                <a:blip r:embed="rId2"/>
              </a:buBlip>
            </a:pPr>
            <a:r>
              <a:rPr lang="cs-CZ" altLang="en-US" sz="2400" b="1" smtClean="0"/>
              <a:t>značně toxický je oxid siřičitý pro rostliny, neboť reaguje s chlorofylem a narušuje tak fotosyntézu</a:t>
            </a:r>
          </a:p>
          <a:p>
            <a:pPr eaLnBrk="1" hangingPunct="1">
              <a:buFontTx/>
              <a:buBlip>
                <a:blip r:embed="rId2"/>
              </a:buBlip>
            </a:pPr>
            <a:r>
              <a:rPr lang="cs-CZ" altLang="en-US" sz="2400" b="1" smtClean="0"/>
              <a:t>nejvyšší přípustné koncentrace oxidu siřičitého ve vzduchu v průběhu 24 hodin jsou 0,15 µg/m</a:t>
            </a:r>
            <a:r>
              <a:rPr lang="cs-CZ" altLang="en-US" sz="2400" b="1" baseline="30000" smtClean="0"/>
              <a:t>3</a:t>
            </a:r>
            <a:r>
              <a:rPr lang="cs-CZ" altLang="en-US" sz="2400" b="1" smtClean="0"/>
              <a:t> a krátkodobě 0,5 µg/m</a:t>
            </a:r>
            <a:r>
              <a:rPr lang="cs-CZ" altLang="en-US" sz="2400" b="1" baseline="30000" smtClean="0"/>
              <a:t>3</a:t>
            </a:r>
            <a:r>
              <a:rPr lang="cs-CZ" altLang="en-US" sz="2400" b="1" smtClean="0"/>
              <a:t>  </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5170"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Oxid sírový SO</a:t>
            </a:r>
            <a:r>
              <a:rPr lang="cs-CZ" altLang="en-US" sz="2800" b="1" baseline="-25000" smtClean="0">
                <a:solidFill>
                  <a:schemeClr val="tx2"/>
                </a:solidFill>
              </a:rPr>
              <a:t>3</a:t>
            </a:r>
            <a:r>
              <a:rPr lang="cs-CZ" altLang="en-US" smtClean="0"/>
              <a:t> </a:t>
            </a:r>
          </a:p>
          <a:p>
            <a:pPr eaLnBrk="1" hangingPunct="1">
              <a:buFontTx/>
              <a:buBlip>
                <a:blip r:embed="rId2"/>
              </a:buBlip>
            </a:pPr>
            <a:r>
              <a:rPr lang="cs-CZ" altLang="en-US" sz="2400" b="1" smtClean="0"/>
              <a:t>Oxid sírový má silnější dráždivé účinky než oxid siřičitý</a:t>
            </a:r>
          </a:p>
          <a:p>
            <a:pPr eaLnBrk="1" hangingPunct="1">
              <a:buFontTx/>
              <a:buBlip>
                <a:blip r:embed="rId2"/>
              </a:buBlip>
            </a:pPr>
            <a:r>
              <a:rPr lang="cs-CZ" altLang="en-US" sz="2400" b="1" smtClean="0"/>
              <a:t>vzniká i v atmosféře oxidací oxidu siřičitého za spoluúčastí pevných částic</a:t>
            </a:r>
          </a:p>
          <a:p>
            <a:pPr eaLnBrk="1" hangingPunct="1">
              <a:buFontTx/>
              <a:buBlip>
                <a:blip r:embed="rId2"/>
              </a:buBlip>
            </a:pPr>
            <a:r>
              <a:rPr lang="cs-CZ" altLang="en-US" sz="2400" b="1" smtClean="0"/>
              <a:t>ve vlhkém vzduchu tvoří mlhu kyseliny sírové, která leptá dýchací cesty</a:t>
            </a:r>
          </a:p>
          <a:p>
            <a:pPr eaLnBrk="1" hangingPunct="1">
              <a:buFontTx/>
              <a:buBlip>
                <a:blip r:embed="rId2"/>
              </a:buBlip>
            </a:pPr>
            <a:endParaRPr lang="cs-CZ" altLang="en-US" smtClean="0"/>
          </a:p>
          <a:p>
            <a:pPr eaLnBrk="1" hangingPunct="1">
              <a:buFontTx/>
              <a:buNone/>
            </a:pPr>
            <a:r>
              <a:rPr lang="cs-CZ" altLang="en-US" sz="2800" b="1" smtClean="0">
                <a:solidFill>
                  <a:schemeClr val="tx2"/>
                </a:solidFill>
              </a:rPr>
              <a:t>Organosulfáty</a:t>
            </a:r>
          </a:p>
          <a:p>
            <a:pPr eaLnBrk="1" hangingPunct="1">
              <a:buFontTx/>
              <a:buBlip>
                <a:blip r:embed="rId2"/>
              </a:buBlip>
            </a:pPr>
            <a:r>
              <a:rPr lang="cs-CZ" altLang="en-US" sz="2400" b="1" smtClean="0"/>
              <a:t>Organické estery kyseliny sírové patří jsou prudce jedovaté</a:t>
            </a:r>
          </a:p>
          <a:p>
            <a:pPr eaLnBrk="1" hangingPunct="1">
              <a:buFontTx/>
              <a:buBlip>
                <a:blip r:embed="rId2"/>
              </a:buBlip>
            </a:pPr>
            <a:r>
              <a:rPr lang="cs-CZ" altLang="en-US" sz="2400" b="1" smtClean="0"/>
              <a:t>jejich vdechování způsobuje edém plic</a:t>
            </a:r>
          </a:p>
          <a:p>
            <a:pPr eaLnBrk="1" hangingPunct="1">
              <a:buFontTx/>
              <a:buBlip>
                <a:blip r:embed="rId2"/>
              </a:buBlip>
            </a:pPr>
            <a:r>
              <a:rPr lang="cs-CZ" altLang="en-US" sz="2400" b="1" smtClean="0"/>
              <a:t>potřísněním pokožky vznikají dlouho a těžce se hojící vředy</a:t>
            </a:r>
          </a:p>
          <a:p>
            <a:pPr eaLnBrk="1" hangingPunct="1">
              <a:buFontTx/>
              <a:buBlip>
                <a:blip r:embed="rId2"/>
              </a:buBlip>
            </a:pPr>
            <a:r>
              <a:rPr lang="cs-CZ" altLang="en-US" sz="2400" b="1" smtClean="0"/>
              <a:t>mají též mutagenní a karcinogenní účinky</a:t>
            </a:r>
          </a:p>
          <a:p>
            <a:pPr eaLnBrk="1" hangingPunct="1">
              <a:buFontTx/>
              <a:buBlip>
                <a:blip r:embed="rId2"/>
              </a:buBlip>
            </a:pPr>
            <a:r>
              <a:rPr lang="cs-CZ" altLang="en-US" sz="2400" b="1" smtClean="0"/>
              <a:t>snadno se likvidují reakcí se čpavkem</a:t>
            </a:r>
          </a:p>
          <a:p>
            <a:pPr eaLnBrk="1" hangingPunct="1">
              <a:buFontTx/>
              <a:buNone/>
            </a:pPr>
            <a:endParaRPr lang="cs-CZ" altLang="en-US" sz="2800" smtClean="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6194"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při každé práci s organosulfáty by měla poblíž stát otevřená mísa se čpavkem, jehož páry reagují s parami esterů a fakt, že cítíme čpavek, je pro nás ujištěním, že nevdechujeme páry esterů kyseliny sírové</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7218" name="Rectangle 3"/>
          <p:cNvSpPr>
            <a:spLocks noGrp="1" noChangeArrowheads="1"/>
          </p:cNvSpPr>
          <p:nvPr>
            <p:ph idx="1"/>
          </p:nvPr>
        </p:nvSpPr>
        <p:spPr>
          <a:xfrm>
            <a:off x="0" y="0"/>
            <a:ext cx="9144000" cy="6858000"/>
          </a:xfrm>
        </p:spPr>
        <p:txBody>
          <a:bodyPr/>
          <a:lstStyle/>
          <a:p>
            <a:pPr eaLnBrk="1" hangingPunct="1">
              <a:buFontTx/>
              <a:buBlip>
                <a:blip r:embed="rId2"/>
              </a:buBlip>
            </a:pPr>
            <a:r>
              <a:rPr lang="cs-CZ" altLang="en-US" b="1" smtClean="0">
                <a:solidFill>
                  <a:srgbClr val="FF0000"/>
                </a:solidFill>
              </a:rPr>
              <a:t>Piktogramy chemických látek</a:t>
            </a:r>
          </a:p>
        </p:txBody>
      </p:sp>
      <p:pic>
        <p:nvPicPr>
          <p:cNvPr id="13721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125538"/>
            <a:ext cx="1524000"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1050" y="1125538"/>
            <a:ext cx="142875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1"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35375" y="1125538"/>
            <a:ext cx="1428750" cy="188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2"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1125538"/>
            <a:ext cx="1476375"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3"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4025" y="1125538"/>
            <a:ext cx="1638300" cy="197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4" name="Picture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3850" y="4221163"/>
            <a:ext cx="1600200" cy="190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5" name="Picture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68538" y="4221163"/>
            <a:ext cx="153352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6" name="Picture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24300" y="4221163"/>
            <a:ext cx="1557338" cy="1952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7" name="Picture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1500" y="4221163"/>
            <a:ext cx="162877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28"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451725" y="4221163"/>
            <a:ext cx="1514475" cy="194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8242" name="Rectangle 3"/>
          <p:cNvSpPr>
            <a:spLocks noGrp="1" noChangeArrowheads="1"/>
          </p:cNvSpPr>
          <p:nvPr>
            <p:ph idx="1"/>
          </p:nvPr>
        </p:nvSpPr>
        <p:spPr>
          <a:xfrm>
            <a:off x="0" y="188913"/>
            <a:ext cx="9144000" cy="6669087"/>
          </a:xfrm>
        </p:spPr>
        <p:txBody>
          <a:bodyPr/>
          <a:lstStyle/>
          <a:p>
            <a:pPr eaLnBrk="1" hangingPunct="1">
              <a:buFontTx/>
              <a:buNone/>
            </a:pPr>
            <a:r>
              <a:rPr lang="cs-CZ" altLang="en-US" sz="2800" b="1" smtClean="0">
                <a:solidFill>
                  <a:schemeClr val="tx2"/>
                </a:solidFill>
              </a:rPr>
              <a:t>Rtuť Hg</a:t>
            </a:r>
          </a:p>
          <a:p>
            <a:pPr eaLnBrk="1" hangingPunct="1">
              <a:buFontTx/>
              <a:buBlip>
                <a:blip r:embed="rId2"/>
              </a:buBlip>
            </a:pPr>
            <a:r>
              <a:rPr lang="cs-CZ" altLang="en-US" sz="2400" b="1" smtClean="0"/>
              <a:t>jediný kov, který je při normální teplotě kapalný; </a:t>
            </a:r>
          </a:p>
          <a:p>
            <a:pPr eaLnBrk="1" hangingPunct="1">
              <a:buFontTx/>
              <a:buBlip>
                <a:blip r:embed="rId2"/>
              </a:buBlip>
            </a:pPr>
            <a:r>
              <a:rPr lang="cs-CZ" altLang="en-US" sz="2400" b="1" smtClean="0"/>
              <a:t>velmi stálý, vzdušným kyslíkem se neoxiduje; </a:t>
            </a:r>
          </a:p>
          <a:p>
            <a:pPr eaLnBrk="1" hangingPunct="1">
              <a:buFontTx/>
              <a:buBlip>
                <a:blip r:embed="rId2"/>
              </a:buBlip>
            </a:pPr>
            <a:r>
              <a:rPr lang="cs-CZ" altLang="en-US" sz="2400" b="1" smtClean="0"/>
              <a:t>rozpouští se v koncentrované H</a:t>
            </a:r>
            <a:r>
              <a:rPr lang="cs-CZ" altLang="en-US" sz="2400" b="1" baseline="-25000" smtClean="0"/>
              <a:t>2</a:t>
            </a:r>
            <a:r>
              <a:rPr lang="cs-CZ" altLang="en-US" sz="2400" b="1" smtClean="0"/>
              <a:t>SO</a:t>
            </a:r>
            <a:r>
              <a:rPr lang="cs-CZ" altLang="en-US" sz="2400" b="1" baseline="-25000" smtClean="0"/>
              <a:t>4</a:t>
            </a:r>
            <a:r>
              <a:rPr lang="cs-CZ" altLang="en-US" sz="2400" b="1" smtClean="0"/>
              <a:t> i HNO</a:t>
            </a:r>
            <a:r>
              <a:rPr lang="cs-CZ" altLang="en-US" sz="2400" b="1" baseline="-25000" smtClean="0"/>
              <a:t>3</a:t>
            </a:r>
            <a:r>
              <a:rPr lang="cs-CZ" altLang="en-US" sz="2400" b="1" smtClean="0"/>
              <a:t>:</a:t>
            </a:r>
            <a:br>
              <a:rPr lang="cs-CZ" altLang="en-US" sz="2400" b="1" smtClean="0"/>
            </a:br>
            <a:r>
              <a:rPr lang="cs-CZ" altLang="en-US" sz="2400" b="1" smtClean="0"/>
              <a:t>Hg + 2 H</a:t>
            </a:r>
            <a:r>
              <a:rPr lang="cs-CZ" altLang="en-US" sz="2400" b="1" baseline="-25000" smtClean="0"/>
              <a:t>2</a:t>
            </a:r>
            <a:r>
              <a:rPr lang="cs-CZ" altLang="en-US" sz="2400" b="1" smtClean="0"/>
              <a:t>SO</a:t>
            </a:r>
            <a:r>
              <a:rPr lang="cs-CZ" altLang="en-US" sz="2400" b="1" baseline="-25000" smtClean="0"/>
              <a:t>4</a:t>
            </a:r>
            <a:r>
              <a:rPr lang="cs-CZ" altLang="en-US" sz="2400" b="1" smtClean="0"/>
              <a:t>   HgSO</a:t>
            </a:r>
            <a:r>
              <a:rPr lang="cs-CZ" altLang="en-US" sz="2400" b="1" baseline="-25000" smtClean="0"/>
              <a:t>4</a:t>
            </a:r>
            <a:r>
              <a:rPr lang="cs-CZ" altLang="en-US" sz="2400" b="1" smtClean="0"/>
              <a:t> + SO</a:t>
            </a:r>
            <a:r>
              <a:rPr lang="cs-CZ" altLang="en-US" sz="2400" b="1" baseline="-25000" smtClean="0"/>
              <a:t>2</a:t>
            </a:r>
            <a:r>
              <a:rPr lang="cs-CZ" altLang="en-US" sz="2400" b="1" smtClean="0"/>
              <a:t> + 2 H</a:t>
            </a:r>
            <a:r>
              <a:rPr lang="cs-CZ" altLang="en-US" sz="2400" b="1" baseline="-25000" smtClean="0"/>
              <a:t>2</a:t>
            </a:r>
            <a:r>
              <a:rPr lang="cs-CZ" altLang="en-US" sz="2400" b="1" smtClean="0"/>
              <a:t>O</a:t>
            </a:r>
            <a:br>
              <a:rPr lang="cs-CZ" altLang="en-US" sz="2400" b="1" smtClean="0"/>
            </a:br>
            <a:r>
              <a:rPr lang="cs-CZ" altLang="en-US" sz="2400" b="1" smtClean="0"/>
              <a:t>Hg + 4 HNO</a:t>
            </a:r>
            <a:r>
              <a:rPr lang="cs-CZ" altLang="en-US" sz="2400" b="1" baseline="-25000" smtClean="0"/>
              <a:t>3</a:t>
            </a:r>
            <a:r>
              <a:rPr lang="cs-CZ" altLang="en-US" sz="2400" b="1" smtClean="0"/>
              <a:t>   Hg(NO</a:t>
            </a:r>
            <a:r>
              <a:rPr lang="cs-CZ" altLang="en-US" sz="2400" b="1" baseline="-25000" smtClean="0"/>
              <a:t>3</a:t>
            </a:r>
            <a:r>
              <a:rPr lang="cs-CZ" altLang="en-US" sz="2400" b="1" smtClean="0"/>
              <a:t>)</a:t>
            </a:r>
            <a:r>
              <a:rPr lang="cs-CZ" altLang="en-US" sz="2400" b="1" baseline="-25000" smtClean="0"/>
              <a:t>2</a:t>
            </a:r>
            <a:r>
              <a:rPr lang="cs-CZ" altLang="en-US" sz="2400" b="1" smtClean="0"/>
              <a:t> + 2 NO</a:t>
            </a:r>
            <a:r>
              <a:rPr lang="cs-CZ" altLang="en-US" sz="2400" b="1" baseline="-25000" smtClean="0"/>
              <a:t>2</a:t>
            </a:r>
            <a:r>
              <a:rPr lang="cs-CZ" altLang="en-US" sz="2400" b="1" smtClean="0"/>
              <a:t> + 2 H</a:t>
            </a:r>
            <a:r>
              <a:rPr lang="cs-CZ" altLang="en-US" sz="2400" b="1" baseline="-25000" smtClean="0"/>
              <a:t>2</a:t>
            </a:r>
            <a:r>
              <a:rPr lang="cs-CZ" altLang="en-US" sz="2400" b="1" smtClean="0"/>
              <a:t>O </a:t>
            </a:r>
          </a:p>
          <a:p>
            <a:pPr eaLnBrk="1" hangingPunct="1">
              <a:buFontTx/>
              <a:buBlip>
                <a:blip r:embed="rId2"/>
              </a:buBlip>
            </a:pPr>
            <a:r>
              <a:rPr lang="cs-CZ" altLang="en-US" sz="2400" b="1" smtClean="0"/>
              <a:t>s halogeny a sírou se slučuje při normální teplotě; </a:t>
            </a:r>
          </a:p>
          <a:p>
            <a:pPr eaLnBrk="1" hangingPunct="1">
              <a:buFontTx/>
              <a:buBlip>
                <a:blip r:embed="rId2"/>
              </a:buBlip>
            </a:pPr>
            <a:r>
              <a:rPr lang="cs-CZ" altLang="en-US" sz="2400" b="1" smtClean="0">
                <a:solidFill>
                  <a:schemeClr val="tx2"/>
                </a:solidFill>
              </a:rPr>
              <a:t>snadno se slévá</a:t>
            </a:r>
            <a:r>
              <a:rPr lang="cs-CZ" altLang="en-US" sz="2400" b="1" smtClean="0"/>
              <a:t> s celou řadou kovů na slitiny zvané </a:t>
            </a:r>
            <a:r>
              <a:rPr lang="cs-CZ" altLang="en-US" sz="2400" b="1" smtClean="0">
                <a:solidFill>
                  <a:schemeClr val="tx2"/>
                </a:solidFill>
              </a:rPr>
              <a:t>amalgámy</a:t>
            </a:r>
          </a:p>
          <a:p>
            <a:pPr eaLnBrk="1" hangingPunct="1">
              <a:buFontTx/>
              <a:buBlip>
                <a:blip r:embed="rId2"/>
              </a:buBlip>
            </a:pPr>
            <a:r>
              <a:rPr lang="cs-CZ" altLang="en-US" sz="2400" b="1" smtClean="0">
                <a:solidFill>
                  <a:srgbClr val="FF0000"/>
                </a:solidFill>
              </a:rPr>
              <a:t>Všechny soli rtuti jsou toxické</a:t>
            </a:r>
            <a:r>
              <a:rPr lang="cs-CZ" altLang="en-US" sz="2400" b="1" smtClean="0"/>
              <a:t> </a:t>
            </a:r>
            <a:r>
              <a:rPr lang="cs-CZ" altLang="en-US" sz="2400" b="1" smtClean="0">
                <a:sym typeface="Wingdings 3" panose="05040102010807070707" pitchFamily="18" charset="2"/>
              </a:rPr>
              <a:t> závisí na rozpustnosti</a:t>
            </a:r>
          </a:p>
          <a:p>
            <a:pPr eaLnBrk="1" hangingPunct="1">
              <a:buFontTx/>
              <a:buBlip>
                <a:blip r:embed="rId2"/>
              </a:buBlip>
            </a:pPr>
            <a:r>
              <a:rPr lang="cs-CZ" altLang="en-US" sz="2400" b="1" smtClean="0"/>
              <a:t>je kumulativním jedem </a:t>
            </a:r>
            <a:r>
              <a:rPr lang="cs-CZ" altLang="en-US" sz="2400" b="1" smtClean="0">
                <a:solidFill>
                  <a:srgbClr val="FF0000"/>
                </a:solidFill>
                <a:sym typeface="Wingdings 3" panose="05040102010807070707" pitchFamily="18" charset="2"/>
              </a:rPr>
              <a:t></a:t>
            </a:r>
            <a:r>
              <a:rPr lang="cs-CZ" altLang="en-US" sz="2400" b="1" smtClean="0">
                <a:sym typeface="Wingdings 3" panose="05040102010807070707" pitchFamily="18" charset="2"/>
              </a:rPr>
              <a:t> </a:t>
            </a:r>
            <a:r>
              <a:rPr lang="cs-CZ" altLang="en-US" sz="2400" b="1" smtClean="0"/>
              <a:t>z organismu se vylučuje jen velmi pozvolna a obtížně, koncentruje se především v ledvinách (jsou nejvíce ohroženy), v menší míře i v játrech a slezině (rtuť může v ledvinách setrvat až desítky let)</a:t>
            </a:r>
            <a:endParaRPr lang="cs-CZ" altLang="en-US" smtClean="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9266" name="Rectangle 3"/>
          <p:cNvSpPr>
            <a:spLocks noGrp="1" noChangeArrowheads="1"/>
          </p:cNvSpPr>
          <p:nvPr>
            <p:ph idx="1"/>
          </p:nvPr>
        </p:nvSpPr>
        <p:spPr>
          <a:xfrm>
            <a:off x="0" y="0"/>
            <a:ext cx="9144000" cy="6858000"/>
          </a:xfrm>
        </p:spPr>
        <p:txBody>
          <a:bodyPr/>
          <a:lstStyle/>
          <a:p>
            <a:pPr eaLnBrk="1" hangingPunct="1">
              <a:buFontTx/>
              <a:buBlip>
                <a:blip r:embed="rId2"/>
              </a:buBlip>
            </a:pPr>
            <a:r>
              <a:rPr lang="cs-CZ" altLang="en-US" sz="2400" b="1" smtClean="0"/>
              <a:t>do organismu se rtuť dostává dvěma cestami – v potravě a dýcháním (</a:t>
            </a:r>
            <a:r>
              <a:rPr lang="cs-CZ" altLang="en-US" sz="2400" b="1" smtClean="0">
                <a:solidFill>
                  <a:srgbClr val="FF0000"/>
                </a:solidFill>
              </a:rPr>
              <a:t>neurotoxické účinky</a:t>
            </a:r>
            <a:r>
              <a:rPr lang="cs-CZ" altLang="en-US" sz="2400" b="1" smtClean="0"/>
              <a:t>)</a:t>
            </a:r>
          </a:p>
          <a:p>
            <a:pPr eaLnBrk="1" hangingPunct="1">
              <a:buFontTx/>
              <a:buBlip>
                <a:blip r:embed="rId2"/>
              </a:buBlip>
            </a:pPr>
            <a:r>
              <a:rPr lang="cs-CZ" altLang="en-US" sz="2400" b="1" smtClean="0"/>
              <a:t>z potravin jsou rizikovým faktorem vnitřnosti (játra, ledviny) nebo ryby, které byly kontaminovány rtutí při svém růstu</a:t>
            </a:r>
          </a:p>
          <a:p>
            <a:pPr eaLnBrk="1" hangingPunct="1">
              <a:buFontTx/>
              <a:buBlip>
                <a:blip r:embed="rId2"/>
              </a:buBlip>
            </a:pPr>
            <a:r>
              <a:rPr lang="cs-CZ" altLang="en-US" sz="2400" b="1" smtClean="0"/>
              <a:t>rizikové mohou být i zemědělské plodiny, pěstované na půdě zamořené rtuťnatými sloučeninami ať již z průmyslových zdrojů nebo nevhodně použitými přípravky k hubení zemědělských škůdců </a:t>
            </a:r>
          </a:p>
          <a:p>
            <a:pPr eaLnBrk="1" hangingPunct="1">
              <a:buFontTx/>
              <a:buBlip>
                <a:blip r:embed="rId2"/>
              </a:buBlip>
            </a:pPr>
            <a:r>
              <a:rPr lang="cs-CZ" altLang="en-US" sz="2400" b="1" smtClean="0"/>
              <a:t>zvláště nebezpečné jsou </a:t>
            </a:r>
            <a:r>
              <a:rPr lang="cs-CZ" altLang="en-US" sz="2400" b="1" smtClean="0">
                <a:solidFill>
                  <a:srgbClr val="FF0000"/>
                </a:solidFill>
              </a:rPr>
              <a:t>organokovové sloučeniny rtuti</a:t>
            </a:r>
            <a:r>
              <a:rPr lang="cs-CZ" altLang="en-US" sz="2400" b="1" smtClean="0"/>
              <a:t>, které se mohou snadno dostat do živých tkání a to například i </a:t>
            </a:r>
            <a:r>
              <a:rPr lang="cs-CZ" altLang="en-US" sz="2400" b="1" smtClean="0">
                <a:solidFill>
                  <a:schemeClr val="tx2"/>
                </a:solidFill>
              </a:rPr>
              <a:t>pouhým stykem s pokožkou</a:t>
            </a:r>
          </a:p>
          <a:p>
            <a:pPr eaLnBrk="1" hangingPunct="1">
              <a:buFontTx/>
              <a:buBlip>
                <a:blip r:embed="rId2"/>
              </a:buBlip>
            </a:pPr>
            <a:r>
              <a:rPr lang="cs-CZ" altLang="en-US" sz="2400" b="1" smtClean="0"/>
              <a:t>do životního prostředí se dostávají např. rozkladem různých organických sloučenin s obsahem rtuti nebo i metabolickými pochody mikroorganizmů při styku s rtutí  (dimethylrtuť, (CH3)-Hg-(CH3), smrtelná dávka pro dospělého člověka uváděno již 0,1 ml této kapalné substance) </a:t>
            </a:r>
          </a:p>
          <a:p>
            <a:pPr eaLnBrk="1" hangingPunct="1">
              <a:buFontTx/>
              <a:buBlip>
                <a:blip r:embed="rId2"/>
              </a:buBlip>
            </a:pPr>
            <a:r>
              <a:rPr lang="cs-CZ" altLang="en-US" sz="2400" b="1" smtClean="0">
                <a:solidFill>
                  <a:schemeClr val="accent2"/>
                </a:solidFill>
              </a:rPr>
              <a:t>Minamata</a:t>
            </a:r>
            <a:r>
              <a:rPr lang="cs-CZ" altLang="en-US" sz="2400" b="1" smtClean="0"/>
              <a:t> </a:t>
            </a:r>
            <a:r>
              <a:rPr lang="cs-CZ" altLang="en-US" sz="2400" b="1" smtClean="0">
                <a:solidFill>
                  <a:srgbClr val="FF0000"/>
                </a:solidFill>
                <a:sym typeface="Wingdings" panose="05000000000000000000" pitchFamily="2" charset="2"/>
              </a:rPr>
              <a:t></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0290" name="Rectangle 3"/>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Toxicita jednotlivých sloučenin je závislá především na jejich rozpustnosti ve vodě </a:t>
            </a:r>
          </a:p>
          <a:p>
            <a:pPr eaLnBrk="1" hangingPunct="1">
              <a:buFontTx/>
              <a:buBlip>
                <a:blip r:embed="rId2"/>
              </a:buBlip>
            </a:pPr>
            <a:r>
              <a:rPr lang="cs-CZ" altLang="en-US" sz="2400" b="1" smtClean="0"/>
              <a:t>nejvíce rizikové sloučeniny dvojmocné rtuti Hg</a:t>
            </a:r>
            <a:r>
              <a:rPr lang="cs-CZ" altLang="en-US" sz="2400" b="1" baseline="30000" smtClean="0"/>
              <a:t>+2</a:t>
            </a:r>
            <a:r>
              <a:rPr lang="cs-CZ" altLang="en-US" sz="2400" b="1" smtClean="0"/>
              <a:t>, které bývaly užívány jako jedy pro hubení hlodavců a jiných zemědělských škůdců (HgCl</a:t>
            </a:r>
            <a:r>
              <a:rPr lang="cs-CZ" altLang="en-US" sz="2400" b="1" baseline="-25000" smtClean="0"/>
              <a:t>2</a:t>
            </a:r>
            <a:r>
              <a:rPr lang="cs-CZ" altLang="en-US" sz="2400" b="1" smtClean="0"/>
              <a:t> - sublimát, HgS - sulfid rtuťnatý - rumělka</a:t>
            </a:r>
            <a:r>
              <a:rPr lang="cs-CZ" altLang="en-US" sz="2400" b="1" i="1" smtClean="0"/>
              <a:t>)</a:t>
            </a:r>
            <a:r>
              <a:rPr lang="cs-CZ" altLang="en-US" sz="2400" smtClean="0"/>
              <a:t> </a:t>
            </a:r>
            <a:endParaRPr lang="cs-CZ" altLang="en-US" sz="2400" b="1" smtClean="0"/>
          </a:p>
          <a:p>
            <a:pPr eaLnBrk="1" hangingPunct="1">
              <a:buFontTx/>
              <a:buBlip>
                <a:blip r:embed="rId2"/>
              </a:buBlip>
            </a:pPr>
            <a:r>
              <a:rPr lang="cs-CZ" altLang="en-US" sz="2400" b="1" smtClean="0">
                <a:solidFill>
                  <a:schemeClr val="tx2"/>
                </a:solidFill>
              </a:rPr>
              <a:t>Projevy chronické otravy</a:t>
            </a:r>
            <a:r>
              <a:rPr lang="cs-CZ" altLang="en-US" sz="2400" b="1" smtClean="0"/>
              <a:t> bývají často </a:t>
            </a:r>
            <a:r>
              <a:rPr lang="cs-CZ" altLang="en-US" sz="2400" b="1" smtClean="0">
                <a:solidFill>
                  <a:schemeClr val="tx2"/>
                </a:solidFill>
              </a:rPr>
              <a:t>nespecifické</a:t>
            </a:r>
          </a:p>
          <a:p>
            <a:pPr eaLnBrk="1" hangingPunct="1">
              <a:buFontTx/>
              <a:buBlip>
                <a:blip r:embed="rId3"/>
              </a:buBlip>
            </a:pPr>
            <a:r>
              <a:rPr lang="cs-CZ" altLang="en-US" sz="2400" b="1" smtClean="0"/>
              <a:t>studených končetin</a:t>
            </a:r>
          </a:p>
          <a:p>
            <a:pPr eaLnBrk="1" hangingPunct="1">
              <a:buFontTx/>
              <a:buBlip>
                <a:blip r:embed="rId3"/>
              </a:buBlip>
            </a:pPr>
            <a:r>
              <a:rPr lang="cs-CZ" altLang="en-US" sz="2400" b="1" smtClean="0"/>
              <a:t>vypadávání vlasů</a:t>
            </a:r>
          </a:p>
          <a:p>
            <a:pPr eaLnBrk="1" hangingPunct="1">
              <a:buFontTx/>
              <a:buBlip>
                <a:blip r:embed="rId3"/>
              </a:buBlip>
            </a:pPr>
            <a:r>
              <a:rPr lang="cs-CZ" altLang="en-US" sz="2400" b="1" smtClean="0"/>
              <a:t>přes zažívací poruchy</a:t>
            </a:r>
          </a:p>
          <a:p>
            <a:pPr eaLnBrk="1" hangingPunct="1">
              <a:buFontTx/>
              <a:buBlip>
                <a:blip r:embed="rId3"/>
              </a:buBlip>
            </a:pPr>
            <a:r>
              <a:rPr lang="cs-CZ" altLang="en-US" sz="2400" b="1" smtClean="0"/>
              <a:t>různé neurologické a psychické potíže</a:t>
            </a:r>
          </a:p>
          <a:p>
            <a:pPr eaLnBrk="1" hangingPunct="1">
              <a:buFontTx/>
              <a:buBlip>
                <a:blip r:embed="rId3"/>
              </a:buBlip>
            </a:pPr>
            <a:r>
              <a:rPr lang="cs-CZ" altLang="en-US" sz="2400" b="1" smtClean="0"/>
              <a:t>Při jednorázové vysoké dávce rtuti se dostavují bolesti břicha, průjmy a zvracení</a:t>
            </a:r>
            <a:r>
              <a:rPr lang="cs-CZ" altLang="en-US" smtClean="0"/>
              <a:t> </a:t>
            </a:r>
            <a:r>
              <a:rPr lang="cs-CZ" altLang="en-US" sz="2400" b="1" smtClean="0"/>
              <a:t> </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7" name="Rectangle 3"/>
          <p:cNvSpPr>
            <a:spLocks noGrp="1" noChangeArrowheads="1"/>
          </p:cNvSpPr>
          <p:nvPr>
            <p:ph idx="1"/>
          </p:nvPr>
        </p:nvSpPr>
        <p:spPr>
          <a:xfrm>
            <a:off x="0" y="188913"/>
            <a:ext cx="9144000" cy="6669087"/>
          </a:xfrm>
        </p:spPr>
        <p:txBody>
          <a:bodyPr rtlCol="0">
            <a:normAutofit lnSpcReduction="10000"/>
          </a:bodyPr>
          <a:lstStyle/>
          <a:p>
            <a:pPr eaLnBrk="1" fontAlgn="auto" hangingPunct="1">
              <a:spcAft>
                <a:spcPts val="0"/>
              </a:spcAft>
              <a:buFontTx/>
              <a:buNone/>
              <a:defRPr/>
            </a:pPr>
            <a:r>
              <a:rPr lang="cs-CZ" altLang="en-US" sz="2800" b="1" smtClean="0">
                <a:solidFill>
                  <a:schemeClr val="tx2"/>
                </a:solidFill>
              </a:rPr>
              <a:t>Kadmium Cd</a:t>
            </a:r>
          </a:p>
          <a:p>
            <a:pPr eaLnBrk="1" fontAlgn="auto" hangingPunct="1">
              <a:spcAft>
                <a:spcPts val="0"/>
              </a:spcAft>
              <a:buFontTx/>
              <a:buBlip>
                <a:blip r:embed="rId2"/>
              </a:buBlip>
              <a:defRPr/>
            </a:pPr>
            <a:r>
              <a:rPr lang="cs-CZ" altLang="en-US" sz="2400" b="1" smtClean="0"/>
              <a:t>měkký, lehce tavitelný, toxickýkov</a:t>
            </a:r>
          </a:p>
          <a:p>
            <a:pPr eaLnBrk="1" fontAlgn="auto" hangingPunct="1">
              <a:spcAft>
                <a:spcPts val="0"/>
              </a:spcAft>
              <a:buFontTx/>
              <a:buBlip>
                <a:blip r:embed="rId2"/>
              </a:buBlip>
              <a:defRPr/>
            </a:pPr>
            <a:r>
              <a:rPr lang="cs-CZ" altLang="en-US" sz="2400" b="1" smtClean="0"/>
              <a:t>slouží jako součást různých slitin a k povrchové ochraně jiných kovů před korozí</a:t>
            </a:r>
          </a:p>
          <a:p>
            <a:pPr eaLnBrk="1" fontAlgn="auto" hangingPunct="1">
              <a:spcAft>
                <a:spcPts val="0"/>
              </a:spcAft>
              <a:buFontTx/>
              <a:buBlip>
                <a:blip r:embed="rId2"/>
              </a:buBlip>
              <a:defRPr/>
            </a:pPr>
            <a:r>
              <a:rPr lang="cs-CZ" altLang="en-US" sz="2400" b="1" smtClean="0"/>
              <a:t>toxikologicky významná chemická podobnost se zinkem </a:t>
            </a:r>
            <a:r>
              <a:rPr lang="cs-CZ" altLang="en-US" sz="2400" b="1" smtClean="0">
                <a:solidFill>
                  <a:srgbClr val="FF0000"/>
                </a:solidFill>
                <a:sym typeface="Wingdings 3" panose="05040102010807070707" pitchFamily="18" charset="2"/>
              </a:rPr>
              <a:t></a:t>
            </a:r>
            <a:r>
              <a:rPr lang="cs-CZ" altLang="en-US" sz="2400" b="1" smtClean="0"/>
              <a:t> kadmium může snadno vstupovat do různých enzymatických reakcí místo zinku a následné biochemické pochody neproběhnou nebo probíhají jiným způsobem</a:t>
            </a:r>
          </a:p>
          <a:p>
            <a:pPr eaLnBrk="1" fontAlgn="auto" hangingPunct="1">
              <a:spcAft>
                <a:spcPts val="0"/>
              </a:spcAft>
              <a:buFontTx/>
              <a:buBlip>
                <a:blip r:embed="rId2"/>
              </a:buBlip>
              <a:defRPr/>
            </a:pPr>
            <a:r>
              <a:rPr lang="cs-CZ" altLang="en-US" sz="2400" b="1" smtClean="0"/>
              <a:t>jedná se o mimořádně kumulativní jed; koncentruje se především v ledvinách v menší míře i v játrech</a:t>
            </a:r>
            <a:r>
              <a:rPr lang="cs-CZ" altLang="en-US" smtClean="0"/>
              <a:t> </a:t>
            </a:r>
          </a:p>
          <a:p>
            <a:pPr eaLnBrk="1" fontAlgn="auto" hangingPunct="1">
              <a:spcAft>
                <a:spcPts val="0"/>
              </a:spcAft>
              <a:buFontTx/>
              <a:buBlip>
                <a:blip r:embed="rId2"/>
              </a:buBlip>
              <a:defRPr/>
            </a:pPr>
            <a:r>
              <a:rPr lang="cs-CZ" altLang="en-US" sz="2400" b="1" smtClean="0"/>
              <a:t>do organizmu se kadmium dostává dvěma cestami – v potravě a dýcháním.</a:t>
            </a:r>
          </a:p>
          <a:p>
            <a:pPr eaLnBrk="1" fontAlgn="auto" hangingPunct="1">
              <a:spcAft>
                <a:spcPts val="0"/>
              </a:spcAft>
              <a:buFontTx/>
              <a:buBlip>
                <a:blip r:embed="rId2"/>
              </a:buBlip>
              <a:defRPr/>
            </a:pPr>
            <a:r>
              <a:rPr lang="cs-CZ" altLang="en-US" sz="2400" b="1" smtClean="0"/>
              <a:t>z potravin jsou rizikovým faktorem především vnitřnosti (játra, ledviny) nebo ryby, které byly kontaminovány kadmiem při svém růstu, příp. zemědělské plodiny, pěstované na kadmiem kontaminované půdě</a:t>
            </a:r>
            <a:r>
              <a:rPr lang="cs-CZ" altLang="en-US" smtClean="0"/>
              <a:t> </a:t>
            </a:r>
          </a:p>
          <a:p>
            <a:pPr eaLnBrk="1" fontAlgn="auto" hangingPunct="1">
              <a:spcAft>
                <a:spcPts val="0"/>
              </a:spcAft>
              <a:buFontTx/>
              <a:buBlip>
                <a:blip r:embed="rId2"/>
              </a:buBlip>
              <a:defRPr/>
            </a:pPr>
            <a:endParaRPr lang="cs-CZ" altLang="en-US" smtClean="0"/>
          </a:p>
          <a:p>
            <a:pPr eaLnBrk="1" fontAlgn="auto" hangingPunct="1">
              <a:spcAft>
                <a:spcPts val="0"/>
              </a:spcAft>
              <a:buFontTx/>
              <a:buBlip>
                <a:blip r:embed="rId2"/>
              </a:buBlip>
              <a:defRPr/>
            </a:pPr>
            <a:r>
              <a:rPr lang="cs-CZ" altLang="en-US" smtClean="0"/>
              <a:t>  </a:t>
            </a:r>
            <a:r>
              <a:rPr lang="cs-CZ" altLang="en-US" sz="2400" smtClean="0"/>
              <a:t> </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2338" name="Rectangle 4"/>
          <p:cNvSpPr>
            <a:spLocks noGrp="1" noChangeArrowheads="1"/>
          </p:cNvSpPr>
          <p:nvPr>
            <p:ph idx="1"/>
          </p:nvPr>
        </p:nvSpPr>
        <p:spPr>
          <a:xfrm>
            <a:off x="0" y="188913"/>
            <a:ext cx="9144000" cy="6669087"/>
          </a:xfrm>
        </p:spPr>
        <p:txBody>
          <a:bodyPr/>
          <a:lstStyle/>
          <a:p>
            <a:pPr eaLnBrk="1" hangingPunct="1">
              <a:buFontTx/>
              <a:buBlip>
                <a:blip r:embed="rId2"/>
              </a:buBlip>
            </a:pPr>
            <a:r>
              <a:rPr lang="cs-CZ" altLang="en-US" sz="2400" b="1" smtClean="0"/>
              <a:t>kadmium je karcinogenní</a:t>
            </a:r>
          </a:p>
          <a:p>
            <a:pPr eaLnBrk="1" hangingPunct="1">
              <a:buFontTx/>
              <a:buBlip>
                <a:blip r:embed="rId2"/>
              </a:buBlip>
            </a:pPr>
            <a:r>
              <a:rPr lang="cs-CZ" altLang="en-US" sz="2400" b="1" smtClean="0"/>
              <a:t>chronické otravy kadmiem způsobují poškození ledvin a jater a anémii; zvyšuje se riziko srdečních a cévních onemocnění</a:t>
            </a:r>
          </a:p>
          <a:p>
            <a:pPr eaLnBrk="1" hangingPunct="1">
              <a:buFontTx/>
              <a:buBlip>
                <a:blip r:embed="rId2"/>
              </a:buBlip>
            </a:pPr>
            <a:r>
              <a:rPr lang="cs-CZ" altLang="en-US" sz="2400" b="1" smtClean="0"/>
              <a:t>vyšší obsah kadmia působí na metabolizmus vápníku a způsobuje jeho zvýšené vylučování z organizmu s následkem zeslabení kostní hmoty </a:t>
            </a:r>
            <a:r>
              <a:rPr lang="cs-CZ" altLang="en-US" sz="2400" b="1" smtClean="0">
                <a:solidFill>
                  <a:srgbClr val="FF0000"/>
                </a:solidFill>
                <a:sym typeface="Wingdings 3" panose="05040102010807070707" pitchFamily="18" charset="2"/>
              </a:rPr>
              <a:t></a:t>
            </a:r>
            <a:r>
              <a:rPr lang="cs-CZ" altLang="en-US" sz="2400" b="1" smtClean="0"/>
              <a:t> vznik osteoporózy</a:t>
            </a:r>
          </a:p>
          <a:p>
            <a:pPr eaLnBrk="1" hangingPunct="1">
              <a:buFontTx/>
              <a:buBlip>
                <a:blip r:embed="rId2"/>
              </a:buBlip>
            </a:pPr>
            <a:r>
              <a:rPr lang="cs-CZ" altLang="en-US" sz="2400" b="1" smtClean="0"/>
              <a:t>Při jednorázové vysoké dávce kadmia </a:t>
            </a:r>
            <a:r>
              <a:rPr lang="cs-CZ" altLang="en-US" sz="2400" b="1" smtClean="0">
                <a:solidFill>
                  <a:srgbClr val="FF0000"/>
                </a:solidFill>
                <a:sym typeface="Wingdings 3" panose="05040102010807070707" pitchFamily="18" charset="2"/>
              </a:rPr>
              <a:t></a:t>
            </a:r>
            <a:r>
              <a:rPr lang="cs-CZ" altLang="en-US" sz="2400" b="1" smtClean="0">
                <a:sym typeface="Wingdings 3" panose="05040102010807070707" pitchFamily="18" charset="2"/>
              </a:rPr>
              <a:t> </a:t>
            </a:r>
            <a:r>
              <a:rPr lang="cs-CZ" altLang="en-US" sz="2400" b="1" smtClean="0"/>
              <a:t>bolesti břicha, průjmy a zvracení </a:t>
            </a:r>
          </a:p>
          <a:p>
            <a:pPr eaLnBrk="1" hangingPunct="1">
              <a:buFontTx/>
              <a:buBlip>
                <a:blip r:embed="rId2"/>
              </a:buBlip>
            </a:pPr>
            <a:r>
              <a:rPr lang="cs-CZ" altLang="en-US" sz="2400" b="1" smtClean="0"/>
              <a:t>Hutní průmysl </a:t>
            </a:r>
            <a:r>
              <a:rPr lang="cs-CZ" altLang="en-US" sz="2400" b="1" smtClean="0">
                <a:sym typeface="Wingdings 3" panose="05040102010807070707" pitchFamily="18" charset="2"/>
              </a:rPr>
              <a:t> největší znečišťovatel prostředí kadmiem</a:t>
            </a:r>
          </a:p>
          <a:p>
            <a:pPr eaLnBrk="1" hangingPunct="1">
              <a:buFontTx/>
              <a:buBlip>
                <a:blip r:embed="rId2"/>
              </a:buBlip>
            </a:pPr>
            <a:r>
              <a:rPr lang="cs-CZ" altLang="en-US" sz="2400" b="1" smtClean="0">
                <a:sym typeface="Wingdings 3" panose="05040102010807070707" pitchFamily="18" charset="2"/>
              </a:rPr>
              <a:t>nejohroženější skupinu osob tvoří kuřáci </a:t>
            </a:r>
            <a:r>
              <a:rPr lang="cs-CZ" altLang="en-US" sz="2400" b="1" smtClean="0">
                <a:solidFill>
                  <a:srgbClr val="FF0000"/>
                </a:solidFill>
                <a:sym typeface="Wingdings 3" panose="05040102010807070707" pitchFamily="18" charset="2"/>
              </a:rPr>
              <a:t></a:t>
            </a:r>
            <a:r>
              <a:rPr lang="cs-CZ" altLang="en-US" sz="2400" b="1" smtClean="0">
                <a:sym typeface="Wingdings 3" panose="05040102010807070707" pitchFamily="18" charset="2"/>
              </a:rPr>
              <a:t> ledviny kuřáků obsahují 10x více kadmia než  nekuřáků</a:t>
            </a:r>
            <a:r>
              <a:rPr lang="cs-CZ" altLang="en-US" smtClean="0">
                <a:sym typeface="Wingdings 3" panose="05040102010807070707" pitchFamily="18" charset="2"/>
              </a:rPr>
              <a:t> </a:t>
            </a:r>
            <a:r>
              <a:rPr lang="cs-CZ" altLang="en-US" smtClean="0">
                <a:solidFill>
                  <a:srgbClr val="FF0000"/>
                </a:solidFill>
                <a:sym typeface="Wingdings 3" panose="05040102010807070707" pitchFamily="18" charset="2"/>
              </a:rPr>
              <a:t></a:t>
            </a:r>
            <a:r>
              <a:rPr lang="cs-CZ" altLang="en-US" smtClean="0">
                <a:sym typeface="Wingdings 3" panose="05040102010807070707" pitchFamily="18" charset="2"/>
              </a:rPr>
              <a:t> </a:t>
            </a:r>
            <a:r>
              <a:rPr lang="cs-CZ" altLang="en-US" sz="2400" b="1" smtClean="0">
                <a:sym typeface="Wingdings 3" panose="05040102010807070707" pitchFamily="18" charset="2"/>
              </a:rPr>
              <a:t>nebezpečí rakoviny nebo chronického selhání činnosti ledvin</a:t>
            </a:r>
          </a:p>
          <a:p>
            <a:pPr eaLnBrk="1" hangingPunct="1">
              <a:buFontTx/>
              <a:buBlip>
                <a:blip r:embed="rId2"/>
              </a:buBlip>
            </a:pPr>
            <a:r>
              <a:rPr lang="cs-CZ" altLang="en-US" sz="2400" b="1" smtClean="0">
                <a:sym typeface="Wingdings 3" panose="05040102010807070707" pitchFamily="18" charset="2"/>
              </a:rPr>
              <a:t>Kadmium se používá pro výrobu nikl-kadmiových akumulátorů, kde slouží jako materiál pro zápornou elektrodu  </a:t>
            </a:r>
          </a:p>
        </p:txBody>
      </p:sp>
    </p:spTree>
  </p:cSld>
  <p:clrMapOvr>
    <a:masterClrMapping/>
  </p:clrMapOvr>
</p:sld>
</file>

<file path=ppt/theme/theme1.xml><?xml version="1.0" encoding="utf-8"?>
<a:theme xmlns:a="http://schemas.openxmlformats.org/drawingml/2006/main" name="Motiv Office">
  <a:themeElements>
    <a:clrScheme name="Kancelář">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celář">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celář">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iv sady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Motiv sady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Kancelář">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Kancelář">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E47267797169E4EA4B4F543CAD0F29A" ma:contentTypeVersion="3" ma:contentTypeDescription="Create a new document." ma:contentTypeScope="" ma:versionID="88dfb9126fe3349cdfb5a2af86e4995f">
  <xsd:schema xmlns:xsd="http://www.w3.org/2001/XMLSchema" xmlns:xs="http://www.w3.org/2001/XMLSchema" xmlns:p="http://schemas.microsoft.com/office/2006/metadata/properties" xmlns:ns2="1dbb0f5a-15a2-44f2-9f9d-37cd9ee36e48" targetNamespace="http://schemas.microsoft.com/office/2006/metadata/properties" ma:root="true" ma:fieldsID="1cf404747b80bec829e5ea8ce0444fb5" ns2:_="">
    <xsd:import namespace="1dbb0f5a-15a2-44f2-9f9d-37cd9ee36e4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bb0f5a-15a2-44f2-9f9d-37cd9ee36e4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093B479-D656-462A-96F3-456D390CA97B}"/>
</file>

<file path=customXml/itemProps2.xml><?xml version="1.0" encoding="utf-8"?>
<ds:datastoreItem xmlns:ds="http://schemas.openxmlformats.org/officeDocument/2006/customXml" ds:itemID="{EF24FAB1-08D4-4B31-8F7F-25C5997AE286}"/>
</file>

<file path=customXml/itemProps3.xml><?xml version="1.0" encoding="utf-8"?>
<ds:datastoreItem xmlns:ds="http://schemas.openxmlformats.org/officeDocument/2006/customXml" ds:itemID="{E1C7300C-39C9-4F6C-820D-89AF866B41DB}"/>
</file>

<file path=docProps/app.xml><?xml version="1.0" encoding="utf-8"?>
<Properties xmlns="http://schemas.openxmlformats.org/officeDocument/2006/extended-properties" xmlns:vt="http://schemas.openxmlformats.org/officeDocument/2006/docPropsVTypes">
  <Template/>
  <TotalTime>5971</TotalTime>
  <Words>4860</Words>
  <Application>Microsoft Office PowerPoint</Application>
  <PresentationFormat>Předvádění na obrazovce (4:3)</PresentationFormat>
  <Paragraphs>386</Paragraphs>
  <Slides>53</Slides>
  <Notes>0</Notes>
  <HiddenSlides>0</HiddenSlides>
  <MMClips>0</MMClips>
  <ScaleCrop>false</ScaleCrop>
  <HeadingPairs>
    <vt:vector size="6" baseType="variant">
      <vt:variant>
        <vt:lpstr>Použitá písma</vt:lpstr>
      </vt:variant>
      <vt:variant>
        <vt:i4>9</vt:i4>
      </vt:variant>
      <vt:variant>
        <vt:lpstr>Motiv</vt:lpstr>
      </vt:variant>
      <vt:variant>
        <vt:i4>1</vt:i4>
      </vt:variant>
      <vt:variant>
        <vt:lpstr>Nadpisy snímků</vt:lpstr>
      </vt:variant>
      <vt:variant>
        <vt:i4>53</vt:i4>
      </vt:variant>
    </vt:vector>
  </HeadingPairs>
  <TitlesOfParts>
    <vt:vector size="63" baseType="lpstr">
      <vt:lpstr>Book Antiqua</vt:lpstr>
      <vt:lpstr>Arial</vt:lpstr>
      <vt:lpstr>Calibri Light</vt:lpstr>
      <vt:lpstr>Calibri</vt:lpstr>
      <vt:lpstr>Times New Roman</vt:lpstr>
      <vt:lpstr>Wingdings 3</vt:lpstr>
      <vt:lpstr>Wingdings</vt:lpstr>
      <vt:lpstr>Verdana</vt:lpstr>
      <vt:lpstr>Wingdings 2</vt:lpstr>
      <vt:lpstr>Motiv Office</vt:lpstr>
      <vt:lpstr>IV.A skupina - skupina uhlíku </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V.A skupina - skupina dusíku </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VI.A skupina - skupina kyslíku </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lpstr>Prezentace aplikace PowerPoint</vt:lpstr>
    </vt:vector>
  </TitlesOfParts>
  <Manager/>
  <Company>PdF MU</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Snímek 1</dc:title>
  <dc:subject/>
  <dc:creator>Petr Ptacek</dc:creator>
  <cp:keywords/>
  <dc:description/>
  <cp:lastModifiedBy>Jiri Pospisil</cp:lastModifiedBy>
  <cp:revision>262</cp:revision>
  <dcterms:created xsi:type="dcterms:W3CDTF">2009-01-15T13:29:25Z</dcterms:created>
  <dcterms:modified xsi:type="dcterms:W3CDTF">2025-12-17T11:38:27Z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TC010690401029</vt:lpwstr>
  </property>
  <property fmtid="{D5CDD505-2E9C-101B-9397-08002B2CF9AE}" pid="3" name="ContentTypeId">
    <vt:lpwstr>0x010100DE47267797169E4EA4B4F543CAD0F29A</vt:lpwstr>
  </property>
</Properties>
</file>