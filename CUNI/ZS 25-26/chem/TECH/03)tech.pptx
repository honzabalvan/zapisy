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1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1" r:id="rId2"/>
    <p:sldId id="260" r:id="rId3"/>
    <p:sldId id="261" r:id="rId4"/>
    <p:sldId id="264" r:id="rId5"/>
    <p:sldId id="262" r:id="rId6"/>
    <p:sldId id="259" r:id="rId7"/>
    <p:sldId id="256" r:id="rId8"/>
    <p:sldId id="258" r:id="rId9"/>
    <p:sldId id="257" r:id="rId10"/>
    <p:sldId id="265" r:id="rId11"/>
    <p:sldId id="269" r:id="rId12"/>
    <p:sldId id="267" r:id="rId13"/>
    <p:sldId id="268" r:id="rId14"/>
    <p:sldId id="266" r:id="rId15"/>
    <p:sldId id="270" r:id="rId16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customXml" Target="../customXml/item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ustomXml" Target="../customXml/item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="" xmlns:a16="http://schemas.microsoft.com/office/drawing/2014/main" id="{964797C4-CE45-3CAD-0067-14F151C50C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="" xmlns:a16="http://schemas.microsoft.com/office/drawing/2014/main" id="{835381B1-6BC1-A31E-5F81-300DD1AEBF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="" xmlns:a16="http://schemas.microsoft.com/office/drawing/2014/main" id="{FAC91BBA-D8DA-3AD9-0F33-30682FB0F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374CA-3B64-4871-BC18-D24139640E06}" type="datetimeFigureOut">
              <a:rPr lang="cs-CZ" smtClean="0"/>
              <a:t>15.12.2023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="" xmlns:a16="http://schemas.microsoft.com/office/drawing/2014/main" id="{A909BAD2-B4FE-51B4-40CB-D21F0E2FC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="" xmlns:a16="http://schemas.microsoft.com/office/drawing/2014/main" id="{A80A3C24-3E82-4C5F-B5A5-1604D04C9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307C0-F9AA-4C2F-808B-E1395523601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65221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="" xmlns:a16="http://schemas.microsoft.com/office/drawing/2014/main" id="{1C083730-FA2A-0156-8D55-2955CED49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="" xmlns:a16="http://schemas.microsoft.com/office/drawing/2014/main" id="{FDBEFEAE-9222-BBEB-7B7D-3B9200BAE2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="" xmlns:a16="http://schemas.microsoft.com/office/drawing/2014/main" id="{DC98F663-4D00-CFAB-E855-E2A6774A1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374CA-3B64-4871-BC18-D24139640E06}" type="datetimeFigureOut">
              <a:rPr lang="cs-CZ" smtClean="0"/>
              <a:t>15.12.2023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="" xmlns:a16="http://schemas.microsoft.com/office/drawing/2014/main" id="{351F4BE9-E567-023C-B098-6E70A7EE9C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="" xmlns:a16="http://schemas.microsoft.com/office/drawing/2014/main" id="{F6B1604D-5340-3BFA-2458-40E49B491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307C0-F9AA-4C2F-808B-E1395523601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559692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="" xmlns:a16="http://schemas.microsoft.com/office/drawing/2014/main" id="{F6BD6E4E-9B15-9F0B-FFA9-028DAC8DC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="" xmlns:a16="http://schemas.microsoft.com/office/drawing/2014/main" id="{8F75B636-DCF6-55AB-B4AD-E0754CADC1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="" xmlns:a16="http://schemas.microsoft.com/office/drawing/2014/main" id="{DBECC40E-795A-5677-F5C8-6851D9DDEB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374CA-3B64-4871-BC18-D24139640E06}" type="datetimeFigureOut">
              <a:rPr lang="cs-CZ" smtClean="0"/>
              <a:t>15.12.2023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="" xmlns:a16="http://schemas.microsoft.com/office/drawing/2014/main" id="{F721C8C9-BFA4-65BB-856C-7D02240CC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="" xmlns:a16="http://schemas.microsoft.com/office/drawing/2014/main" id="{E4ECC44C-4F90-BA02-C504-315DF8E01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307C0-F9AA-4C2F-808B-E1395523601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62654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="" xmlns:a16="http://schemas.microsoft.com/office/drawing/2014/main" id="{6BB8504C-56EC-2C02-59A6-79519E1D2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="" xmlns:a16="http://schemas.microsoft.com/office/drawing/2014/main" id="{01764E48-1A13-DB9A-C11E-49B07DDB99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="" xmlns:a16="http://schemas.microsoft.com/office/drawing/2014/main" id="{27125CF8-4FAE-B8FF-9E09-C27120DD36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="" xmlns:a16="http://schemas.microsoft.com/office/drawing/2014/main" id="{DE9B92F0-9201-4776-FFE9-F2A1C99F8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374CA-3B64-4871-BC18-D24139640E06}" type="datetimeFigureOut">
              <a:rPr lang="cs-CZ" smtClean="0"/>
              <a:t>15.12.2023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="" xmlns:a16="http://schemas.microsoft.com/office/drawing/2014/main" id="{CB691993-80FF-4680-9FE2-8A5C8AF0B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="" xmlns:a16="http://schemas.microsoft.com/office/drawing/2014/main" id="{3B206AA8-77A3-AA35-C68B-C3D06FC9C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307C0-F9AA-4C2F-808B-E1395523601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443978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="" xmlns:a16="http://schemas.microsoft.com/office/drawing/2014/main" id="{BA955F92-3C81-6844-273B-CDC7277D7B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="" xmlns:a16="http://schemas.microsoft.com/office/drawing/2014/main" id="{28E310AF-1AE9-23FD-0D15-7D08FB4FEE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="" xmlns:a16="http://schemas.microsoft.com/office/drawing/2014/main" id="{B8C31FA4-B35A-EDE7-D443-3B0A5A90B8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="" xmlns:a16="http://schemas.microsoft.com/office/drawing/2014/main" id="{C4E806F5-BEEB-3605-5825-93564093CA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="" xmlns:a16="http://schemas.microsoft.com/office/drawing/2014/main" id="{CA1E887B-3F7A-2E60-BB11-4B7E144837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="" xmlns:a16="http://schemas.microsoft.com/office/drawing/2014/main" id="{1A6613B4-04C6-DFC1-5F96-C76D0F571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374CA-3B64-4871-BC18-D24139640E06}" type="datetimeFigureOut">
              <a:rPr lang="cs-CZ" smtClean="0"/>
              <a:t>15.12.2023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="" xmlns:a16="http://schemas.microsoft.com/office/drawing/2014/main" id="{689F7A20-3687-E273-AEA3-891066051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="" xmlns:a16="http://schemas.microsoft.com/office/drawing/2014/main" id="{A35B03E0-ECDE-8450-0CD1-81DC69266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307C0-F9AA-4C2F-808B-E1395523601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661105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="" xmlns:a16="http://schemas.microsoft.com/office/drawing/2014/main" id="{6A9CD562-5C6F-76E2-CF85-9318637E0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="" xmlns:a16="http://schemas.microsoft.com/office/drawing/2014/main" id="{90F75A9C-ABE5-77BE-C3C8-19C6C9E63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374CA-3B64-4871-BC18-D24139640E06}" type="datetimeFigureOut">
              <a:rPr lang="cs-CZ" smtClean="0"/>
              <a:t>15.12.2023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="" xmlns:a16="http://schemas.microsoft.com/office/drawing/2014/main" id="{93BD4CA7-7AFE-D678-B876-AE4CC9869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="" xmlns:a16="http://schemas.microsoft.com/office/drawing/2014/main" id="{822EA43B-7BC6-B335-6702-E654B6C2E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307C0-F9AA-4C2F-808B-E1395523601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217010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="" xmlns:a16="http://schemas.microsoft.com/office/drawing/2014/main" id="{D3AD4F9F-36BF-C56A-A494-9EC162A14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374CA-3B64-4871-BC18-D24139640E06}" type="datetimeFigureOut">
              <a:rPr lang="cs-CZ" smtClean="0"/>
              <a:t>15.12.2023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="" xmlns:a16="http://schemas.microsoft.com/office/drawing/2014/main" id="{78B4E3A3-8813-34B7-7539-01162D551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="" xmlns:a16="http://schemas.microsoft.com/office/drawing/2014/main" id="{7F9A50EF-7FFF-EB35-D338-32BDD6535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307C0-F9AA-4C2F-808B-E1395523601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503750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="" xmlns:a16="http://schemas.microsoft.com/office/drawing/2014/main" id="{957B42DC-EB9B-CF7C-2E01-C54F284FFF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="" xmlns:a16="http://schemas.microsoft.com/office/drawing/2014/main" id="{1BF62583-FA34-2864-EF25-680852F7EC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="" xmlns:a16="http://schemas.microsoft.com/office/drawing/2014/main" id="{C8005123-66E5-4647-F54F-DB37031EAD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="" xmlns:a16="http://schemas.microsoft.com/office/drawing/2014/main" id="{488EA4AC-1697-EC93-ACC1-DC469DF0F0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374CA-3B64-4871-BC18-D24139640E06}" type="datetimeFigureOut">
              <a:rPr lang="cs-CZ" smtClean="0"/>
              <a:t>15.12.2023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="" xmlns:a16="http://schemas.microsoft.com/office/drawing/2014/main" id="{7FE4850D-D4F8-A7FA-6318-8BE988A4C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="" xmlns:a16="http://schemas.microsoft.com/office/drawing/2014/main" id="{D0745831-62E0-1D0C-1F2A-1FEC39435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307C0-F9AA-4C2F-808B-E1395523601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214548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="" xmlns:a16="http://schemas.microsoft.com/office/drawing/2014/main" id="{B3118537-B76E-4600-9DB5-A834DC99D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="" xmlns:a16="http://schemas.microsoft.com/office/drawing/2014/main" id="{C96A4B86-C264-B065-233F-102B48188B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="" xmlns:a16="http://schemas.microsoft.com/office/drawing/2014/main" id="{E52C8E83-888C-5160-4172-C1A97CDCDA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="" xmlns:a16="http://schemas.microsoft.com/office/drawing/2014/main" id="{F91BB02D-3AB1-0AEC-A7AD-00EDF13EB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374CA-3B64-4871-BC18-D24139640E06}" type="datetimeFigureOut">
              <a:rPr lang="cs-CZ" smtClean="0"/>
              <a:t>15.12.2023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="" xmlns:a16="http://schemas.microsoft.com/office/drawing/2014/main" id="{6FA664D7-9948-CF95-F472-95B6ED11A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="" xmlns:a16="http://schemas.microsoft.com/office/drawing/2014/main" id="{2AE329D3-E6CE-9218-CC0E-B2A608D9C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307C0-F9AA-4C2F-808B-E1395523601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1063270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="" xmlns:a16="http://schemas.microsoft.com/office/drawing/2014/main" id="{DDBA0141-0644-228C-4105-827536F68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="" xmlns:a16="http://schemas.microsoft.com/office/drawing/2014/main" id="{EC00C839-D984-9FDA-C17F-FDD6B37AFB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="" xmlns:a16="http://schemas.microsoft.com/office/drawing/2014/main" id="{CC83F31D-EF75-EDBC-F245-6B74C6316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374CA-3B64-4871-BC18-D24139640E06}" type="datetimeFigureOut">
              <a:rPr lang="cs-CZ" smtClean="0"/>
              <a:t>15.12.2023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="" xmlns:a16="http://schemas.microsoft.com/office/drawing/2014/main" id="{660CD5FC-F68C-B883-F22B-97BED077A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="" xmlns:a16="http://schemas.microsoft.com/office/drawing/2014/main" id="{BFA9FF9A-4B06-E036-24F0-3EDCDD499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307C0-F9AA-4C2F-808B-E1395523601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285160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="" xmlns:a16="http://schemas.microsoft.com/office/drawing/2014/main" id="{96391CA5-7067-3D65-BC1D-2D2C2B3207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="" xmlns:a16="http://schemas.microsoft.com/office/drawing/2014/main" id="{40413F4D-78F1-0079-A1A5-254DCDB491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="" xmlns:a16="http://schemas.microsoft.com/office/drawing/2014/main" id="{FC47C182-449B-0EB0-6F06-CE6EDD98F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374CA-3B64-4871-BC18-D24139640E06}" type="datetimeFigureOut">
              <a:rPr lang="cs-CZ" smtClean="0"/>
              <a:t>15.12.2023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="" xmlns:a16="http://schemas.microsoft.com/office/drawing/2014/main" id="{507D1790-1DEC-1B8D-C99C-EEC57D4D6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="" xmlns:a16="http://schemas.microsoft.com/office/drawing/2014/main" id="{F32597EA-2E98-9209-104E-2E40AA03D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307C0-F9AA-4C2F-808B-E1395523601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111785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="" xmlns:a16="http://schemas.microsoft.com/office/drawing/2014/main" id="{0F7B1C73-6483-8B5D-B4FC-390CE0541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="" xmlns:a16="http://schemas.microsoft.com/office/drawing/2014/main" id="{4DC1846B-7D22-4D7B-50E7-852FA2295B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="" xmlns:a16="http://schemas.microsoft.com/office/drawing/2014/main" id="{9BF71AB4-861B-CE00-17FC-1A63D7373D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0374CA-3B64-4871-BC18-D24139640E06}" type="datetimeFigureOut">
              <a:rPr lang="cs-CZ" smtClean="0"/>
              <a:t>15.12.2023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="" xmlns:a16="http://schemas.microsoft.com/office/drawing/2014/main" id="{FA689642-9C44-6320-A819-B902C69914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="" xmlns:a16="http://schemas.microsoft.com/office/drawing/2014/main" id="{231AB15D-2C0F-DDE7-970A-8F138ED57A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8307C0-F9AA-4C2F-808B-E1395523601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24235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256" y="204337"/>
            <a:ext cx="9945488" cy="6449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87428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ázek 4">
            <a:extLst>
              <a:ext uri="{FF2B5EF4-FFF2-40B4-BE49-F238E27FC236}">
                <a16:creationId xmlns="" xmlns:a16="http://schemas.microsoft.com/office/drawing/2014/main" id="{E398A910-B82F-4FF1-69BB-A2E1FAF79F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4600" y="0"/>
            <a:ext cx="96028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70535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ázek 4" descr="Obsah obrázku text, elektronika&#10;&#10;Popis byl vytvořen automaticky">
            <a:extLst>
              <a:ext uri="{FF2B5EF4-FFF2-40B4-BE49-F238E27FC236}">
                <a16:creationId xmlns="" xmlns:a16="http://schemas.microsoft.com/office/drawing/2014/main" id="{2557D46E-DA60-B309-46D5-A3568EF276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212" y="314325"/>
            <a:ext cx="11077575" cy="6229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5069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ovéPole 8">
            <a:extLst>
              <a:ext uri="{FF2B5EF4-FFF2-40B4-BE49-F238E27FC236}">
                <a16:creationId xmlns="" xmlns:a16="http://schemas.microsoft.com/office/drawing/2014/main" id="{3941A916-3169-21B0-BF3C-2F8EB2BBD1F3}"/>
              </a:ext>
            </a:extLst>
          </p:cNvPr>
          <p:cNvSpPr txBox="1"/>
          <p:nvPr/>
        </p:nvSpPr>
        <p:spPr>
          <a:xfrm>
            <a:off x="579812" y="218501"/>
            <a:ext cx="1137388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s-CZ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Z důvodu velké </a:t>
            </a:r>
            <a:r>
              <a:rPr lang="cs-CZ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elektropozitivity</a:t>
            </a:r>
            <a:r>
              <a:rPr lang="cs-CZ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se lithium nachází pouze ve sloučeninách jako příměs různých druhů hornin. Rudy lithia pak obsahují okolo 1- 6 % lithia. Celkem je známo asi 130 lithných minerálů. Nepatrná část tohoto množství tvoří ložiskové akumulace. V ekonomicky využitelných množstvích, se vyskytuje lithium ve třech paragenezích. </a:t>
            </a:r>
            <a:endParaRPr lang="cs-CZ" dirty="0"/>
          </a:p>
        </p:txBody>
      </p:sp>
      <p:sp>
        <p:nvSpPr>
          <p:cNvPr id="11" name="TextovéPole 10">
            <a:extLst>
              <a:ext uri="{FF2B5EF4-FFF2-40B4-BE49-F238E27FC236}">
                <a16:creationId xmlns="" xmlns:a16="http://schemas.microsoft.com/office/drawing/2014/main" id="{C11DA428-760B-2D6E-D219-4FEAB9B76232}"/>
              </a:ext>
            </a:extLst>
          </p:cNvPr>
          <p:cNvSpPr txBox="1"/>
          <p:nvPr/>
        </p:nvSpPr>
        <p:spPr>
          <a:xfrm>
            <a:off x="579812" y="1497225"/>
            <a:ext cx="11531832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s-CZ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V České republice v oblasti Krušných Hor se také nachází významný zdroj </a:t>
            </a:r>
            <a:r>
              <a:rPr lang="cs-CZ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lithia </a:t>
            </a:r>
            <a:r>
              <a:rPr lang="cs-CZ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(až 3 % světových zásob), po kterém v posledních letech s rozvojem elektroniky raketově roste poptávka. Jedním zdrojem jsou odkaliště po bývalé těžbě wolframu a cínu. </a:t>
            </a:r>
            <a:r>
              <a:rPr lang="cs-CZ" sz="1800" b="0" i="0" u="none" strike="noStrike" baseline="0" dirty="0">
                <a:solidFill>
                  <a:srgbClr val="000000"/>
                </a:solidFill>
                <a:highlight>
                  <a:srgbClr val="FFFF00"/>
                </a:highlight>
                <a:latin typeface="Times New Roman" panose="02020603050405020304" pitchFamily="18" charset="0"/>
              </a:rPr>
              <a:t>Separace </a:t>
            </a:r>
            <a:r>
              <a:rPr lang="cs-CZ" sz="1800" b="0" i="0" u="none" strike="noStrike" baseline="0" dirty="0" err="1">
                <a:solidFill>
                  <a:srgbClr val="000000"/>
                </a:solidFill>
                <a:highlight>
                  <a:srgbClr val="FFFF00"/>
                </a:highlight>
                <a:latin typeface="Times New Roman" panose="02020603050405020304" pitchFamily="18" charset="0"/>
              </a:rPr>
              <a:t>Li</a:t>
            </a:r>
            <a:r>
              <a:rPr lang="cs-CZ" sz="1800" b="0" i="0" u="none" strike="noStrike" baseline="0" dirty="0">
                <a:solidFill>
                  <a:srgbClr val="000000"/>
                </a:solidFill>
                <a:highlight>
                  <a:srgbClr val="FFFF00"/>
                </a:highlight>
                <a:latin typeface="Times New Roman" panose="02020603050405020304" pitchFamily="18" charset="0"/>
              </a:rPr>
              <a:t>-slídy (</a:t>
            </a:r>
            <a:r>
              <a:rPr lang="cs-CZ" sz="1800" b="0" i="0" u="none" strike="noStrike" baseline="0" dirty="0" err="1">
                <a:solidFill>
                  <a:srgbClr val="000000"/>
                </a:solidFill>
                <a:highlight>
                  <a:srgbClr val="FFFF00"/>
                </a:highlight>
                <a:latin typeface="Times New Roman" panose="02020603050405020304" pitchFamily="18" charset="0"/>
              </a:rPr>
              <a:t>cinvalditu</a:t>
            </a:r>
            <a:r>
              <a:rPr lang="cs-CZ" sz="1800" b="0" i="0" u="none" strike="noStrike" baseline="0" dirty="0">
                <a:solidFill>
                  <a:srgbClr val="000000"/>
                </a:solidFill>
                <a:highlight>
                  <a:srgbClr val="FFFF00"/>
                </a:highlight>
                <a:latin typeface="Times New Roman" panose="02020603050405020304" pitchFamily="18" charset="0"/>
              </a:rPr>
              <a:t>) z odkaliště </a:t>
            </a:r>
            <a:r>
              <a:rPr lang="cs-CZ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je poměrně jednoduchý proces a spočívá především v rozplavení písku a následné koncentraci tohoto minerálu na magnetických rozdružovačích, poněvadž slída z dané lokality obsahuje vyšší procento </a:t>
            </a:r>
            <a:r>
              <a:rPr lang="cs-CZ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Fe</a:t>
            </a:r>
            <a:r>
              <a:rPr lang="cs-CZ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. </a:t>
            </a:r>
          </a:p>
          <a:p>
            <a:r>
              <a:rPr lang="cs-CZ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Druhým zdrojem lithia jsou podzemní zásoby </a:t>
            </a:r>
            <a:r>
              <a:rPr lang="cs-CZ" sz="1800" b="0" i="0" u="none" strike="noStrike" baseline="0" dirty="0" err="1">
                <a:solidFill>
                  <a:srgbClr val="000000"/>
                </a:solidFill>
                <a:highlight>
                  <a:srgbClr val="FFFF00"/>
                </a:highlight>
                <a:latin typeface="Times New Roman" panose="02020603050405020304" pitchFamily="18" charset="0"/>
              </a:rPr>
              <a:t>cinvalditu</a:t>
            </a:r>
            <a:r>
              <a:rPr lang="cs-CZ" sz="1800" b="0" i="0" u="none" strike="noStrike" baseline="0" dirty="0">
                <a:solidFill>
                  <a:srgbClr val="000000"/>
                </a:solidFill>
                <a:highlight>
                  <a:srgbClr val="FFFF00"/>
                </a:highlight>
                <a:latin typeface="Times New Roman" panose="02020603050405020304" pitchFamily="18" charset="0"/>
              </a:rPr>
              <a:t> (KLiFe</a:t>
            </a:r>
            <a:r>
              <a:rPr lang="cs-CZ" sz="1100" b="0" i="0" u="none" strike="noStrike" baseline="0" dirty="0">
                <a:solidFill>
                  <a:srgbClr val="000000"/>
                </a:solidFill>
                <a:highlight>
                  <a:srgbClr val="FFFF00"/>
                </a:highlight>
                <a:latin typeface="Times New Roman" panose="02020603050405020304" pitchFamily="18" charset="0"/>
              </a:rPr>
              <a:t>2+</a:t>
            </a:r>
            <a:r>
              <a:rPr lang="cs-CZ" sz="1800" b="0" i="0" u="none" strike="noStrike" baseline="0" dirty="0">
                <a:solidFill>
                  <a:srgbClr val="000000"/>
                </a:solidFill>
                <a:highlight>
                  <a:srgbClr val="FFFF00"/>
                </a:highlight>
                <a:latin typeface="Times New Roman" panose="02020603050405020304" pitchFamily="18" charset="0"/>
              </a:rPr>
              <a:t>Al(AlSi</a:t>
            </a:r>
            <a:r>
              <a:rPr lang="cs-CZ" sz="1100" b="0" i="0" u="none" strike="noStrike" baseline="0" dirty="0">
                <a:solidFill>
                  <a:srgbClr val="000000"/>
                </a:solidFill>
                <a:highlight>
                  <a:srgbClr val="FFFF00"/>
                </a:highlight>
                <a:latin typeface="Times New Roman" panose="02020603050405020304" pitchFamily="18" charset="0"/>
              </a:rPr>
              <a:t>3</a:t>
            </a:r>
            <a:r>
              <a:rPr lang="cs-CZ" sz="1800" b="0" i="0" u="none" strike="noStrike" baseline="0" dirty="0">
                <a:solidFill>
                  <a:srgbClr val="000000"/>
                </a:solidFill>
                <a:highlight>
                  <a:srgbClr val="FFFF00"/>
                </a:highlight>
                <a:latin typeface="Times New Roman" panose="02020603050405020304" pitchFamily="18" charset="0"/>
              </a:rPr>
              <a:t>O</a:t>
            </a:r>
            <a:r>
              <a:rPr lang="cs-CZ" sz="1100" b="0" i="0" u="none" strike="noStrike" baseline="0" dirty="0">
                <a:solidFill>
                  <a:srgbClr val="000000"/>
                </a:solidFill>
                <a:highlight>
                  <a:srgbClr val="FFFF00"/>
                </a:highlight>
                <a:latin typeface="Times New Roman" panose="02020603050405020304" pitchFamily="18" charset="0"/>
              </a:rPr>
              <a:t>10</a:t>
            </a:r>
            <a:r>
              <a:rPr lang="cs-CZ" sz="1800" b="0" i="0" u="none" strike="noStrike" baseline="0" dirty="0">
                <a:solidFill>
                  <a:srgbClr val="000000"/>
                </a:solidFill>
                <a:highlight>
                  <a:srgbClr val="FFFF00"/>
                </a:highlight>
                <a:latin typeface="Times New Roman" panose="02020603050405020304" pitchFamily="18" charset="0"/>
              </a:rPr>
              <a:t>)(F,OH)</a:t>
            </a:r>
            <a:r>
              <a:rPr lang="cs-CZ" sz="1100" b="0" i="0" u="none" strike="noStrike" baseline="0" dirty="0">
                <a:solidFill>
                  <a:srgbClr val="000000"/>
                </a:solidFill>
                <a:highlight>
                  <a:srgbClr val="FFFF00"/>
                </a:highlight>
                <a:latin typeface="Times New Roman" panose="02020603050405020304" pitchFamily="18" charset="0"/>
              </a:rPr>
              <a:t>2</a:t>
            </a:r>
            <a:r>
              <a:rPr lang="cs-CZ" sz="1800" b="0" i="0" u="none" strike="noStrike" baseline="0" dirty="0">
                <a:solidFill>
                  <a:srgbClr val="000000"/>
                </a:solidFill>
                <a:highlight>
                  <a:srgbClr val="FFFF00"/>
                </a:highlight>
                <a:latin typeface="Times New Roman" panose="02020603050405020304" pitchFamily="18" charset="0"/>
              </a:rPr>
              <a:t>), které by se musely dobývat hlubinnou těžbou. </a:t>
            </a:r>
            <a:r>
              <a:rPr lang="cs-CZ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Na české straně Krušných hor se nachází přibližně dvě třetiny těchto zásob, zbytek leží na území Německa v okolí </a:t>
            </a:r>
            <a:r>
              <a:rPr lang="cs-CZ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Altenbergu</a:t>
            </a:r>
            <a:r>
              <a:rPr lang="cs-CZ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. </a:t>
            </a:r>
          </a:p>
          <a:p>
            <a:r>
              <a:rPr lang="cs-CZ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Úpravou vytěžené suroviny lze dosáhnout kovnatosti </a:t>
            </a:r>
            <a:r>
              <a:rPr lang="cs-CZ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Li</a:t>
            </a:r>
            <a:r>
              <a:rPr lang="cs-CZ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-koncentrátu 1,2-1,4 %. Lithium obsažené v lithné slídě je pak třeba převést na uhličitan lithný (Li</a:t>
            </a:r>
            <a:r>
              <a:rPr lang="cs-CZ" sz="11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lang="cs-CZ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CO</a:t>
            </a:r>
            <a:r>
              <a:rPr lang="cs-CZ" sz="11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3</a:t>
            </a:r>
            <a:r>
              <a:rPr lang="cs-CZ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) o vysoké čistotě, se kterým pak lze obchodovat. Uhličitan lithný lze z tohoto koncentrátu získat dvěma způsoby a to </a:t>
            </a:r>
            <a:r>
              <a:rPr lang="cs-CZ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spékáním </a:t>
            </a:r>
            <a:r>
              <a:rPr lang="cs-CZ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nebo </a:t>
            </a:r>
            <a:r>
              <a:rPr lang="cs-CZ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chemickým loužením</a:t>
            </a:r>
            <a:r>
              <a:rPr lang="cs-CZ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. </a:t>
            </a:r>
          </a:p>
          <a:p>
            <a:r>
              <a:rPr lang="cs-CZ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První metodou je koncentrát spékán za vysoké teploty (950°C) spolu s přísadami (CaSO</a:t>
            </a:r>
            <a:r>
              <a:rPr lang="cs-CZ" sz="11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4</a:t>
            </a:r>
            <a:r>
              <a:rPr lang="cs-CZ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, </a:t>
            </a:r>
            <a:r>
              <a:rPr lang="cs-CZ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CaO</a:t>
            </a:r>
            <a:r>
              <a:rPr lang="cs-CZ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nebo Ca(OH)</a:t>
            </a:r>
            <a:r>
              <a:rPr lang="cs-CZ" sz="11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lang="cs-CZ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). </a:t>
            </a:r>
            <a:r>
              <a:rPr lang="cs-CZ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Spečenec</a:t>
            </a:r>
            <a:r>
              <a:rPr lang="cs-CZ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je pak rozpouštěn ve vodě, kde je Li</a:t>
            </a:r>
            <a:r>
              <a:rPr lang="cs-CZ" sz="11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lang="cs-CZ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CO</a:t>
            </a:r>
            <a:r>
              <a:rPr lang="cs-CZ" sz="11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3 </a:t>
            </a:r>
            <a:r>
              <a:rPr lang="cs-CZ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a také Rb</a:t>
            </a:r>
            <a:r>
              <a:rPr lang="cs-CZ" sz="11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lang="cs-CZ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CO</a:t>
            </a:r>
            <a:r>
              <a:rPr lang="cs-CZ" sz="11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3</a:t>
            </a:r>
            <a:r>
              <a:rPr lang="cs-CZ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, poněvadž koncentrát obsahuje také rubidium, vysrážen pomocí K</a:t>
            </a:r>
            <a:r>
              <a:rPr lang="cs-CZ" sz="11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lang="cs-CZ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CO</a:t>
            </a:r>
            <a:r>
              <a:rPr lang="cs-CZ" sz="11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3 </a:t>
            </a:r>
            <a:r>
              <a:rPr lang="cs-CZ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nebo Na</a:t>
            </a:r>
            <a:r>
              <a:rPr lang="cs-CZ" sz="11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lang="cs-CZ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CO</a:t>
            </a:r>
            <a:r>
              <a:rPr lang="cs-CZ" sz="11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3 </a:t>
            </a:r>
            <a:r>
              <a:rPr lang="cs-CZ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ze vzniklých rafinovaných síranových výluhů. </a:t>
            </a:r>
          </a:p>
          <a:p>
            <a:r>
              <a:rPr lang="cs-CZ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Druhou metodou je chemické loužení v minerálních kyselinách (H</a:t>
            </a:r>
            <a:r>
              <a:rPr lang="cs-CZ" sz="11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lang="cs-CZ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SO</a:t>
            </a:r>
            <a:r>
              <a:rPr lang="cs-CZ" sz="11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4 </a:t>
            </a:r>
            <a:r>
              <a:rPr lang="cs-CZ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nebo </a:t>
            </a:r>
            <a:r>
              <a:rPr lang="cs-CZ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HCl</a:t>
            </a:r>
            <a:r>
              <a:rPr lang="cs-CZ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), kdy se pak ze vzniklého výluhu oddělují sloučeniny </a:t>
            </a:r>
            <a:r>
              <a:rPr lang="cs-CZ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Li</a:t>
            </a:r>
            <a:r>
              <a:rPr lang="cs-CZ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a dalších kovů jako K, </a:t>
            </a:r>
            <a:r>
              <a:rPr lang="cs-CZ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Fe</a:t>
            </a:r>
            <a:r>
              <a:rPr lang="cs-CZ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, Al a jiné. </a:t>
            </a:r>
          </a:p>
          <a:p>
            <a:r>
              <a:rPr lang="cs-CZ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V případě zahájení těžby </a:t>
            </a:r>
            <a:r>
              <a:rPr lang="cs-CZ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cinvalditu</a:t>
            </a:r>
            <a:r>
              <a:rPr lang="cs-CZ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se předpokládá také úprava těžené suroviny za účelem získávání wolframu a cínu. 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7341737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ázek 4" descr="Obsah obrázku exteriér, pobřeží&#10;&#10;Popis byl vytvořen automaticky">
            <a:extLst>
              <a:ext uri="{FF2B5EF4-FFF2-40B4-BE49-F238E27FC236}">
                <a16:creationId xmlns="" xmlns:a16="http://schemas.microsoft.com/office/drawing/2014/main" id="{191E9784-41C7-1CB9-7490-AB4F3FC49A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5681" y="938622"/>
            <a:ext cx="7980638" cy="4491045"/>
          </a:xfrm>
          <a:prstGeom prst="rect">
            <a:avLst/>
          </a:prstGeom>
        </p:spPr>
      </p:pic>
      <p:sp>
        <p:nvSpPr>
          <p:cNvPr id="6" name="TextovéPole 5">
            <a:extLst>
              <a:ext uri="{FF2B5EF4-FFF2-40B4-BE49-F238E27FC236}">
                <a16:creationId xmlns="" xmlns:a16="http://schemas.microsoft.com/office/drawing/2014/main" id="{C419E81B-F53E-B878-D153-2004F7B4F6E2}"/>
              </a:ext>
            </a:extLst>
          </p:cNvPr>
          <p:cNvSpPr txBox="1"/>
          <p:nvPr/>
        </p:nvSpPr>
        <p:spPr>
          <a:xfrm>
            <a:off x="4623705" y="202179"/>
            <a:ext cx="29445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Te</a:t>
            </a:r>
            <a:r>
              <a:rPr lang="cs-CZ" sz="2400" dirty="0" err="1"/>
              <a:t>žba</a:t>
            </a:r>
            <a:r>
              <a:rPr lang="cs-CZ" sz="2400" dirty="0"/>
              <a:t> lithia</a:t>
            </a:r>
            <a:r>
              <a:rPr lang="en-US" sz="2400" dirty="0"/>
              <a:t> ze </a:t>
            </a:r>
            <a:r>
              <a:rPr lang="en-US" sz="2400" dirty="0" err="1"/>
              <a:t>solanek</a:t>
            </a:r>
            <a:endParaRPr lang="cs-CZ" sz="2400" dirty="0"/>
          </a:p>
        </p:txBody>
      </p:sp>
      <p:sp>
        <p:nvSpPr>
          <p:cNvPr id="8" name="TextovéPole 7">
            <a:extLst>
              <a:ext uri="{FF2B5EF4-FFF2-40B4-BE49-F238E27FC236}">
                <a16:creationId xmlns="" xmlns:a16="http://schemas.microsoft.com/office/drawing/2014/main" id="{1C8724BD-DB60-2241-468D-6BAF74C461C5}"/>
              </a:ext>
            </a:extLst>
          </p:cNvPr>
          <p:cNvSpPr txBox="1"/>
          <p:nvPr/>
        </p:nvSpPr>
        <p:spPr>
          <a:xfrm>
            <a:off x="3414453" y="5979222"/>
            <a:ext cx="60973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s-CZ" dirty="0"/>
              <a:t>T</a:t>
            </a:r>
            <a:r>
              <a:rPr lang="en-US" dirty="0" err="1"/>
              <a:t>esla</a:t>
            </a:r>
            <a:r>
              <a:rPr lang="en-US" dirty="0"/>
              <a:t> Model S, for example, uses around 12 kg of lithium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0776317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ázek 4">
            <a:extLst>
              <a:ext uri="{FF2B5EF4-FFF2-40B4-BE49-F238E27FC236}">
                <a16:creationId xmlns="" xmlns:a16="http://schemas.microsoft.com/office/drawing/2014/main" id="{05C40FFA-192A-52B1-75B5-0689B641DF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7425" y="342900"/>
            <a:ext cx="7677150" cy="617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93112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ázek 4">
            <a:extLst>
              <a:ext uri="{FF2B5EF4-FFF2-40B4-BE49-F238E27FC236}">
                <a16:creationId xmlns="" xmlns:a16="http://schemas.microsoft.com/office/drawing/2014/main" id="{8B2746E1-621F-D286-9E48-EFBA3CFE2A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321" y="909735"/>
            <a:ext cx="5105349" cy="5323114"/>
          </a:xfrm>
          <a:prstGeom prst="rect">
            <a:avLst/>
          </a:prstGeom>
        </p:spPr>
      </p:pic>
      <p:sp>
        <p:nvSpPr>
          <p:cNvPr id="7" name="TextovéPole 6">
            <a:extLst>
              <a:ext uri="{FF2B5EF4-FFF2-40B4-BE49-F238E27FC236}">
                <a16:creationId xmlns="" xmlns:a16="http://schemas.microsoft.com/office/drawing/2014/main" id="{735F6F1F-3516-D594-4D42-A1BCEDD8BA03}"/>
              </a:ext>
            </a:extLst>
          </p:cNvPr>
          <p:cNvSpPr txBox="1"/>
          <p:nvPr/>
        </p:nvSpPr>
        <p:spPr>
          <a:xfrm>
            <a:off x="6501571" y="2274839"/>
            <a:ext cx="491991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s-CZ" dirty="0"/>
              <a:t>Lithiové akumulátory jsou akumulátory s bezvodým elektrolytem (na rozdíl od například olověných akumulátorů), využívající pro kladnou elektrodu lithium-kobalt oxid (LiCoO</a:t>
            </a:r>
            <a:r>
              <a:rPr lang="cs-CZ" baseline="-25000" dirty="0"/>
              <a:t>2</a:t>
            </a:r>
            <a:r>
              <a:rPr lang="cs-CZ" dirty="0"/>
              <a:t>), lithium-mangan oxid (LixMn</a:t>
            </a:r>
            <a:r>
              <a:rPr lang="cs-CZ" baseline="-25000" dirty="0"/>
              <a:t>2</a:t>
            </a:r>
            <a:r>
              <a:rPr lang="cs-CZ" dirty="0"/>
              <a:t>O</a:t>
            </a:r>
            <a:r>
              <a:rPr lang="cs-CZ" baseline="-25000" dirty="0"/>
              <a:t>4</a:t>
            </a:r>
            <a:r>
              <a:rPr lang="cs-CZ" dirty="0"/>
              <a:t>), lithium-nikl dioxid (LiNiO</a:t>
            </a:r>
            <a:r>
              <a:rPr lang="cs-CZ" baseline="-25000" dirty="0"/>
              <a:t>2</a:t>
            </a:r>
            <a:r>
              <a:rPr lang="cs-CZ" dirty="0"/>
              <a:t>) a další, například lithium-vanad oxid (LiV</a:t>
            </a:r>
            <a:r>
              <a:rPr lang="cs-CZ" baseline="-25000" dirty="0"/>
              <a:t>2</a:t>
            </a:r>
            <a:r>
              <a:rPr lang="cs-CZ" dirty="0"/>
              <a:t>O</a:t>
            </a:r>
            <a:r>
              <a:rPr lang="cs-CZ" baseline="-25000" dirty="0"/>
              <a:t>5</a:t>
            </a:r>
            <a:r>
              <a:rPr lang="cs-CZ" dirty="0"/>
              <a:t>). Elektrolytem je nejčastěji lithium </a:t>
            </a:r>
            <a:r>
              <a:rPr lang="cs-CZ" dirty="0" err="1"/>
              <a:t>hexaflorofosfát</a:t>
            </a:r>
            <a:r>
              <a:rPr lang="cs-CZ" dirty="0"/>
              <a:t>, LiPF</a:t>
            </a:r>
            <a:r>
              <a:rPr lang="cs-CZ" baseline="-25000" dirty="0"/>
              <a:t>6</a:t>
            </a:r>
            <a:r>
              <a:rPr lang="cs-CZ" dirty="0"/>
              <a:t>, v nepolárním organickém rozpouštědle a záporná elektroda je vyrobena z uhlíkového materiálu.</a:t>
            </a:r>
          </a:p>
        </p:txBody>
      </p:sp>
    </p:spTree>
    <p:extLst>
      <p:ext uri="{BB962C8B-B14F-4D97-AF65-F5344CB8AC3E}">
        <p14:creationId xmlns:p14="http://schemas.microsoft.com/office/powerpoint/2010/main" val="5600801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ázek 4">
            <a:extLst>
              <a:ext uri="{FF2B5EF4-FFF2-40B4-BE49-F238E27FC236}">
                <a16:creationId xmlns="" xmlns:a16="http://schemas.microsoft.com/office/drawing/2014/main" id="{5F926B9B-374B-CED5-160D-D38B74686AC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2872" y="244872"/>
            <a:ext cx="8268393" cy="4363936"/>
          </a:xfrm>
          <a:prstGeom prst="rect">
            <a:avLst/>
          </a:prstGeom>
        </p:spPr>
      </p:pic>
      <p:sp>
        <p:nvSpPr>
          <p:cNvPr id="7" name="TextovéPole 6">
            <a:extLst>
              <a:ext uri="{FF2B5EF4-FFF2-40B4-BE49-F238E27FC236}">
                <a16:creationId xmlns="" xmlns:a16="http://schemas.microsoft.com/office/drawing/2014/main" id="{10D74814-D394-59AE-77E1-3B10208754CD}"/>
              </a:ext>
            </a:extLst>
          </p:cNvPr>
          <p:cNvSpPr txBox="1"/>
          <p:nvPr/>
        </p:nvSpPr>
        <p:spPr>
          <a:xfrm>
            <a:off x="862445" y="4933004"/>
            <a:ext cx="1018516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Comparisons of different types of Li-ion batteries used in EVs from the following perspectives: specific energy (capacity), specific power, safety, performance, life span, and cost (the outer hexagon is most desirable). Lithium Nickel Manganese Cobalt Oxide (NMC), Lithium Iron Phosphate (LiFePO</a:t>
            </a:r>
            <a:r>
              <a:rPr lang="en-US" baseline="-25000" dirty="0"/>
              <a:t>4</a:t>
            </a:r>
            <a:r>
              <a:rPr lang="en-US" dirty="0"/>
              <a:t>) and Lithium Manganese Oxide stand out as being superior among these six candidates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5521825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ázek 4">
            <a:extLst>
              <a:ext uri="{FF2B5EF4-FFF2-40B4-BE49-F238E27FC236}">
                <a16:creationId xmlns="" xmlns:a16="http://schemas.microsoft.com/office/drawing/2014/main" id="{0D564E38-50E1-3932-50DF-5E116A5F21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2548" y="689866"/>
            <a:ext cx="5909984" cy="3451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44323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4414" y="402752"/>
            <a:ext cx="8137433" cy="5413162"/>
          </a:xfrm>
          <a:prstGeom prst="rect">
            <a:avLst/>
          </a:prstGeom>
        </p:spPr>
      </p:pic>
      <p:sp>
        <p:nvSpPr>
          <p:cNvPr id="5" name="Obdélník 4"/>
          <p:cNvSpPr/>
          <p:nvPr/>
        </p:nvSpPr>
        <p:spPr>
          <a:xfrm>
            <a:off x="5645503" y="6218194"/>
            <a:ext cx="9669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err="1" smtClean="0">
                <a:solidFill>
                  <a:srgbClr val="000000"/>
                </a:solidFill>
                <a:latin typeface="Times New Roman" panose="02020603050405020304" pitchFamily="18" charset="0"/>
              </a:rPr>
              <a:t>LiFePO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21534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6054" y="1506287"/>
            <a:ext cx="9087227" cy="5018080"/>
          </a:xfrm>
          <a:prstGeom prst="rect">
            <a:avLst/>
          </a:prstGeom>
        </p:spPr>
      </p:pic>
      <p:sp>
        <p:nvSpPr>
          <p:cNvPr id="5" name="TextovéPole 4">
            <a:extLst>
              <a:ext uri="{FF2B5EF4-FFF2-40B4-BE49-F238E27FC236}">
                <a16:creationId xmlns="" xmlns:a16="http://schemas.microsoft.com/office/drawing/2014/main" id="{C419E81B-F53E-B878-D153-2004F7B4F6E2}"/>
              </a:ext>
            </a:extLst>
          </p:cNvPr>
          <p:cNvSpPr txBox="1"/>
          <p:nvPr/>
        </p:nvSpPr>
        <p:spPr>
          <a:xfrm>
            <a:off x="4623705" y="202179"/>
            <a:ext cx="244105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Z</a:t>
            </a:r>
            <a:r>
              <a:rPr lang="cs-CZ" sz="2400" dirty="0" err="1" smtClean="0"/>
              <a:t>áklady</a:t>
            </a:r>
            <a:r>
              <a:rPr lang="cs-CZ" sz="2400" dirty="0" smtClean="0"/>
              <a:t> ekonomie</a:t>
            </a:r>
          </a:p>
          <a:p>
            <a:r>
              <a:rPr lang="cs-CZ" sz="2400" dirty="0" smtClean="0"/>
              <a:t>  Komoditní trhy</a:t>
            </a:r>
            <a:endParaRPr lang="cs-CZ" sz="2400" dirty="0"/>
          </a:p>
        </p:txBody>
      </p:sp>
    </p:spTree>
    <p:extLst>
      <p:ext uri="{BB962C8B-B14F-4D97-AF65-F5344CB8AC3E}">
        <p14:creationId xmlns:p14="http://schemas.microsoft.com/office/powerpoint/2010/main" val="18486374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6863" y="423443"/>
            <a:ext cx="7878274" cy="6011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56922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4983" y="1394346"/>
            <a:ext cx="5461399" cy="3716334"/>
          </a:xfrm>
          <a:prstGeom prst="rect">
            <a:avLst/>
          </a:prstGeom>
        </p:spPr>
      </p:pic>
      <p:pic>
        <p:nvPicPr>
          <p:cNvPr id="5" name="Obrázek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460" y="1394346"/>
            <a:ext cx="5927455" cy="3654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13357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ázek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0599" y="666364"/>
            <a:ext cx="8430802" cy="5525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4170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ázek 4">
            <a:extLst>
              <a:ext uri="{FF2B5EF4-FFF2-40B4-BE49-F238E27FC236}">
                <a16:creationId xmlns="" xmlns:a16="http://schemas.microsoft.com/office/drawing/2014/main" id="{AEA144B4-C5DE-FB3F-831E-00680711E2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0" y="209550"/>
            <a:ext cx="4572000" cy="643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6828267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E47267797169E4EA4B4F543CAD0F29A" ma:contentTypeVersion="3" ma:contentTypeDescription="Create a new document." ma:contentTypeScope="" ma:versionID="88dfb9126fe3349cdfb5a2af86e4995f">
  <xsd:schema xmlns:xsd="http://www.w3.org/2001/XMLSchema" xmlns:xs="http://www.w3.org/2001/XMLSchema" xmlns:p="http://schemas.microsoft.com/office/2006/metadata/properties" xmlns:ns2="1dbb0f5a-15a2-44f2-9f9d-37cd9ee36e48" targetNamespace="http://schemas.microsoft.com/office/2006/metadata/properties" ma:root="true" ma:fieldsID="1cf404747b80bec829e5ea8ce0444fb5" ns2:_="">
    <xsd:import namespace="1dbb0f5a-15a2-44f2-9f9d-37cd9ee36e4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dbb0f5a-15a2-44f2-9f9d-37cd9ee36e4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D29A3C5-AEC8-4DF8-A9B3-202934ABA4F0}"/>
</file>

<file path=customXml/itemProps2.xml><?xml version="1.0" encoding="utf-8"?>
<ds:datastoreItem xmlns:ds="http://schemas.openxmlformats.org/officeDocument/2006/customXml" ds:itemID="{57DC9B56-E28A-4261-BD2F-343A5412DDF8}"/>
</file>

<file path=customXml/itemProps3.xml><?xml version="1.0" encoding="utf-8"?>
<ds:datastoreItem xmlns:ds="http://schemas.openxmlformats.org/officeDocument/2006/customXml" ds:itemID="{CB7EC5F1-CFDF-407E-8BA0-B64BA996B716}"/>
</file>

<file path=docProps/app.xml><?xml version="1.0" encoding="utf-8"?>
<Properties xmlns="http://schemas.openxmlformats.org/officeDocument/2006/extended-properties" xmlns:vt="http://schemas.openxmlformats.org/officeDocument/2006/docPropsVTypes">
  <TotalTime>2621</TotalTime>
  <Words>427</Words>
  <Application>Microsoft Office PowerPoint</Application>
  <PresentationFormat>Širokoúhlá obrazovka</PresentationFormat>
  <Paragraphs>14</Paragraphs>
  <Slides>15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4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Times New Roman</vt:lpstr>
      <vt:lpstr>Motiv Office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Prezentace aplikace PowerPoint</dc:title>
  <dc:creator>Jiří Pospíšil</dc:creator>
  <cp:lastModifiedBy>Účet Microsoft</cp:lastModifiedBy>
  <cp:revision>15</cp:revision>
  <dcterms:created xsi:type="dcterms:W3CDTF">2022-12-14T12:46:06Z</dcterms:created>
  <dcterms:modified xsi:type="dcterms:W3CDTF">2023-12-15T11:55:20Z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0x010100DE47267797169E4EA4B4F543CAD0F29A</vt:lpwstr>
  </property>
</Properties>
</file>