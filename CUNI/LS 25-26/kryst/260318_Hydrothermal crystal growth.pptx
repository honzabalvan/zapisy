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7" r:id="rId8"/>
    <p:sldId id="272" r:id="rId9"/>
    <p:sldId id="264" r:id="rId10"/>
    <p:sldId id="269" r:id="rId11"/>
    <p:sldId id="266" r:id="rId12"/>
    <p:sldId id="268" r:id="rId13"/>
    <p:sldId id="265" r:id="rId14"/>
    <p:sldId id="270" r:id="rId15"/>
    <p:sldId id="271" r:id="rId16"/>
    <p:sldId id="273" r:id="rId17"/>
    <p:sldId id="274" r:id="rId18"/>
    <p:sldId id="275" r:id="rId19"/>
    <p:sldId id="277" r:id="rId20"/>
    <p:sldId id="287" r:id="rId21"/>
    <p:sldId id="286" r:id="rId22"/>
    <p:sldId id="288" r:id="rId23"/>
    <p:sldId id="278" r:id="rId24"/>
    <p:sldId id="279" r:id="rId25"/>
    <p:sldId id="280" r:id="rId26"/>
    <p:sldId id="282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1" autoAdjust="0"/>
    <p:restoredTop sz="94660"/>
  </p:normalViewPr>
  <p:slideViewPr>
    <p:cSldViewPr snapToGrid="0">
      <p:cViewPr>
        <p:scale>
          <a:sx n="75" d="100"/>
          <a:sy n="75" d="100"/>
        </p:scale>
        <p:origin x="1890" y="8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1F841-DFAA-4881-8C15-A5807534C2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E048CD-02F3-4F9E-B934-13635CDB96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30A3B9-4FE5-43BA-A8D7-AB4C75A8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5253C-ACC6-4DFB-977B-4445F7C64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49A68-F22E-4D82-9434-A2AEC851C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225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3C53A-4F1C-40E0-8DE9-C4F6C40BF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C67671-C315-4DDD-8EC3-16BBCD3D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0D136-4CE0-47B4-B9D5-303551A7B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3E8C1-EA37-4263-9D97-4BB067248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75D86-79C5-4033-89A4-F72EED0D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54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761F-4A58-4DA9-B494-A1295A8D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D0767A-56E6-4F0E-A953-54D3A812D9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6FF4F-E897-4495-A071-A7B66FFD4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C45D8-A7D2-4C79-9E90-A61050146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B764E-1138-480C-91AD-92AD402F5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29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83E9D-EF1E-4A62-B3A5-34402F889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9A8F2-75E5-4A5F-A0DF-7585A6A2B7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95A11-F338-4370-B4B6-3C9D154DE8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57FFC-F856-4D61-9A34-1EA4076E2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15BB1-54A3-46D8-91A7-C03D0228C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1BA880-84DD-493F-874F-5CE0BD679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44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FFA4-3D05-4DFF-B0FE-20850A704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3F823-499C-4A4F-83F2-13FD737E2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C8C95-D601-45CD-948F-080B1B7006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705F02-54CC-406E-9F4F-9AD77C9BC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6DE523-EA02-4B61-887E-AABFD2870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DEC8F5-9102-44B8-A5AC-97FC4A372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6F937E-21AF-4BE5-8683-C0B649B8B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6C263D-921A-4FF2-8242-C5321CBE2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964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4766-7DBB-4719-BE7B-53DCE5354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87890-AAF6-46A9-A4A7-BDFE659EC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0ACD04-1F7F-44C6-BCE7-03024ED96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AEF06-1E13-4FD3-8A2F-AD15D8408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68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EE332A-2F36-4693-B68D-3ED05FD2F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AE4A6-1B7D-4154-A608-6E4E39B7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5491C8-4E67-4741-9A10-DCA392414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902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78BE-80BF-4DF0-AC40-4C0E9D94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25E4-974D-41B0-BC6A-D7CB65C05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EE3F6-AF1F-44A3-B34D-19B292C959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3257D-FB07-4306-8EEC-4282B01F9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BE7D8-39A9-440C-A82A-ED486F19D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5CE25-85D1-45C9-B38B-101BDC247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7424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53A6-8F55-442B-87B6-6BF33E919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3257A3-BADA-44ED-89EE-5FF0E415F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7ED223-1B19-4008-83F3-2A96CCD013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D6A25-E648-4EBB-9C8C-1654E48F8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73688-87D7-478A-9903-DF39219E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0BA045-C837-42AB-B036-8264FA11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076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DBFE2-1851-4FCB-B998-7A121EA9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836A4-A199-404E-AA6D-BCE04EAE64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F29B8-4FC1-4538-BCA5-266CA0799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65C83-3640-464F-A10C-A80C53D80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193C9-0904-465C-B1C3-334EE5C48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5210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53B57-A9BA-4950-AF06-6D82A2A9F9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C273F3-20A1-403F-B546-B29543AB62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5D6C6-970F-46F5-8833-DF9F127C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5A5BA-7CA4-413E-BF29-0C44BF4F6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0B65F6-2C91-4622-AA47-9D1B0FED7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605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2E23B6-1148-4FE9-B48C-3326B194D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F24C7E-66DD-4975-882F-A8C7F0C147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FA10F-5924-4229-8BC0-F20BFA2186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5B87C-8390-49C3-B64D-F681F946D80C}" type="datetimeFigureOut">
              <a:rPr lang="en-GB" smtClean="0"/>
              <a:t>24/05/2023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56400-2720-4927-9B2E-827B1F7A8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2DC7F-70F4-42C5-94D7-2DDAAF068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F5F17-3A29-4D16-84DB-34CC13430C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4791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jpeg"/><Relationship Id="rId5" Type="http://schemas.openxmlformats.org/officeDocument/2006/relationships/image" Target="../media/image34.jpeg"/><Relationship Id="rId4" Type="http://schemas.openxmlformats.org/officeDocument/2006/relationships/image" Target="../media/image36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4F2731CD-0594-4B59-975C-F5ED9379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8" y="-17504"/>
            <a:ext cx="10979712" cy="6862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81671D-51ED-452B-8513-1353A0C91CD9}"/>
              </a:ext>
            </a:extLst>
          </p:cNvPr>
          <p:cNvSpPr txBox="1"/>
          <p:nvPr/>
        </p:nvSpPr>
        <p:spPr>
          <a:xfrm>
            <a:off x="3582908" y="274306"/>
            <a:ext cx="5026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B0F0"/>
                </a:solidFill>
              </a:rPr>
              <a:t>Hydro</a:t>
            </a:r>
            <a:r>
              <a:rPr lang="en-GB" sz="3200" b="1" dirty="0">
                <a:solidFill>
                  <a:srgbClr val="FF0000"/>
                </a:solidFill>
              </a:rPr>
              <a:t>thermal</a:t>
            </a:r>
            <a:r>
              <a:rPr lang="en-GB" sz="3200" dirty="0"/>
              <a:t> crystal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77089-15F7-40F7-9684-F01D56F8F65C}"/>
              </a:ext>
            </a:extLst>
          </p:cNvPr>
          <p:cNvSpPr txBox="1"/>
          <p:nvPr/>
        </p:nvSpPr>
        <p:spPr>
          <a:xfrm>
            <a:off x="872067" y="1697566"/>
            <a:ext cx="9727406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What is hydrothermal crystal growth?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 brief history of hydrothermal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An industrial example - Quartz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3187927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8" y="-17504"/>
            <a:ext cx="10979712" cy="6862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9EBA4FA-0B62-484D-96A9-2AA2544E5EA0}"/>
              </a:ext>
            </a:extLst>
          </p:cNvPr>
          <p:cNvSpPr txBox="1"/>
          <p:nvPr/>
        </p:nvSpPr>
        <p:spPr>
          <a:xfrm>
            <a:off x="283633" y="1278467"/>
            <a:ext cx="1315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Flux growth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EA0098-3C48-4BAA-83DD-CB1DBC26D32F}"/>
              </a:ext>
            </a:extLst>
          </p:cNvPr>
          <p:cNvSpPr/>
          <p:nvPr/>
        </p:nvSpPr>
        <p:spPr>
          <a:xfrm>
            <a:off x="3081866" y="1278467"/>
            <a:ext cx="89492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0" i="0" dirty="0">
                <a:solidFill>
                  <a:srgbClr val="222222"/>
                </a:solidFill>
                <a:effectLst/>
              </a:rPr>
              <a:t>is a method of crystal growth where the components of the desired substance are dissolved in a solvent (flux). The method is particularly suitable for crystals needing to be free from thermal strain. It takes place in a crucible made of highly stable, non-reactive material. 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C2A00-0341-4047-ADB2-907B72554E90}"/>
              </a:ext>
            </a:extLst>
          </p:cNvPr>
          <p:cNvSpPr txBox="1"/>
          <p:nvPr/>
        </p:nvSpPr>
        <p:spPr>
          <a:xfrm>
            <a:off x="2169934" y="2767324"/>
            <a:ext cx="8487132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b="1" dirty="0"/>
              <a:t>Problem:</a:t>
            </a:r>
          </a:p>
          <a:p>
            <a:pPr algn="ctr"/>
            <a:r>
              <a:rPr lang="en-GB" b="1" dirty="0"/>
              <a:t>Sometimes solubility is low at temperatures up to the (ambient pressure) boiling point.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B6FB25-E490-424F-BF19-712AB1DAD96F}"/>
              </a:ext>
            </a:extLst>
          </p:cNvPr>
          <p:cNvSpPr txBox="1"/>
          <p:nvPr/>
        </p:nvSpPr>
        <p:spPr>
          <a:xfrm>
            <a:off x="283633" y="3870530"/>
            <a:ext cx="2234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Solvothermal process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9A58E6-EDCF-4B66-8D6A-F8B51F5B4FC4}"/>
              </a:ext>
            </a:extLst>
          </p:cNvPr>
          <p:cNvSpPr/>
          <p:nvPr/>
        </p:nvSpPr>
        <p:spPr>
          <a:xfrm>
            <a:off x="3213218" y="3870530"/>
            <a:ext cx="894926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solvothermal process can be defined as a process in a closed reaction vessel inducing a decomposition or a chemical reaction(s) between precursor(s) in the presence of a solvent at a temperature higher than the boiling temperature of this solvent.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54137D-86D1-4B90-8440-EA8BB3549D47}"/>
              </a:ext>
            </a:extLst>
          </p:cNvPr>
          <p:cNvSpPr txBox="1"/>
          <p:nvPr/>
        </p:nvSpPr>
        <p:spPr>
          <a:xfrm>
            <a:off x="283633" y="5631596"/>
            <a:ext cx="22606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Hydrothermal growth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4CF8038-DD40-45A7-A5FC-89154F45A0E7}"/>
              </a:ext>
            </a:extLst>
          </p:cNvPr>
          <p:cNvSpPr/>
          <p:nvPr/>
        </p:nvSpPr>
        <p:spPr>
          <a:xfrm>
            <a:off x="3213218" y="5631596"/>
            <a:ext cx="894926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Is a subgroup of the solvothermal method, where water is the specific solvent.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89BC5F-7C1A-4CBB-970D-C515D361D178}"/>
              </a:ext>
            </a:extLst>
          </p:cNvPr>
          <p:cNvSpPr/>
          <p:nvPr/>
        </p:nvSpPr>
        <p:spPr>
          <a:xfrm>
            <a:off x="8702883" y="4738926"/>
            <a:ext cx="345960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sz="1100" dirty="0"/>
              <a:t>G. Demazeau, Zeitschrift Für Naturforsch. </a:t>
            </a:r>
            <a:r>
              <a:rPr lang="de-DE" sz="1100" b="1" dirty="0"/>
              <a:t>65</a:t>
            </a:r>
            <a:r>
              <a:rPr lang="de-DE" sz="1100" dirty="0"/>
              <a:t>, 999 (2010).</a:t>
            </a:r>
            <a:endParaRPr lang="en-GB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3274645" y="113270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What is hydrothermal crystal growth?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167280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  <p:bldP spid="8" grpId="0"/>
      <p:bldP spid="9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8" y="-17504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3274644" y="113270"/>
            <a:ext cx="79267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 brief history of hydrothermal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F1BA5D-17A4-43E8-8121-BDB43FDE1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021" y="1185451"/>
            <a:ext cx="4394200" cy="52437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333CD12-D853-4365-B34D-E36FCD8C5D1C}"/>
              </a:ext>
            </a:extLst>
          </p:cNvPr>
          <p:cNvSpPr/>
          <p:nvPr/>
        </p:nvSpPr>
        <p:spPr>
          <a:xfrm>
            <a:off x="386788" y="106737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>
                <a:solidFill>
                  <a:srgbClr val="222222"/>
                </a:solidFill>
                <a:latin typeface="Arial" panose="020B0604020202020204" pitchFamily="34" charset="0"/>
              </a:rPr>
              <a:t>Karl Emil von </a:t>
            </a:r>
            <a:r>
              <a:rPr lang="en-GB" dirty="0" err="1">
                <a:solidFill>
                  <a:srgbClr val="222222"/>
                </a:solidFill>
                <a:latin typeface="Arial" panose="020B0604020202020204" pitchFamily="34" charset="0"/>
              </a:rPr>
              <a:t>Schafhäutl</a:t>
            </a:r>
            <a:endParaRPr lang="en-GB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Royal Bavarian Academy of Sciences, </a:t>
            </a:r>
            <a:r>
              <a:rPr lang="en-GB" b="1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20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(1845) 557. </a:t>
            </a:r>
            <a:endParaRPr lang="en-GB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GB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GB" b="0" i="1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C382B9-4EB6-4027-9150-9EF733241170}"/>
              </a:ext>
            </a:extLst>
          </p:cNvPr>
          <p:cNvSpPr/>
          <p:nvPr/>
        </p:nvSpPr>
        <p:spPr>
          <a:xfrm>
            <a:off x="386788" y="1949887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GB" b="0" i="1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Bildeten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sich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aus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Wasser, in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welchen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ich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im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Papinianischen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Topfe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frisch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gefällte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Kieselsäure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aufgelöst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hatte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beym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Verdampfen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schon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nach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8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Tagen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Krystalle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die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zwar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mikroscopisch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aber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sehr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wohl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erkenntlich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aus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sechseitigen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Prismen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mit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derselben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gewöhnlichen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Pyramide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GB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bestanden</a:t>
            </a:r>
            <a:r>
              <a:rPr lang="en-GB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"</a:t>
            </a:r>
          </a:p>
          <a:p>
            <a:endParaRPr lang="en-GB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endParaRPr lang="en-GB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There formed from water in which I had dissolved freshly precipitated silicic acid in a </a:t>
            </a:r>
            <a:r>
              <a:rPr lang="en-GB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Papin</a:t>
            </a:r>
            <a:r>
              <a:rPr lang="en-GB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pot [pressure cooker], after just 8 days of evaporating, crystals, which albeit were microscopic but consisted of very easily recognizable six-sided prisms with their usual pyramids.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259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3274644" y="113270"/>
            <a:ext cx="792675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 brief history of hydrothermal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7B303-13A6-4F7F-B214-7E063000CCE6}"/>
              </a:ext>
            </a:extLst>
          </p:cNvPr>
          <p:cNvSpPr txBox="1"/>
          <p:nvPr/>
        </p:nvSpPr>
        <p:spPr>
          <a:xfrm>
            <a:off x="228600" y="1132246"/>
            <a:ext cx="4343400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Attempts by earth-scientists to copy and study mineral formation in the earth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C41270D-2070-4A56-B0E7-2A4E384DDD04}"/>
              </a:ext>
            </a:extLst>
          </p:cNvPr>
          <p:cNvCxnSpPr/>
          <p:nvPr/>
        </p:nvCxnSpPr>
        <p:spPr>
          <a:xfrm>
            <a:off x="381000" y="2794577"/>
            <a:ext cx="11049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DF2C2D71-DCE5-48BD-8094-D0CFF1E33682}"/>
              </a:ext>
            </a:extLst>
          </p:cNvPr>
          <p:cNvSpPr/>
          <p:nvPr/>
        </p:nvSpPr>
        <p:spPr>
          <a:xfrm>
            <a:off x="228600" y="2642177"/>
            <a:ext cx="807012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1840s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A68F44-DA3E-4C0D-8698-4CB76D392088}"/>
              </a:ext>
            </a:extLst>
          </p:cNvPr>
          <p:cNvSpPr/>
          <p:nvPr/>
        </p:nvSpPr>
        <p:spPr>
          <a:xfrm>
            <a:off x="591541" y="756288"/>
            <a:ext cx="28863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/>
              <a:t>Early years (~1840s – 1900s)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8C6B1CC-DF14-459B-9447-632167004055}"/>
              </a:ext>
            </a:extLst>
          </p:cNvPr>
          <p:cNvCxnSpPr>
            <a:cxnSpLocks/>
          </p:cNvCxnSpPr>
          <p:nvPr/>
        </p:nvCxnSpPr>
        <p:spPr>
          <a:xfrm>
            <a:off x="1212288" y="1778577"/>
            <a:ext cx="0" cy="10160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AC20D3DD-0FDA-458D-81C0-CC85E58B9DDB}"/>
              </a:ext>
            </a:extLst>
          </p:cNvPr>
          <p:cNvSpPr/>
          <p:nvPr/>
        </p:nvSpPr>
        <p:spPr>
          <a:xfrm>
            <a:off x="5626100" y="2642177"/>
            <a:ext cx="807012" cy="3048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dirty="0"/>
              <a:t>1900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6087C47-335F-4AC9-9518-C35C254F0AD4}"/>
              </a:ext>
            </a:extLst>
          </p:cNvPr>
          <p:cNvSpPr txBox="1"/>
          <p:nvPr/>
        </p:nvSpPr>
        <p:spPr>
          <a:xfrm>
            <a:off x="1447800" y="3911024"/>
            <a:ext cx="2336800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1851 H </a:t>
            </a:r>
            <a:r>
              <a:rPr lang="en-GB" dirty="0" err="1"/>
              <a:t>DeSenarmount</a:t>
            </a:r>
            <a:endParaRPr lang="en-GB" dirty="0"/>
          </a:p>
          <a:p>
            <a:r>
              <a:rPr lang="en-GB" dirty="0" err="1"/>
              <a:t>Sulfates</a:t>
            </a:r>
            <a:r>
              <a:rPr lang="en-GB" dirty="0"/>
              <a:t> and </a:t>
            </a:r>
            <a:r>
              <a:rPr lang="en-GB" dirty="0" err="1"/>
              <a:t>Sulfides</a:t>
            </a:r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05397C3-FE07-43D9-BAC0-7DB74AD48F09}"/>
              </a:ext>
            </a:extLst>
          </p:cNvPr>
          <p:cNvCxnSpPr>
            <a:cxnSpLocks/>
          </p:cNvCxnSpPr>
          <p:nvPr/>
        </p:nvCxnSpPr>
        <p:spPr>
          <a:xfrm>
            <a:off x="1828800" y="2794577"/>
            <a:ext cx="0" cy="109220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1EFE80B-033F-4A66-B093-190CD17A8DE6}"/>
              </a:ext>
            </a:extLst>
          </p:cNvPr>
          <p:cNvSpPr txBox="1"/>
          <p:nvPr/>
        </p:nvSpPr>
        <p:spPr>
          <a:xfrm>
            <a:off x="228600" y="4770133"/>
            <a:ext cx="2781300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1848 Bunsen</a:t>
            </a:r>
          </a:p>
          <a:p>
            <a:r>
              <a:rPr lang="en-GB" dirty="0"/>
              <a:t>Thick walled glass reactions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1FED9B3-CF7E-4673-A40E-A87477A38F03}"/>
              </a:ext>
            </a:extLst>
          </p:cNvPr>
          <p:cNvCxnSpPr>
            <a:cxnSpLocks/>
          </p:cNvCxnSpPr>
          <p:nvPr/>
        </p:nvCxnSpPr>
        <p:spPr>
          <a:xfrm>
            <a:off x="1346200" y="2794577"/>
            <a:ext cx="0" cy="197555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3939E983-00EC-4317-A13B-220F2A830E3E}"/>
              </a:ext>
            </a:extLst>
          </p:cNvPr>
          <p:cNvSpPr txBox="1"/>
          <p:nvPr/>
        </p:nvSpPr>
        <p:spPr>
          <a:xfrm>
            <a:off x="2487243" y="1930977"/>
            <a:ext cx="2962175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1857 </a:t>
            </a:r>
            <a:r>
              <a:rPr lang="en-GB" dirty="0" err="1"/>
              <a:t>Saubt</a:t>
            </a:r>
            <a:r>
              <a:rPr lang="en-GB" dirty="0"/>
              <a:t>-Claire Deville</a:t>
            </a:r>
          </a:p>
          <a:p>
            <a:r>
              <a:rPr lang="en-GB" dirty="0"/>
              <a:t>First use of a mineraliser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2A24FF-421A-46B4-B7CB-EED6E10EEACC}"/>
              </a:ext>
            </a:extLst>
          </p:cNvPr>
          <p:cNvSpPr txBox="1"/>
          <p:nvPr/>
        </p:nvSpPr>
        <p:spPr>
          <a:xfrm>
            <a:off x="2692401" y="3182611"/>
            <a:ext cx="2962175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1873 Von </a:t>
            </a:r>
            <a:r>
              <a:rPr lang="en-GB" dirty="0" err="1"/>
              <a:t>Chrustschoff</a:t>
            </a:r>
            <a:endParaRPr lang="en-GB" dirty="0"/>
          </a:p>
          <a:p>
            <a:r>
              <a:rPr lang="en-GB" dirty="0"/>
              <a:t>Use of lined reaction vessels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FDB485-EFAC-49A7-93E1-66472AB047EE}"/>
              </a:ext>
            </a:extLst>
          </p:cNvPr>
          <p:cNvCxnSpPr>
            <a:cxnSpLocks/>
          </p:cNvCxnSpPr>
          <p:nvPr/>
        </p:nvCxnSpPr>
        <p:spPr>
          <a:xfrm>
            <a:off x="2796540" y="2577308"/>
            <a:ext cx="0" cy="217269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CA808A2-6469-416C-9C47-151CF66D19DB}"/>
              </a:ext>
            </a:extLst>
          </p:cNvPr>
          <p:cNvCxnSpPr>
            <a:cxnSpLocks/>
          </p:cNvCxnSpPr>
          <p:nvPr/>
        </p:nvCxnSpPr>
        <p:spPr>
          <a:xfrm>
            <a:off x="3162300" y="2794577"/>
            <a:ext cx="0" cy="38803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8874C6A-8CD6-44BC-AFC8-3B885F731F4A}"/>
              </a:ext>
            </a:extLst>
          </p:cNvPr>
          <p:cNvCxnSpPr>
            <a:cxnSpLocks/>
          </p:cNvCxnSpPr>
          <p:nvPr/>
        </p:nvCxnSpPr>
        <p:spPr>
          <a:xfrm>
            <a:off x="4434840" y="2794577"/>
            <a:ext cx="0" cy="1876483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BA60F0B-AD03-446A-9F5A-2BD547D3002D}"/>
              </a:ext>
            </a:extLst>
          </p:cNvPr>
          <p:cNvSpPr txBox="1"/>
          <p:nvPr/>
        </p:nvSpPr>
        <p:spPr>
          <a:xfrm>
            <a:off x="3881121" y="4671060"/>
            <a:ext cx="3639818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1891 Friedel</a:t>
            </a:r>
          </a:p>
          <a:p>
            <a:r>
              <a:rPr lang="en-GB" dirty="0"/>
              <a:t>High temp. synthesis of </a:t>
            </a:r>
            <a:r>
              <a:rPr lang="en-GB" dirty="0" err="1"/>
              <a:t>corrundum</a:t>
            </a:r>
            <a:endParaRPr lang="en-GB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F840A2F-2CB5-4D0F-95A6-F78B62E2E8FD}"/>
              </a:ext>
            </a:extLst>
          </p:cNvPr>
          <p:cNvCxnSpPr>
            <a:cxnSpLocks/>
          </p:cNvCxnSpPr>
          <p:nvPr/>
        </p:nvCxnSpPr>
        <p:spPr>
          <a:xfrm flipH="1" flipV="1">
            <a:off x="7279105" y="2213811"/>
            <a:ext cx="869482" cy="580766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12BA49C-69BC-4DB6-8974-E6E3D1CA8D90}"/>
              </a:ext>
            </a:extLst>
          </p:cNvPr>
          <p:cNvSpPr txBox="1"/>
          <p:nvPr/>
        </p:nvSpPr>
        <p:spPr>
          <a:xfrm>
            <a:off x="6096000" y="1551708"/>
            <a:ext cx="2962175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1946 </a:t>
            </a:r>
            <a:r>
              <a:rPr lang="en-GB" dirty="0" err="1"/>
              <a:t>Nacken</a:t>
            </a:r>
            <a:endParaRPr lang="en-GB" dirty="0"/>
          </a:p>
          <a:p>
            <a:r>
              <a:rPr lang="en-GB" dirty="0"/>
              <a:t>Big quartz crystals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7B1B933-155C-40AF-9190-C90D7626D774}"/>
              </a:ext>
            </a:extLst>
          </p:cNvPr>
          <p:cNvCxnSpPr>
            <a:cxnSpLocks/>
          </p:cNvCxnSpPr>
          <p:nvPr/>
        </p:nvCxnSpPr>
        <p:spPr>
          <a:xfrm>
            <a:off x="8543985" y="2812854"/>
            <a:ext cx="81855" cy="114676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FEA337C-2C91-4A60-9309-CA750219283E}"/>
              </a:ext>
            </a:extLst>
          </p:cNvPr>
          <p:cNvSpPr txBox="1"/>
          <p:nvPr/>
        </p:nvSpPr>
        <p:spPr>
          <a:xfrm>
            <a:off x="6433112" y="3959618"/>
            <a:ext cx="2962175" cy="369332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1970s It all got a bit boring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18185940-DF3B-46E1-B43E-3C4DFC70A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8932" y="663575"/>
            <a:ext cx="3086100" cy="192405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2B50DE5-3056-49E0-8698-E8B23D643A43}"/>
              </a:ext>
            </a:extLst>
          </p:cNvPr>
          <p:cNvSpPr txBox="1"/>
          <p:nvPr/>
        </p:nvSpPr>
        <p:spPr>
          <a:xfrm>
            <a:off x="7694933" y="4908632"/>
            <a:ext cx="3639817" cy="923330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1979 The Chemistry + Geochemistry of solutions at high temperatures and pressures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3A8945-2E45-4E5C-8C5B-D09E8B857F11}"/>
              </a:ext>
            </a:extLst>
          </p:cNvPr>
          <p:cNvSpPr txBox="1"/>
          <p:nvPr/>
        </p:nvSpPr>
        <p:spPr>
          <a:xfrm>
            <a:off x="9058175" y="5914959"/>
            <a:ext cx="2962175" cy="646331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1982 First international hydrothermal symposium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1C586265-E374-4880-B90A-6E7FBBDF8E20}"/>
              </a:ext>
            </a:extLst>
          </p:cNvPr>
          <p:cNvCxnSpPr>
            <a:cxnSpLocks/>
          </p:cNvCxnSpPr>
          <p:nvPr/>
        </p:nvCxnSpPr>
        <p:spPr>
          <a:xfrm>
            <a:off x="9105231" y="2812854"/>
            <a:ext cx="596958" cy="2066728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9ABC346-5ABF-423E-A7C9-152F958D1459}"/>
              </a:ext>
            </a:extLst>
          </p:cNvPr>
          <p:cNvCxnSpPr>
            <a:cxnSpLocks/>
          </p:cNvCxnSpPr>
          <p:nvPr/>
        </p:nvCxnSpPr>
        <p:spPr>
          <a:xfrm>
            <a:off x="9557655" y="2812854"/>
            <a:ext cx="2405745" cy="3105791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1935C0F-FA55-459E-AA29-54E22D048ED9}"/>
              </a:ext>
            </a:extLst>
          </p:cNvPr>
          <p:cNvSpPr/>
          <p:nvPr/>
        </p:nvSpPr>
        <p:spPr>
          <a:xfrm>
            <a:off x="9732879" y="2587625"/>
            <a:ext cx="2483318" cy="6150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Modern hydrothermal techniques</a:t>
            </a:r>
          </a:p>
        </p:txBody>
      </p:sp>
    </p:spTree>
    <p:extLst>
      <p:ext uri="{BB962C8B-B14F-4D97-AF65-F5344CB8AC3E}">
        <p14:creationId xmlns:p14="http://schemas.microsoft.com/office/powerpoint/2010/main" val="211652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8" grpId="0" animBg="1"/>
      <p:bldP spid="21" grpId="0" animBg="1"/>
      <p:bldP spid="24" grpId="0" animBg="1"/>
      <p:bldP spid="27" grpId="0" animBg="1"/>
      <p:bldP spid="35" grpId="0" animBg="1"/>
      <p:bldP spid="38" grpId="0" animBg="1"/>
      <p:bldP spid="40" grpId="0" animBg="1"/>
      <p:bldP spid="44" grpId="0" animBg="1"/>
      <p:bldP spid="45" grpId="0" animBg="1"/>
      <p:bldP spid="5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E01F0-76F0-49BA-8D1A-F9D7245D6033}"/>
              </a:ext>
            </a:extLst>
          </p:cNvPr>
          <p:cNvSpPr txBox="1"/>
          <p:nvPr/>
        </p:nvSpPr>
        <p:spPr>
          <a:xfrm>
            <a:off x="406399" y="1360831"/>
            <a:ext cx="5002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As temperature is increased, the density decreases.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12F20D-A20A-4267-82BE-82FF25E8E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99" y="1730163"/>
            <a:ext cx="5162550" cy="4838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86D8A9A-3B11-46FD-96C3-E08973E479F8}"/>
              </a:ext>
            </a:extLst>
          </p:cNvPr>
          <p:cNvSpPr txBox="1"/>
          <p:nvPr/>
        </p:nvSpPr>
        <p:spPr>
          <a:xfrm>
            <a:off x="6687112" y="1602549"/>
            <a:ext cx="4292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More importantly – as temperature increases and density decreases the </a:t>
            </a:r>
            <a:r>
              <a:rPr lang="en-GB" b="1" dirty="0"/>
              <a:t>viscosity decreases significantly</a:t>
            </a:r>
            <a:r>
              <a:rPr lang="en-GB"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65BFC-879D-4FF9-9F6C-FAEE3F1F0A7D}"/>
              </a:ext>
            </a:extLst>
          </p:cNvPr>
          <p:cNvSpPr txBox="1"/>
          <p:nvPr/>
        </p:nvSpPr>
        <p:spPr>
          <a:xfrm>
            <a:off x="6223561" y="2796057"/>
            <a:ext cx="51625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This means better mixing within the reaction vessel.</a:t>
            </a:r>
          </a:p>
          <a:p>
            <a:endParaRPr lang="en-GB" b="1" dirty="0"/>
          </a:p>
          <a:p>
            <a:r>
              <a:rPr lang="en-GB" b="1" dirty="0"/>
              <a:t>The dissolving species move about more, so reactions or recrystallisation takes place much faster.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023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Viscosity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2278E-9AC9-4DDE-B540-37A8E2AD613A}"/>
              </a:ext>
            </a:extLst>
          </p:cNvPr>
          <p:cNvSpPr txBox="1"/>
          <p:nvPr/>
        </p:nvSpPr>
        <p:spPr>
          <a:xfrm>
            <a:off x="6223561" y="4850986"/>
            <a:ext cx="54610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Separately as pressure increases, the dielectric constant of water increases. This means the H</a:t>
            </a:r>
            <a:r>
              <a:rPr lang="en-GB" baseline="-25000" dirty="0"/>
              <a:t>2</a:t>
            </a:r>
            <a:r>
              <a:rPr lang="en-GB" dirty="0"/>
              <a:t>O molecules become less polar, decreasing the solubility of ionic compounds.</a:t>
            </a:r>
          </a:p>
        </p:txBody>
      </p:sp>
    </p:spTree>
    <p:extLst>
      <p:ext uri="{BB962C8B-B14F-4D97-AF65-F5344CB8AC3E}">
        <p14:creationId xmlns:p14="http://schemas.microsoft.com/office/powerpoint/2010/main" val="2943458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03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E01F0-76F0-49BA-8D1A-F9D7245D6033}"/>
              </a:ext>
            </a:extLst>
          </p:cNvPr>
          <p:cNvSpPr txBox="1"/>
          <p:nvPr/>
        </p:nvSpPr>
        <p:spPr>
          <a:xfrm>
            <a:off x="485139" y="1116782"/>
            <a:ext cx="5496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internal pressure of a reaction vessel is closely linked to the initial liquid fill level.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6D8A9A-3B11-46FD-96C3-E08973E479F8}"/>
              </a:ext>
            </a:extLst>
          </p:cNvPr>
          <p:cNvSpPr txBox="1"/>
          <p:nvPr/>
        </p:nvSpPr>
        <p:spPr>
          <a:xfrm>
            <a:off x="6455678" y="1812518"/>
            <a:ext cx="50447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Liquids are much less compressible than gasses.</a:t>
            </a:r>
          </a:p>
          <a:p>
            <a:endParaRPr lang="en-GB" b="1" dirty="0"/>
          </a:p>
          <a:p>
            <a:r>
              <a:rPr lang="en-GB" b="1" dirty="0"/>
              <a:t>The liquids expand as temperature increases.</a:t>
            </a:r>
          </a:p>
          <a:p>
            <a:endParaRPr lang="en-GB" b="1" dirty="0"/>
          </a:p>
          <a:p>
            <a:r>
              <a:rPr lang="en-GB" b="1" dirty="0"/>
              <a:t>If the liquid fills the vessel, pressure suddenly increases dramatically.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F65BFC-879D-4FF9-9F6C-FAEE3F1F0A7D}"/>
              </a:ext>
            </a:extLst>
          </p:cNvPr>
          <p:cNvSpPr txBox="1"/>
          <p:nvPr/>
        </p:nvSpPr>
        <p:spPr>
          <a:xfrm>
            <a:off x="6296774" y="4702961"/>
            <a:ext cx="51625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This is extremely important when considering the maximum pressures a vessel can handle </a:t>
            </a:r>
          </a:p>
          <a:p>
            <a:endParaRPr lang="en-GB" b="1" dirty="0"/>
          </a:p>
          <a:p>
            <a:r>
              <a:rPr lang="en-GB" b="1" dirty="0"/>
              <a:t>(The max my vessels can take is 1.22 x 10</a:t>
            </a:r>
            <a:r>
              <a:rPr lang="en-GB" b="1" baseline="30000" dirty="0"/>
              <a:t>2</a:t>
            </a:r>
            <a:r>
              <a:rPr lang="en-GB" b="1" dirty="0"/>
              <a:t> atm.)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00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Pressure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B7182D-818E-48DF-A70C-2B97DBB71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612" y="1812518"/>
            <a:ext cx="5337549" cy="4889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16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E01F0-76F0-49BA-8D1A-F9D7245D6033}"/>
              </a:ext>
            </a:extLst>
          </p:cNvPr>
          <p:cNvSpPr txBox="1"/>
          <p:nvPr/>
        </p:nvSpPr>
        <p:spPr>
          <a:xfrm>
            <a:off x="390712" y="1105646"/>
            <a:ext cx="853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At lower temperatures and fill rates, the internal pressure is determined by the equilibrium between the liquid and the gas.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003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Pressure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5F7784-DBA0-42B3-8751-06D46541C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672" y="1790245"/>
            <a:ext cx="7457888" cy="498505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73DF46-861E-4839-8D9D-F049D2A5764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0568" b="16519"/>
          <a:stretch/>
        </p:blipFill>
        <p:spPr>
          <a:xfrm>
            <a:off x="390712" y="2026921"/>
            <a:ext cx="577029" cy="35884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9A5389C-8555-4A74-B565-77A58E4F291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821" r="64356" b="16519"/>
          <a:stretch/>
        </p:blipFill>
        <p:spPr>
          <a:xfrm>
            <a:off x="134105" y="1617100"/>
            <a:ext cx="289560" cy="358846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C2CBDDB6-EA20-4918-A25F-B69A22DE8078}"/>
              </a:ext>
            </a:extLst>
          </p:cNvPr>
          <p:cNvSpPr txBox="1"/>
          <p:nvPr/>
        </p:nvSpPr>
        <p:spPr>
          <a:xfrm>
            <a:off x="8496300" y="2514600"/>
            <a:ext cx="38100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BUT – the fill rate must be low enough that liquid expansion does not fill the vessel!</a:t>
            </a:r>
          </a:p>
        </p:txBody>
      </p:sp>
    </p:spTree>
    <p:extLst>
      <p:ext uri="{BB962C8B-B14F-4D97-AF65-F5344CB8AC3E}">
        <p14:creationId xmlns:p14="http://schemas.microsoft.com/office/powerpoint/2010/main" val="28487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E0E01F0-76F0-49BA-8D1A-F9D7245D6033}"/>
              </a:ext>
            </a:extLst>
          </p:cNvPr>
          <p:cNvSpPr txBox="1"/>
          <p:nvPr/>
        </p:nvSpPr>
        <p:spPr>
          <a:xfrm>
            <a:off x="428812" y="1258735"/>
            <a:ext cx="853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solubility of the reactants can be tuned using mineralisers: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361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Mineralisers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0C32EF-0FE4-4490-93A3-982503B9B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12" y="3553855"/>
            <a:ext cx="5210175" cy="31908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E42C75-7E83-4F90-97ED-802FD5BAE5D8}"/>
              </a:ext>
            </a:extLst>
          </p:cNvPr>
          <p:cNvSpPr txBox="1"/>
          <p:nvPr/>
        </p:nvSpPr>
        <p:spPr>
          <a:xfrm>
            <a:off x="2222501" y="5149292"/>
            <a:ext cx="52101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Different phases that can be prepared in the </a:t>
            </a:r>
          </a:p>
          <a:p>
            <a:r>
              <a:rPr lang="en-GB" dirty="0"/>
              <a:t>K</a:t>
            </a:r>
            <a:r>
              <a:rPr lang="en-GB" baseline="-25000" dirty="0"/>
              <a:t>2</a:t>
            </a:r>
            <a:r>
              <a:rPr lang="en-GB" dirty="0"/>
              <a:t>O-La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3</a:t>
            </a:r>
            <a:r>
              <a:rPr lang="en-GB" dirty="0"/>
              <a:t>-P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5</a:t>
            </a:r>
            <a:r>
              <a:rPr lang="en-GB" dirty="0"/>
              <a:t>-H</a:t>
            </a:r>
            <a:r>
              <a:rPr lang="en-GB" baseline="-25000" dirty="0"/>
              <a:t>2</a:t>
            </a:r>
            <a:r>
              <a:rPr lang="en-GB" dirty="0"/>
              <a:t>O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B40D4A-35B3-45F9-9396-9E23ED2880AD}"/>
              </a:ext>
            </a:extLst>
          </p:cNvPr>
          <p:cNvSpPr txBox="1"/>
          <p:nvPr/>
        </p:nvSpPr>
        <p:spPr>
          <a:xfrm>
            <a:off x="2222501" y="1660939"/>
            <a:ext cx="5542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Typically sources of OH</a:t>
            </a:r>
            <a:r>
              <a:rPr lang="en-GB" sz="2400" b="1" baseline="30000" dirty="0"/>
              <a:t>-</a:t>
            </a:r>
            <a:r>
              <a:rPr lang="en-GB" sz="2400" b="1" dirty="0"/>
              <a:t>, CL</a:t>
            </a:r>
            <a:r>
              <a:rPr lang="en-GB" sz="2400" b="1" baseline="30000" dirty="0"/>
              <a:t>-</a:t>
            </a:r>
            <a:r>
              <a:rPr lang="en-GB" sz="2400" b="1" dirty="0"/>
              <a:t>, F</a:t>
            </a:r>
            <a:r>
              <a:rPr lang="en-GB" sz="2400" b="1" baseline="30000" dirty="0"/>
              <a:t>-</a:t>
            </a:r>
            <a:r>
              <a:rPr lang="en-GB" sz="2400" b="1" dirty="0"/>
              <a:t>, Br</a:t>
            </a:r>
            <a:r>
              <a:rPr lang="en-GB" sz="2400" b="1" baseline="30000" dirty="0"/>
              <a:t>-</a:t>
            </a:r>
            <a:r>
              <a:rPr lang="en-GB" sz="2400" b="1" dirty="0"/>
              <a:t>, I</a:t>
            </a:r>
            <a:r>
              <a:rPr lang="en-GB" sz="2400" b="1" baseline="30000" dirty="0"/>
              <a:t>-</a:t>
            </a:r>
            <a:r>
              <a:rPr lang="en-GB" sz="2400" b="1" dirty="0"/>
              <a:t> or H</a:t>
            </a:r>
            <a:r>
              <a:rPr lang="en-GB" sz="2400" b="1" baseline="30000" dirty="0"/>
              <a:t>+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2E507F-28DD-4088-AAD0-B742B26CE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38" y="3718041"/>
            <a:ext cx="4413146" cy="88531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09BAC29-6812-4202-BA9A-3BD67CDC6F4D}"/>
              </a:ext>
            </a:extLst>
          </p:cNvPr>
          <p:cNvSpPr/>
          <p:nvPr/>
        </p:nvSpPr>
        <p:spPr>
          <a:xfrm>
            <a:off x="2959100" y="3718041"/>
            <a:ext cx="977900" cy="4616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9BEC808-0F01-4FA9-ACCA-44FB7ADC4966}"/>
              </a:ext>
            </a:extLst>
          </p:cNvPr>
          <p:cNvSpPr/>
          <p:nvPr/>
        </p:nvSpPr>
        <p:spPr>
          <a:xfrm>
            <a:off x="3036042" y="4087066"/>
            <a:ext cx="977900" cy="46166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75AE97-94B2-49C6-8672-26EAF50B4223}"/>
              </a:ext>
            </a:extLst>
          </p:cNvPr>
          <p:cNvSpPr txBox="1"/>
          <p:nvPr/>
        </p:nvSpPr>
        <p:spPr>
          <a:xfrm>
            <a:off x="337889" y="3121906"/>
            <a:ext cx="55421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e.g. In the presence of OH</a:t>
            </a:r>
            <a:r>
              <a:rPr lang="en-GB" baseline="30000" dirty="0"/>
              <a:t>-</a:t>
            </a:r>
            <a:r>
              <a:rPr lang="en-GB" dirty="0"/>
              <a:t>, quartz become much more soluble due to the formation of these aqueous 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02469F-7591-48D6-9870-E36765AE21BD}"/>
              </a:ext>
            </a:extLst>
          </p:cNvPr>
          <p:cNvSpPr txBox="1"/>
          <p:nvPr/>
        </p:nvSpPr>
        <p:spPr>
          <a:xfrm>
            <a:off x="655638" y="2349500"/>
            <a:ext cx="7702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Acids: HCl, H</a:t>
            </a:r>
            <a:r>
              <a:rPr lang="en-GB" baseline="-25000" dirty="0"/>
              <a:t>3</a:t>
            </a:r>
            <a:r>
              <a:rPr lang="en-GB" dirty="0"/>
              <a:t>PO</a:t>
            </a:r>
            <a:r>
              <a:rPr lang="en-GB" baseline="-25000" dirty="0"/>
              <a:t>4</a:t>
            </a:r>
            <a:r>
              <a:rPr lang="en-GB" dirty="0"/>
              <a:t>, H</a:t>
            </a:r>
            <a:r>
              <a:rPr lang="en-GB" baseline="-25000" dirty="0"/>
              <a:t>2</a:t>
            </a:r>
            <a:r>
              <a:rPr lang="en-GB" dirty="0"/>
              <a:t>SO</a:t>
            </a:r>
            <a:r>
              <a:rPr lang="en-GB" baseline="-25000" dirty="0"/>
              <a:t>4</a:t>
            </a:r>
            <a:r>
              <a:rPr lang="en-GB" dirty="0"/>
              <a:t>, HCOOH</a:t>
            </a:r>
          </a:p>
          <a:p>
            <a:r>
              <a:rPr lang="en-GB" dirty="0"/>
              <a:t>Neutral and alkali: NaOH, Na</a:t>
            </a:r>
            <a:r>
              <a:rPr lang="en-GB" baseline="-25000" dirty="0"/>
              <a:t>3</a:t>
            </a:r>
            <a:r>
              <a:rPr lang="en-GB" dirty="0"/>
              <a:t>PO</a:t>
            </a:r>
            <a:r>
              <a:rPr lang="en-GB" baseline="-25000" dirty="0"/>
              <a:t>4</a:t>
            </a:r>
            <a:r>
              <a:rPr lang="en-GB" dirty="0"/>
              <a:t>, NaHCO</a:t>
            </a:r>
            <a:r>
              <a:rPr lang="en-GB" baseline="-25000" dirty="0"/>
              <a:t>3</a:t>
            </a:r>
            <a:r>
              <a:rPr lang="en-GB" dirty="0"/>
              <a:t>, </a:t>
            </a:r>
            <a:r>
              <a:rPr lang="en-GB" dirty="0" err="1"/>
              <a:t>NaF</a:t>
            </a:r>
            <a:r>
              <a:rPr lang="en-GB" dirty="0"/>
              <a:t>, KF, </a:t>
            </a:r>
            <a:r>
              <a:rPr lang="en-GB" dirty="0" err="1"/>
              <a:t>LiF</a:t>
            </a:r>
            <a:r>
              <a:rPr lang="en-GB" dirty="0"/>
              <a:t>, NH</a:t>
            </a:r>
            <a:r>
              <a:rPr lang="en-GB" baseline="-25000" dirty="0"/>
              <a:t>4</a:t>
            </a:r>
            <a:r>
              <a:rPr lang="en-GB" dirty="0"/>
              <a:t>HF</a:t>
            </a:r>
            <a:r>
              <a:rPr lang="en-GB" baseline="-25000" dirty="0"/>
              <a:t>2</a:t>
            </a:r>
            <a:r>
              <a:rPr lang="en-GB" dirty="0"/>
              <a:t>, NaCl, Na</a:t>
            </a:r>
            <a:r>
              <a:rPr lang="en-GB" baseline="-25000" dirty="0"/>
              <a:t>2</a:t>
            </a:r>
            <a:r>
              <a:rPr lang="en-GB" dirty="0"/>
              <a:t>CO</a:t>
            </a:r>
            <a:r>
              <a:rPr lang="en-GB" baseline="-250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34774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15" grpId="0" animBg="1"/>
      <p:bldP spid="8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22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Equipment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FAEBB-3D20-4C28-9FFE-06C94457D77C}"/>
              </a:ext>
            </a:extLst>
          </p:cNvPr>
          <p:cNvSpPr txBox="1"/>
          <p:nvPr/>
        </p:nvSpPr>
        <p:spPr>
          <a:xfrm>
            <a:off x="840936" y="1293917"/>
            <a:ext cx="2938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Glass tubes and quartz tubes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971FC-CDB0-4277-81F7-CF70928B5D62}"/>
              </a:ext>
            </a:extLst>
          </p:cNvPr>
          <p:cNvSpPr txBox="1"/>
          <p:nvPr/>
        </p:nvSpPr>
        <p:spPr>
          <a:xfrm>
            <a:off x="1356149" y="11806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AFF538-A287-4D6A-84AF-88516CB9D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6616" y="1031609"/>
            <a:ext cx="4637788" cy="57131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60C7824-5002-49F8-98D8-94F8D0505ADC}"/>
              </a:ext>
            </a:extLst>
          </p:cNvPr>
          <p:cNvSpPr txBox="1"/>
          <p:nvPr/>
        </p:nvSpPr>
        <p:spPr>
          <a:xfrm>
            <a:off x="3510549" y="1889789"/>
            <a:ext cx="32843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Pros:</a:t>
            </a:r>
          </a:p>
          <a:p>
            <a:r>
              <a:rPr lang="en-GB" dirty="0"/>
              <a:t>Reaction is observable</a:t>
            </a:r>
          </a:p>
          <a:p>
            <a:r>
              <a:rPr lang="en-GB" dirty="0"/>
              <a:t>Easy to clean prepare</a:t>
            </a:r>
          </a:p>
          <a:p>
            <a:r>
              <a:rPr lang="en-GB" dirty="0"/>
              <a:t>Glass tubes are cheap</a:t>
            </a:r>
          </a:p>
          <a:p>
            <a:endParaRPr lang="en-GB" dirty="0"/>
          </a:p>
          <a:p>
            <a:r>
              <a:rPr lang="en-GB" b="1" dirty="0"/>
              <a:t>Cons:</a:t>
            </a:r>
          </a:p>
          <a:p>
            <a:r>
              <a:rPr lang="en-GB" dirty="0"/>
              <a:t>Not very chemically resistant</a:t>
            </a:r>
          </a:p>
          <a:p>
            <a:r>
              <a:rPr lang="en-GB" dirty="0"/>
              <a:t>Max temperatures ~300°C (glass)</a:t>
            </a:r>
          </a:p>
          <a:p>
            <a:r>
              <a:rPr lang="en-GB" dirty="0"/>
              <a:t>[~1200 °C (quartz)]</a:t>
            </a:r>
          </a:p>
          <a:p>
            <a:r>
              <a:rPr lang="en-GB" dirty="0"/>
              <a:t>Low maximum pressures (thickness dependent)</a:t>
            </a:r>
          </a:p>
        </p:txBody>
      </p:sp>
      <p:pic>
        <p:nvPicPr>
          <p:cNvPr id="17" name="Picture 16" descr="A picture containing ground, floor&#10;&#10;Description automatically generated">
            <a:extLst>
              <a:ext uri="{FF2B5EF4-FFF2-40B4-BE49-F238E27FC236}">
                <a16:creationId xmlns:a16="http://schemas.microsoft.com/office/drawing/2014/main" id="{87764841-443B-4045-905D-DB1CC01EA41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86" r="11105"/>
          <a:stretch/>
        </p:blipFill>
        <p:spPr>
          <a:xfrm>
            <a:off x="537596" y="2361294"/>
            <a:ext cx="2751266" cy="238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526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22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Equipment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FAEBB-3D20-4C28-9FFE-06C94457D77C}"/>
              </a:ext>
            </a:extLst>
          </p:cNvPr>
          <p:cNvSpPr txBox="1"/>
          <p:nvPr/>
        </p:nvSpPr>
        <p:spPr>
          <a:xfrm>
            <a:off x="840936" y="1293917"/>
            <a:ext cx="2526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Ace-glass pressure tubes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971FC-CDB0-4277-81F7-CF70928B5D62}"/>
              </a:ext>
            </a:extLst>
          </p:cNvPr>
          <p:cNvSpPr txBox="1"/>
          <p:nvPr/>
        </p:nvSpPr>
        <p:spPr>
          <a:xfrm>
            <a:off x="1356149" y="118064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pic>
        <p:nvPicPr>
          <p:cNvPr id="14" name="Picture 13" descr="A picture containing indoor, vessel, cup&#10;&#10;Description automatically generated">
            <a:extLst>
              <a:ext uri="{FF2B5EF4-FFF2-40B4-BE49-F238E27FC236}">
                <a16:creationId xmlns:a16="http://schemas.microsoft.com/office/drawing/2014/main" id="{F7E89505-667A-4601-9871-05C98D9255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97" r="37588"/>
          <a:stretch/>
        </p:blipFill>
        <p:spPr>
          <a:xfrm>
            <a:off x="4208205" y="1549979"/>
            <a:ext cx="1261924" cy="47592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62AC7C5-05D8-402B-ABAB-92ACB9A7B2C6}"/>
              </a:ext>
            </a:extLst>
          </p:cNvPr>
          <p:cNvSpPr txBox="1"/>
          <p:nvPr/>
        </p:nvSpPr>
        <p:spPr>
          <a:xfrm>
            <a:off x="6009249" y="1593712"/>
            <a:ext cx="2935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Pros:</a:t>
            </a:r>
          </a:p>
          <a:p>
            <a:r>
              <a:rPr lang="en-GB" dirty="0"/>
              <a:t>Reaction is observable</a:t>
            </a:r>
          </a:p>
          <a:p>
            <a:r>
              <a:rPr lang="en-GB" dirty="0"/>
              <a:t>Easy to clean and reuse</a:t>
            </a:r>
          </a:p>
          <a:p>
            <a:endParaRPr lang="en-GB" dirty="0"/>
          </a:p>
          <a:p>
            <a:r>
              <a:rPr lang="en-GB" b="1" dirty="0"/>
              <a:t>Cons:</a:t>
            </a:r>
          </a:p>
          <a:p>
            <a:r>
              <a:rPr lang="en-GB" dirty="0"/>
              <a:t>Not very chemically resistant</a:t>
            </a:r>
          </a:p>
          <a:p>
            <a:r>
              <a:rPr lang="en-GB" dirty="0"/>
              <a:t>Max temperature 120°C</a:t>
            </a:r>
          </a:p>
          <a:p>
            <a:r>
              <a:rPr lang="en-GB" dirty="0"/>
              <a:t>Max pressure 1800 psi</a:t>
            </a:r>
          </a:p>
        </p:txBody>
      </p:sp>
    </p:spTree>
    <p:extLst>
      <p:ext uri="{BB962C8B-B14F-4D97-AF65-F5344CB8AC3E}">
        <p14:creationId xmlns:p14="http://schemas.microsoft.com/office/powerpoint/2010/main" val="4242735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22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Equipment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971FC-CDB0-4277-81F7-CF70928B5D62}"/>
              </a:ext>
            </a:extLst>
          </p:cNvPr>
          <p:cNvSpPr txBox="1"/>
          <p:nvPr/>
        </p:nvSpPr>
        <p:spPr>
          <a:xfrm>
            <a:off x="1212288" y="1180647"/>
            <a:ext cx="2759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PTFE lined pressure vessels</a:t>
            </a:r>
          </a:p>
        </p:txBody>
      </p:sp>
      <p:pic>
        <p:nvPicPr>
          <p:cNvPr id="5" name="Picture 4" descr="A close up of a device&#10;&#10;Description automatically generated">
            <a:extLst>
              <a:ext uri="{FF2B5EF4-FFF2-40B4-BE49-F238E27FC236}">
                <a16:creationId xmlns:a16="http://schemas.microsoft.com/office/drawing/2014/main" id="{4DAD0B05-2066-47E9-A2D4-7616AC7E5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3" y="1768475"/>
            <a:ext cx="2054788" cy="28767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DA0975-B5C4-43F0-ABBC-D2B3D0C3C9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51" y="4645178"/>
            <a:ext cx="3458568" cy="2067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AAF83D2-C21A-4C3C-B578-3D4229BB04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732" y="1768475"/>
            <a:ext cx="3558612" cy="47730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680E649-1527-4FDD-AC48-A480EC1CD956}"/>
              </a:ext>
            </a:extLst>
          </p:cNvPr>
          <p:cNvSpPr txBox="1"/>
          <p:nvPr/>
        </p:nvSpPr>
        <p:spPr>
          <a:xfrm>
            <a:off x="10759664" y="3874047"/>
            <a:ext cx="1124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PTFE liner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FF4AB-11D8-4354-99A7-2F5E6B0F2AC8}"/>
              </a:ext>
            </a:extLst>
          </p:cNvPr>
          <p:cNvCxnSpPr/>
          <p:nvPr/>
        </p:nvCxnSpPr>
        <p:spPr>
          <a:xfrm flipH="1" flipV="1">
            <a:off x="9451564" y="3708947"/>
            <a:ext cx="1208734" cy="342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57C34A2-8CCB-46E1-A242-131F68F63A3F}"/>
              </a:ext>
            </a:extLst>
          </p:cNvPr>
          <p:cNvSpPr txBox="1"/>
          <p:nvPr/>
        </p:nvSpPr>
        <p:spPr>
          <a:xfrm>
            <a:off x="2202820" y="1933522"/>
            <a:ext cx="2935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Pros:</a:t>
            </a:r>
          </a:p>
          <a:p>
            <a:r>
              <a:rPr lang="en-GB" dirty="0"/>
              <a:t>PTFE is resistant to most strong acids and many bases</a:t>
            </a:r>
          </a:p>
          <a:p>
            <a:r>
              <a:rPr lang="en-GB" dirty="0"/>
              <a:t>Easy to clean and reuse</a:t>
            </a:r>
          </a:p>
          <a:p>
            <a:endParaRPr lang="en-GB" dirty="0"/>
          </a:p>
          <a:p>
            <a:r>
              <a:rPr lang="en-GB" b="1" dirty="0"/>
              <a:t>Cons:</a:t>
            </a:r>
          </a:p>
          <a:p>
            <a:r>
              <a:rPr lang="en-GB" dirty="0"/>
              <a:t>Max temperature 250°C</a:t>
            </a:r>
          </a:p>
          <a:p>
            <a:r>
              <a:rPr lang="en-GB" dirty="0"/>
              <a:t>Max pressure 1800 psi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9545B25-9B4A-4D2A-83FA-2AB1B1854F4F}"/>
              </a:ext>
            </a:extLst>
          </p:cNvPr>
          <p:cNvCxnSpPr/>
          <p:nvPr/>
        </p:nvCxnSpPr>
        <p:spPr>
          <a:xfrm flipV="1">
            <a:off x="9334500" y="1422400"/>
            <a:ext cx="972844" cy="1333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36C5610-FA20-451C-B3DB-011453D8651A}"/>
              </a:ext>
            </a:extLst>
          </p:cNvPr>
          <p:cNvSpPr txBox="1"/>
          <p:nvPr/>
        </p:nvSpPr>
        <p:spPr>
          <a:xfrm>
            <a:off x="10379173" y="522719"/>
            <a:ext cx="14227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Anti-bursting disk and corrosion resistance disk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7D143C-FA83-46E2-99D7-9F8F3FCB0699}"/>
              </a:ext>
            </a:extLst>
          </p:cNvPr>
          <p:cNvSpPr txBox="1"/>
          <p:nvPr/>
        </p:nvSpPr>
        <p:spPr>
          <a:xfrm>
            <a:off x="10722891" y="3059668"/>
            <a:ext cx="927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PTFE lid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D29045A-F08D-4451-946B-3743FCC67016}"/>
              </a:ext>
            </a:extLst>
          </p:cNvPr>
          <p:cNvCxnSpPr/>
          <p:nvPr/>
        </p:nvCxnSpPr>
        <p:spPr>
          <a:xfrm flipH="1" flipV="1">
            <a:off x="9414791" y="2894568"/>
            <a:ext cx="1208734" cy="342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66C7FC0-6FDB-483E-9092-6085E759D46D}"/>
              </a:ext>
            </a:extLst>
          </p:cNvPr>
          <p:cNvSpPr txBox="1"/>
          <p:nvPr/>
        </p:nvSpPr>
        <p:spPr>
          <a:xfrm>
            <a:off x="4476667" y="4787404"/>
            <a:ext cx="1723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Steel main body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72ED460-C2BC-4C97-A179-6C01C3A542BE}"/>
              </a:ext>
            </a:extLst>
          </p:cNvPr>
          <p:cNvCxnSpPr>
            <a:cxnSpLocks/>
          </p:cNvCxnSpPr>
          <p:nvPr/>
        </p:nvCxnSpPr>
        <p:spPr>
          <a:xfrm flipH="1">
            <a:off x="6144365" y="4645178"/>
            <a:ext cx="1120035" cy="332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4024E57-AC60-434D-A998-7DACC25D531C}"/>
              </a:ext>
            </a:extLst>
          </p:cNvPr>
          <p:cNvSpPr txBox="1"/>
          <p:nvPr/>
        </p:nvSpPr>
        <p:spPr>
          <a:xfrm>
            <a:off x="4516069" y="3090244"/>
            <a:ext cx="1343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Screw on lid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6FBA3A8-FCE4-4D2F-B225-D34E343363FB}"/>
              </a:ext>
            </a:extLst>
          </p:cNvPr>
          <p:cNvCxnSpPr>
            <a:cxnSpLocks/>
          </p:cNvCxnSpPr>
          <p:nvPr/>
        </p:nvCxnSpPr>
        <p:spPr>
          <a:xfrm flipH="1">
            <a:off x="5864218" y="2938731"/>
            <a:ext cx="1120035" cy="3321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44D8C8B-4DE3-4E2C-B2D5-67E06BF7B108}"/>
              </a:ext>
            </a:extLst>
          </p:cNvPr>
          <p:cNvSpPr txBox="1"/>
          <p:nvPr/>
        </p:nvSpPr>
        <p:spPr>
          <a:xfrm>
            <a:off x="5614990" y="1455524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Spring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5C2D7B7-87D6-4DA4-B7C3-FDBE9E27B946}"/>
              </a:ext>
            </a:extLst>
          </p:cNvPr>
          <p:cNvCxnSpPr>
            <a:cxnSpLocks/>
          </p:cNvCxnSpPr>
          <p:nvPr/>
        </p:nvCxnSpPr>
        <p:spPr>
          <a:xfrm flipH="1" flipV="1">
            <a:off x="6424235" y="1683420"/>
            <a:ext cx="1617382" cy="5294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485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C9D98D-54D3-44B4-8A30-E98AD9BA8D27}"/>
              </a:ext>
            </a:extLst>
          </p:cNvPr>
          <p:cNvSpPr txBox="1"/>
          <p:nvPr/>
        </p:nvSpPr>
        <p:spPr>
          <a:xfrm>
            <a:off x="4978113" y="686083"/>
            <a:ext cx="122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Equipment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A971FC-CDB0-4277-81F7-CF70928B5D62}"/>
              </a:ext>
            </a:extLst>
          </p:cNvPr>
          <p:cNvSpPr txBox="1"/>
          <p:nvPr/>
        </p:nvSpPr>
        <p:spPr>
          <a:xfrm>
            <a:off x="1212288" y="1180647"/>
            <a:ext cx="2759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PTFE lined pressure vessels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7C34A2-8CCB-46E1-A242-131F68F63A3F}"/>
              </a:ext>
            </a:extLst>
          </p:cNvPr>
          <p:cNvSpPr txBox="1"/>
          <p:nvPr/>
        </p:nvSpPr>
        <p:spPr>
          <a:xfrm>
            <a:off x="2202820" y="1933522"/>
            <a:ext cx="29351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Pros:</a:t>
            </a:r>
          </a:p>
          <a:p>
            <a:r>
              <a:rPr lang="en-GB" dirty="0"/>
              <a:t>PTFE is resistant to most strong acids and many bases</a:t>
            </a:r>
          </a:p>
          <a:p>
            <a:r>
              <a:rPr lang="en-GB" dirty="0"/>
              <a:t>Easy to clean and reuse</a:t>
            </a:r>
          </a:p>
          <a:p>
            <a:endParaRPr lang="en-GB" dirty="0"/>
          </a:p>
          <a:p>
            <a:r>
              <a:rPr lang="en-GB" b="1" dirty="0"/>
              <a:t>Cons:</a:t>
            </a:r>
          </a:p>
          <a:p>
            <a:r>
              <a:rPr lang="en-GB" dirty="0"/>
              <a:t>Max temperature 250°C</a:t>
            </a:r>
          </a:p>
          <a:p>
            <a:r>
              <a:rPr lang="en-GB" dirty="0"/>
              <a:t>Max pressure 1800 psi</a:t>
            </a:r>
          </a:p>
        </p:txBody>
      </p:sp>
      <p:pic>
        <p:nvPicPr>
          <p:cNvPr id="2050" name="Picture 2" descr="Image result for Parr microwave vessels">
            <a:extLst>
              <a:ext uri="{FF2B5EF4-FFF2-40B4-BE49-F238E27FC236}">
                <a16:creationId xmlns:a16="http://schemas.microsoft.com/office/drawing/2014/main" id="{56FF4850-D1DB-4DBB-AD18-5FA5F2D5D8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261" y="1365313"/>
            <a:ext cx="4102268" cy="4621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B8879C-4486-4AD3-B2C8-DFDAAC033AD1}"/>
              </a:ext>
            </a:extLst>
          </p:cNvPr>
          <p:cNvSpPr txBox="1"/>
          <p:nvPr/>
        </p:nvSpPr>
        <p:spPr>
          <a:xfrm>
            <a:off x="364574" y="5387037"/>
            <a:ext cx="558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Microwave vessels are now also available – typically for short reaction times.</a:t>
            </a:r>
          </a:p>
          <a:p>
            <a:r>
              <a:rPr lang="en-GB" dirty="0"/>
              <a:t>(Rapid heating and short cycles means the outer casing remains cool and doesn’t have to be as heat resistant)</a:t>
            </a:r>
          </a:p>
        </p:txBody>
      </p:sp>
    </p:spTree>
    <p:extLst>
      <p:ext uri="{BB962C8B-B14F-4D97-AF65-F5344CB8AC3E}">
        <p14:creationId xmlns:p14="http://schemas.microsoft.com/office/powerpoint/2010/main" val="1718766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FAEBB-3D20-4C28-9FFE-06C94457D77C}"/>
              </a:ext>
            </a:extLst>
          </p:cNvPr>
          <p:cNvSpPr txBox="1"/>
          <p:nvPr/>
        </p:nvSpPr>
        <p:spPr>
          <a:xfrm>
            <a:off x="723900" y="1612900"/>
            <a:ext cx="1779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Higher pressures</a:t>
            </a:r>
          </a:p>
        </p:txBody>
      </p:sp>
      <p:pic>
        <p:nvPicPr>
          <p:cNvPr id="4" name="Picture 3" descr="A close up of a gauge&#10;&#10;Description automatically generated">
            <a:extLst>
              <a:ext uri="{FF2B5EF4-FFF2-40B4-BE49-F238E27FC236}">
                <a16:creationId xmlns:a16="http://schemas.microsoft.com/office/drawing/2014/main" id="{F03DA582-CD2C-4B29-A73B-0ABD1A5AD1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" y="2319675"/>
            <a:ext cx="2999709" cy="4205200"/>
          </a:xfrm>
          <a:prstGeom prst="rect">
            <a:avLst/>
          </a:prstGeom>
        </p:spPr>
      </p:pic>
      <p:pic>
        <p:nvPicPr>
          <p:cNvPr id="8" name="Picture 7" descr="A picture containing indoor&#10;&#10;Description automatically generated">
            <a:extLst>
              <a:ext uri="{FF2B5EF4-FFF2-40B4-BE49-F238E27FC236}">
                <a16:creationId xmlns:a16="http://schemas.microsoft.com/office/drawing/2014/main" id="{07199A0A-BD10-4B5E-8A8D-68C61054BFC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187"/>
          <a:stretch/>
        </p:blipFill>
        <p:spPr>
          <a:xfrm>
            <a:off x="4796237" y="4163706"/>
            <a:ext cx="2999708" cy="24989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B017B3A-DC97-470F-93E3-713250BEBB94}"/>
              </a:ext>
            </a:extLst>
          </p:cNvPr>
          <p:cNvSpPr txBox="1"/>
          <p:nvPr/>
        </p:nvSpPr>
        <p:spPr>
          <a:xfrm>
            <a:off x="3495434" y="1067377"/>
            <a:ext cx="418966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Pros:</a:t>
            </a:r>
          </a:p>
          <a:p>
            <a:r>
              <a:rPr lang="en-GB" dirty="0"/>
              <a:t>Temperature ranges &gt;600°C</a:t>
            </a:r>
          </a:p>
          <a:p>
            <a:r>
              <a:rPr lang="en-GB" dirty="0"/>
              <a:t>Pressure ranges &gt;8000 psi (&gt;500 bar)</a:t>
            </a:r>
          </a:p>
          <a:p>
            <a:r>
              <a:rPr lang="en-GB" dirty="0"/>
              <a:t>Temperatures and pressures highly controllable</a:t>
            </a:r>
          </a:p>
          <a:p>
            <a:endParaRPr lang="en-GB" dirty="0"/>
          </a:p>
          <a:p>
            <a:r>
              <a:rPr lang="en-GB" dirty="0"/>
              <a:t>Temperature gradients highly controllable</a:t>
            </a:r>
          </a:p>
          <a:p>
            <a:endParaRPr lang="en-GB" dirty="0"/>
          </a:p>
          <a:p>
            <a:r>
              <a:rPr lang="en-GB" b="1" dirty="0"/>
              <a:t>Cons:</a:t>
            </a:r>
          </a:p>
          <a:p>
            <a:r>
              <a:rPr lang="en-GB" dirty="0"/>
              <a:t>Sealed linings must be used to prevent contamination from the vessel corrosion.</a:t>
            </a:r>
          </a:p>
          <a:p>
            <a:r>
              <a:rPr lang="en-GB" dirty="0"/>
              <a:t>Expensive</a:t>
            </a:r>
          </a:p>
          <a:p>
            <a:r>
              <a:rPr lang="en-GB" dirty="0"/>
              <a:t>Single batch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978113" y="686083"/>
            <a:ext cx="122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Equipment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0A6DAAE-01C7-4118-83F8-17BFB6F1D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5265" y="1152198"/>
            <a:ext cx="4283834" cy="445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26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2FAEBB-3D20-4C28-9FFE-06C94457D77C}"/>
              </a:ext>
            </a:extLst>
          </p:cNvPr>
          <p:cNvSpPr txBox="1"/>
          <p:nvPr/>
        </p:nvSpPr>
        <p:spPr>
          <a:xfrm>
            <a:off x="723900" y="1612900"/>
            <a:ext cx="1749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Continuous flow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017B3A-DC97-470F-93E3-713250BEBB94}"/>
              </a:ext>
            </a:extLst>
          </p:cNvPr>
          <p:cNvSpPr txBox="1"/>
          <p:nvPr/>
        </p:nvSpPr>
        <p:spPr>
          <a:xfrm>
            <a:off x="6202423" y="2118188"/>
            <a:ext cx="418966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Pros:</a:t>
            </a:r>
          </a:p>
          <a:p>
            <a:r>
              <a:rPr lang="en-GB" dirty="0"/>
              <a:t>Can try many different reaction conditions in a single experiment</a:t>
            </a:r>
          </a:p>
          <a:p>
            <a:endParaRPr lang="en-GB" dirty="0"/>
          </a:p>
          <a:p>
            <a:r>
              <a:rPr lang="en-GB" b="1" dirty="0"/>
              <a:t>Cons:</a:t>
            </a:r>
          </a:p>
          <a:p>
            <a:r>
              <a:rPr lang="en-GB" dirty="0"/>
              <a:t>Not for producing single crystals!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978113" y="686083"/>
            <a:ext cx="12243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Equipment</a:t>
            </a:r>
          </a:p>
        </p:txBody>
      </p:sp>
      <p:pic>
        <p:nvPicPr>
          <p:cNvPr id="5" name="Picture 4" descr="A sign on a pole&#10;&#10;Description automatically generated">
            <a:extLst>
              <a:ext uri="{FF2B5EF4-FFF2-40B4-BE49-F238E27FC236}">
                <a16:creationId xmlns:a16="http://schemas.microsoft.com/office/drawing/2014/main" id="{6626D847-67E3-406C-8487-C1F717B2B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2159000"/>
            <a:ext cx="4219575" cy="4191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82E7FC-4510-49B2-BBE6-BF8FF1C08785}"/>
              </a:ext>
            </a:extLst>
          </p:cNvPr>
          <p:cNvSpPr txBox="1"/>
          <p:nvPr/>
        </p:nvSpPr>
        <p:spPr>
          <a:xfrm>
            <a:off x="5067300" y="1455524"/>
            <a:ext cx="35974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u="sng" dirty="0"/>
              <a:t>Typically for </a:t>
            </a:r>
            <a:r>
              <a:rPr lang="en-GB" b="1" u="sng" dirty="0" err="1"/>
              <a:t>nano</a:t>
            </a:r>
            <a:r>
              <a:rPr lang="en-GB" b="1" u="sng" dirty="0"/>
              <a:t>-particle synthesis</a:t>
            </a:r>
          </a:p>
        </p:txBody>
      </p:sp>
    </p:spTree>
    <p:extLst>
      <p:ext uri="{BB962C8B-B14F-4D97-AF65-F5344CB8AC3E}">
        <p14:creationId xmlns:p14="http://schemas.microsoft.com/office/powerpoint/2010/main" val="3136474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An industrial example - Quartz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8E47BD-3EEB-4781-95E8-02EE0135D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212" y="1067377"/>
            <a:ext cx="2539284" cy="321252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A35D2D-33B5-4EFA-AEB2-5D2120E6EE0C}"/>
              </a:ext>
            </a:extLst>
          </p:cNvPr>
          <p:cNvSpPr txBox="1"/>
          <p:nvPr/>
        </p:nvSpPr>
        <p:spPr>
          <a:xfrm>
            <a:off x="3019066" y="963940"/>
            <a:ext cx="62646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Used due to their piezoelectric properties. They oscillate at a fixed </a:t>
            </a:r>
            <a:r>
              <a:rPr lang="en-GB"/>
              <a:t>frequency so </a:t>
            </a:r>
            <a:r>
              <a:rPr lang="en-GB" dirty="0"/>
              <a:t>can be used for timing devices (e.g. watches)</a:t>
            </a:r>
          </a:p>
          <a:p>
            <a:endParaRPr lang="en-GB" dirty="0"/>
          </a:p>
          <a:p>
            <a:r>
              <a:rPr lang="en-GB" dirty="0"/>
              <a:t>First large scale growth of quartz crystals was optimised at AT+T Bells labs (1970s)</a:t>
            </a:r>
          </a:p>
          <a:p>
            <a:endParaRPr lang="en-GB" dirty="0"/>
          </a:p>
          <a:p>
            <a:r>
              <a:rPr lang="en-GB" dirty="0"/>
              <a:t>Largest current reactor is in Japan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405831-A620-4A2B-86C9-FB83E984FF44}"/>
              </a:ext>
            </a:extLst>
          </p:cNvPr>
          <p:cNvSpPr/>
          <p:nvPr/>
        </p:nvSpPr>
        <p:spPr>
          <a:xfrm>
            <a:off x="453140" y="5848751"/>
            <a:ext cx="45249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R.L. Barns, E.D. Kolb, R.A. </a:t>
            </a:r>
            <a:r>
              <a:rPr lang="en-GB" dirty="0" err="1"/>
              <a:t>Laudise</a:t>
            </a:r>
            <a:r>
              <a:rPr lang="en-GB" dirty="0"/>
              <a:t>, E.E. Simpson, and K.M. </a:t>
            </a:r>
            <a:r>
              <a:rPr lang="en-GB" dirty="0" err="1"/>
              <a:t>Kroupa</a:t>
            </a:r>
            <a:r>
              <a:rPr lang="en-GB" dirty="0"/>
              <a:t>, </a:t>
            </a:r>
            <a:r>
              <a:rPr lang="en-GB" i="1" dirty="0"/>
              <a:t>PRODUCTION AND PERFECTION OF Z-FACE QUARTZ</a:t>
            </a:r>
            <a:r>
              <a:rPr lang="en-GB" dirty="0"/>
              <a:t> (1976).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1E2AE9-DDD7-4F60-8FD5-09A169604E45}"/>
              </a:ext>
            </a:extLst>
          </p:cNvPr>
          <p:cNvSpPr/>
          <p:nvPr/>
        </p:nvSpPr>
        <p:spPr>
          <a:xfrm>
            <a:off x="453140" y="4417591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GB" dirty="0"/>
              <a:t>Hot zone: 425°C</a:t>
            </a:r>
          </a:p>
          <a:p>
            <a:r>
              <a:rPr lang="en-GB" dirty="0"/>
              <a:t>Crystallising zone: 375°C</a:t>
            </a:r>
          </a:p>
          <a:p>
            <a:r>
              <a:rPr lang="en-GB" dirty="0"/>
              <a:t>Pressure: 15000 – 25000 psi (1000-1700 atm.)</a:t>
            </a:r>
          </a:p>
          <a:p>
            <a:r>
              <a:rPr lang="en-GB" dirty="0"/>
              <a:t>Growth rate: 1.0 – 1.25 mm/day</a:t>
            </a:r>
          </a:p>
          <a:p>
            <a:r>
              <a:rPr lang="en-GB" dirty="0"/>
              <a:t>Amount produced per batch: 70 kg</a:t>
            </a:r>
          </a:p>
          <a:p>
            <a:r>
              <a:rPr lang="en-GB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DF798F-573D-4C73-9784-083C9D503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3612" y="179483"/>
            <a:ext cx="2743200" cy="4257675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9371064-4264-4A38-B2A7-29F215CC6F74}"/>
              </a:ext>
            </a:extLst>
          </p:cNvPr>
          <p:cNvSpPr/>
          <p:nvPr/>
        </p:nvSpPr>
        <p:spPr>
          <a:xfrm>
            <a:off x="6037748" y="450337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/>
            <a:r>
              <a:rPr lang="en-GB" dirty="0"/>
              <a:t>Identical growth conditions</a:t>
            </a:r>
          </a:p>
          <a:p>
            <a:pPr algn="r"/>
            <a:endParaRPr lang="en-GB" dirty="0"/>
          </a:p>
          <a:p>
            <a:pPr algn="r"/>
            <a:r>
              <a:rPr lang="en-GB" dirty="0"/>
              <a:t>Amount produced per batch: 4000 kg</a:t>
            </a:r>
          </a:p>
          <a:p>
            <a:pPr algn="r"/>
            <a:r>
              <a:rPr lang="en-GB" dirty="0"/>
              <a:t> </a:t>
            </a:r>
          </a:p>
        </p:txBody>
      </p:sp>
      <p:pic>
        <p:nvPicPr>
          <p:cNvPr id="16" name="Picture 15" descr="A screenshot of a computer&#10;&#10;Description automatically generated">
            <a:extLst>
              <a:ext uri="{FF2B5EF4-FFF2-40B4-BE49-F238E27FC236}">
                <a16:creationId xmlns:a16="http://schemas.microsoft.com/office/drawing/2014/main" id="{AE9554C5-91A8-42C4-A786-489AF750FF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462" y="3071680"/>
            <a:ext cx="3492642" cy="374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1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978113" y="686083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Quartz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083F44-2A94-48F0-8FCC-ECCCFE749B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293" y="1180646"/>
            <a:ext cx="6757307" cy="514006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BFBACA-71B5-4B53-8C81-98488BF5E2AD}"/>
              </a:ext>
            </a:extLst>
          </p:cNvPr>
          <p:cNvSpPr txBox="1"/>
          <p:nvPr/>
        </p:nvSpPr>
        <p:spPr>
          <a:xfrm>
            <a:off x="7924800" y="1628228"/>
            <a:ext cx="351120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growth speed is also effected by which face of the seed crystal is used.</a:t>
            </a:r>
          </a:p>
          <a:p>
            <a:endParaRPr lang="en-GB" dirty="0"/>
          </a:p>
          <a:p>
            <a:endParaRPr lang="en-GB" dirty="0"/>
          </a:p>
          <a:p>
            <a:r>
              <a:rPr lang="en-GB" b="1" dirty="0"/>
              <a:t>Faster isn’t always better though</a:t>
            </a:r>
            <a:r>
              <a:rPr lang="en-GB" dirty="0"/>
              <a:t> – dislocations, inclusions or other defects are an important consideration and so different growth conditions are used depending on the application.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1BFA87-B86D-4275-9138-E9FACE5121A6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An industrial example - Quartz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08364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1982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Iridate pyrochlores</a:t>
            </a:r>
          </a:p>
        </p:txBody>
      </p:sp>
      <p:pic>
        <p:nvPicPr>
          <p:cNvPr id="7" name="Picture 6" descr="A close up of a device&#10;&#10;Description automatically generated">
            <a:extLst>
              <a:ext uri="{FF2B5EF4-FFF2-40B4-BE49-F238E27FC236}">
                <a16:creationId xmlns:a16="http://schemas.microsoft.com/office/drawing/2014/main" id="{8ED5215C-6030-40F4-948B-26565BF07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3" y="1768475"/>
            <a:ext cx="2054788" cy="287670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EC2A76-5E68-4C25-9FB8-83D571247144}"/>
              </a:ext>
            </a:extLst>
          </p:cNvPr>
          <p:cNvSpPr txBox="1"/>
          <p:nvPr/>
        </p:nvSpPr>
        <p:spPr>
          <a:xfrm>
            <a:off x="2959100" y="1346200"/>
            <a:ext cx="3219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RE</a:t>
            </a:r>
            <a:r>
              <a:rPr lang="en-GB" b="1" baseline="-25000" dirty="0"/>
              <a:t>2</a:t>
            </a:r>
            <a:r>
              <a:rPr lang="en-GB" b="1" dirty="0"/>
              <a:t>Ir</a:t>
            </a:r>
            <a:r>
              <a:rPr lang="en-GB" b="1" baseline="-25000" dirty="0"/>
              <a:t>2</a:t>
            </a:r>
            <a:r>
              <a:rPr lang="en-GB" b="1" dirty="0"/>
              <a:t>O</a:t>
            </a:r>
            <a:r>
              <a:rPr lang="en-GB" b="1" baseline="-25000" dirty="0"/>
              <a:t>7     </a:t>
            </a:r>
            <a:r>
              <a:rPr lang="en-GB" b="1" dirty="0"/>
              <a:t>(RE = a rare earth ion)</a:t>
            </a:r>
            <a:endParaRPr lang="en-GB" b="1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9B8A-1460-4905-8582-3C8758FA42A8}"/>
              </a:ext>
            </a:extLst>
          </p:cNvPr>
          <p:cNvSpPr txBox="1"/>
          <p:nvPr/>
        </p:nvSpPr>
        <p:spPr>
          <a:xfrm>
            <a:off x="2362201" y="1768475"/>
            <a:ext cx="6985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These materials show very interesting magnetic and electronic properties as </a:t>
            </a:r>
            <a:r>
              <a:rPr lang="en-GB" dirty="0" err="1"/>
              <a:t>Ir</a:t>
            </a:r>
            <a:r>
              <a:rPr lang="en-GB" dirty="0"/>
              <a:t> has very large spin-orbit coupling.</a:t>
            </a:r>
          </a:p>
          <a:p>
            <a:endParaRPr lang="en-GB" dirty="0"/>
          </a:p>
          <a:p>
            <a:r>
              <a:rPr lang="en-GB" dirty="0"/>
              <a:t>BUT – Melting the oxides together doesn’t work: Iridium dioxide reacts at very low temperatures according to:</a:t>
            </a:r>
          </a:p>
          <a:p>
            <a:r>
              <a:rPr lang="en-GB" dirty="0"/>
              <a:t>2IrO</a:t>
            </a:r>
            <a:r>
              <a:rPr lang="en-GB" baseline="-25000" dirty="0"/>
              <a:t>2(s)</a:t>
            </a:r>
            <a:r>
              <a:rPr lang="en-GB" dirty="0"/>
              <a:t> + ½ O</a:t>
            </a:r>
            <a:r>
              <a:rPr lang="en-GB" baseline="-25000" dirty="0"/>
              <a:t>2(g)</a:t>
            </a:r>
            <a:r>
              <a:rPr lang="en-GB" dirty="0"/>
              <a:t> ↔ </a:t>
            </a:r>
            <a:r>
              <a:rPr lang="en-GB" dirty="0" err="1"/>
              <a:t>Ir</a:t>
            </a:r>
            <a:r>
              <a:rPr lang="en-GB" baseline="-25000" dirty="0"/>
              <a:t>(s)</a:t>
            </a:r>
            <a:r>
              <a:rPr lang="en-GB" dirty="0"/>
              <a:t> + IrO</a:t>
            </a:r>
            <a:r>
              <a:rPr lang="en-GB" baseline="-25000" dirty="0"/>
              <a:t>3(g)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8763B9-1BE7-41E4-B23E-7676D8E2BCE2}"/>
              </a:ext>
            </a:extLst>
          </p:cNvPr>
          <p:cNvSpPr txBox="1"/>
          <p:nvPr/>
        </p:nvSpPr>
        <p:spPr>
          <a:xfrm>
            <a:off x="2362201" y="3696449"/>
            <a:ext cx="698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Flux synthesis (</a:t>
            </a:r>
            <a:r>
              <a:rPr lang="en-GB" dirty="0" err="1"/>
              <a:t>CsCl</a:t>
            </a:r>
            <a:r>
              <a:rPr lang="en-GB" dirty="0"/>
              <a:t>) can be used to produce a powder only.</a:t>
            </a:r>
            <a:endParaRPr lang="en-GB" baseline="-25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458F8C-316A-486D-9D36-D837E51F1CA7}"/>
              </a:ext>
            </a:extLst>
          </p:cNvPr>
          <p:cNvSpPr/>
          <p:nvPr/>
        </p:nvSpPr>
        <p:spPr>
          <a:xfrm>
            <a:off x="-320189" y="4542304"/>
            <a:ext cx="807838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GB" altLang="en-US" sz="2400" dirty="0"/>
              <a:t>Hydrothermal synthesis attempted with various concentrations of mineralisers:</a:t>
            </a:r>
          </a:p>
          <a:p>
            <a:pPr lvl="1"/>
            <a:r>
              <a:rPr lang="cs-CZ" altLang="en-US" sz="2400" dirty="0"/>
              <a:t>H</a:t>
            </a:r>
            <a:r>
              <a:rPr lang="cs-CZ" altLang="en-US" sz="2400" baseline="-25000" dirty="0"/>
              <a:t>2</a:t>
            </a:r>
            <a:r>
              <a:rPr lang="cs-CZ" altLang="en-US" sz="2400" dirty="0"/>
              <a:t>O</a:t>
            </a:r>
            <a:r>
              <a:rPr lang="en-GB" altLang="en-US" sz="2400" dirty="0"/>
              <a:t> + (0.2, 1, 4, 12 mol/dm</a:t>
            </a:r>
            <a:r>
              <a:rPr lang="en-GB" altLang="en-US" sz="2400" baseline="30000" dirty="0"/>
              <a:t>3</a:t>
            </a:r>
            <a:r>
              <a:rPr lang="en-GB" altLang="en-US" sz="2400" dirty="0"/>
              <a:t>;</a:t>
            </a:r>
            <a:r>
              <a:rPr lang="cs-CZ" altLang="en-US" sz="2400" dirty="0"/>
              <a:t> KOH, NaOH, </a:t>
            </a:r>
            <a:r>
              <a:rPr lang="cs-CZ" altLang="en-US" sz="2400" b="1" dirty="0"/>
              <a:t>NaF</a:t>
            </a:r>
            <a:r>
              <a:rPr lang="cs-CZ" altLang="en-US" sz="2400" dirty="0"/>
              <a:t>, CsCl, </a:t>
            </a:r>
            <a:r>
              <a:rPr lang="cs-CZ" altLang="en-US" sz="2400" b="1" dirty="0"/>
              <a:t>KF</a:t>
            </a:r>
            <a:r>
              <a:rPr lang="en-GB" altLang="en-US" sz="2400" dirty="0"/>
              <a:t>)</a:t>
            </a:r>
          </a:p>
          <a:p>
            <a:pPr lvl="1"/>
            <a:endParaRPr lang="en-GB" altLang="en-US" sz="2400" dirty="0"/>
          </a:p>
          <a:p>
            <a:pPr lvl="1"/>
            <a:r>
              <a:rPr lang="en-GB" altLang="en-US" sz="2400" dirty="0"/>
              <a:t>Temperature 220 C, for several days </a:t>
            </a:r>
            <a:r>
              <a:rPr lang="en-GB" altLang="en-US" sz="2400" dirty="0">
                <a:sym typeface="Wingdings" panose="05000000000000000000" pitchFamily="2" charset="2"/>
              </a:rPr>
              <a:t> still no success!</a:t>
            </a:r>
            <a:endParaRPr lang="cs-CZ" alt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A6996E-9835-47EF-A313-4E5063DE14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8238" y="3674992"/>
            <a:ext cx="2990850" cy="305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1068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2966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Kapellasite</a:t>
            </a:r>
            <a:r>
              <a:rPr lang="en-GB" b="1" dirty="0"/>
              <a:t> and </a:t>
            </a:r>
            <a:r>
              <a:rPr lang="en-GB" b="1" dirty="0" err="1"/>
              <a:t>Centennialite</a:t>
            </a:r>
            <a:endParaRPr lang="en-GB" b="1" dirty="0"/>
          </a:p>
        </p:txBody>
      </p:sp>
      <p:pic>
        <p:nvPicPr>
          <p:cNvPr id="7" name="Picture 6" descr="A close up of a device&#10;&#10;Description automatically generated">
            <a:extLst>
              <a:ext uri="{FF2B5EF4-FFF2-40B4-BE49-F238E27FC236}">
                <a16:creationId xmlns:a16="http://schemas.microsoft.com/office/drawing/2014/main" id="{8ED5215C-6030-40F4-948B-26565BF076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6215" y="1153762"/>
            <a:ext cx="991461" cy="13880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1EC2A76-5E68-4C25-9FB8-83D571247144}"/>
              </a:ext>
            </a:extLst>
          </p:cNvPr>
          <p:cNvSpPr txBox="1"/>
          <p:nvPr/>
        </p:nvSpPr>
        <p:spPr>
          <a:xfrm>
            <a:off x="379644" y="995981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b="1" dirty="0"/>
              <a:t>α</a:t>
            </a:r>
            <a:r>
              <a:rPr lang="en-GB" b="1" dirty="0"/>
              <a:t>-Cu</a:t>
            </a:r>
            <a:r>
              <a:rPr lang="en-GB" b="1" baseline="-25000" dirty="0"/>
              <a:t>3</a:t>
            </a:r>
            <a:r>
              <a:rPr lang="en-GB" b="1" dirty="0"/>
              <a:t>Zn(OH)</a:t>
            </a:r>
            <a:r>
              <a:rPr lang="en-GB" b="1" baseline="-25000" dirty="0"/>
              <a:t>6</a:t>
            </a:r>
            <a:r>
              <a:rPr lang="en-GB" b="1" dirty="0"/>
              <a:t>Cl</a:t>
            </a:r>
            <a:r>
              <a:rPr lang="en-GB" b="1" baseline="-25000" dirty="0"/>
              <a:t>3</a:t>
            </a:r>
            <a:r>
              <a:rPr lang="en-GB" b="1" dirty="0"/>
              <a:t> , </a:t>
            </a:r>
            <a:r>
              <a:rPr lang="el-GR" b="1" dirty="0"/>
              <a:t>α</a:t>
            </a:r>
            <a:r>
              <a:rPr lang="en-GB" b="1" dirty="0"/>
              <a:t>-Cu</a:t>
            </a:r>
            <a:r>
              <a:rPr lang="en-GB" b="1" baseline="-25000" dirty="0"/>
              <a:t>3</a:t>
            </a:r>
            <a:r>
              <a:rPr lang="en-GB" b="1" dirty="0"/>
              <a:t>Ca(OH)</a:t>
            </a:r>
            <a:r>
              <a:rPr lang="en-GB" b="1" baseline="-25000" dirty="0"/>
              <a:t>6</a:t>
            </a:r>
            <a:r>
              <a:rPr lang="en-GB" b="1" dirty="0"/>
              <a:t>Cl</a:t>
            </a:r>
            <a:r>
              <a:rPr lang="en-GB" b="1" baseline="-25000" dirty="0"/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A69B8A-1460-4905-8582-3C8758FA42A8}"/>
              </a:ext>
            </a:extLst>
          </p:cNvPr>
          <p:cNvSpPr txBox="1"/>
          <p:nvPr/>
        </p:nvSpPr>
        <p:spPr>
          <a:xfrm>
            <a:off x="341544" y="1706585"/>
            <a:ext cx="698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err="1"/>
              <a:t>Kapellasite</a:t>
            </a:r>
            <a:r>
              <a:rPr lang="en-GB" b="1" dirty="0"/>
              <a:t> (</a:t>
            </a:r>
            <a:r>
              <a:rPr lang="el-GR" b="1" dirty="0"/>
              <a:t>α</a:t>
            </a:r>
            <a:r>
              <a:rPr lang="en-GB" b="1" dirty="0"/>
              <a:t>-Cu</a:t>
            </a:r>
            <a:r>
              <a:rPr lang="en-GB" b="1" baseline="-25000" dirty="0"/>
              <a:t>3</a:t>
            </a:r>
            <a:r>
              <a:rPr lang="en-GB" b="1" dirty="0"/>
              <a:t>Zn(OH)</a:t>
            </a:r>
            <a:r>
              <a:rPr lang="en-GB" b="1" baseline="-25000" dirty="0"/>
              <a:t>6</a:t>
            </a:r>
            <a:r>
              <a:rPr lang="en-GB" b="1" dirty="0"/>
              <a:t>Cl</a:t>
            </a:r>
            <a:r>
              <a:rPr lang="en-GB" b="1" baseline="-25000" dirty="0"/>
              <a:t>3</a:t>
            </a:r>
            <a:r>
              <a:rPr lang="en-GB" b="1" dirty="0"/>
              <a:t>) is a quantum-spin-liquid material </a:t>
            </a:r>
          </a:p>
          <a:p>
            <a:r>
              <a:rPr lang="en-GB" b="1" dirty="0"/>
              <a:t>– a type of magnet that does not order even down to 0 K.</a:t>
            </a:r>
          </a:p>
          <a:p>
            <a:endParaRPr lang="en-GB" b="1" dirty="0"/>
          </a:p>
          <a:p>
            <a:r>
              <a:rPr lang="en-GB" b="1" dirty="0"/>
              <a:t>So far it has only ever been studied as a powder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528612-B3D3-4DC2-B7F6-93953C087E0B}"/>
              </a:ext>
            </a:extLst>
          </p:cNvPr>
          <p:cNvSpPr/>
          <p:nvPr/>
        </p:nvSpPr>
        <p:spPr>
          <a:xfrm>
            <a:off x="109209" y="3042966"/>
            <a:ext cx="86024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 err="1"/>
              <a:t>Centennialite</a:t>
            </a:r>
            <a:r>
              <a:rPr lang="en-GB" b="1" dirty="0"/>
              <a:t> (</a:t>
            </a:r>
            <a:r>
              <a:rPr lang="el-GR" b="1" dirty="0"/>
              <a:t>α</a:t>
            </a:r>
            <a:r>
              <a:rPr lang="en-GB" b="1" dirty="0"/>
              <a:t>-Cu</a:t>
            </a:r>
            <a:r>
              <a:rPr lang="en-GB" b="1" baseline="-25000" dirty="0"/>
              <a:t>3</a:t>
            </a:r>
            <a:r>
              <a:rPr lang="en-GB" b="1" dirty="0"/>
              <a:t>Ca(OH)</a:t>
            </a:r>
            <a:r>
              <a:rPr lang="en-GB" b="1" baseline="-25000" dirty="0"/>
              <a:t>6</a:t>
            </a:r>
            <a:r>
              <a:rPr lang="en-GB" b="1" dirty="0"/>
              <a:t>Cl</a:t>
            </a:r>
            <a:r>
              <a:rPr lang="en-GB" b="1" baseline="-25000" dirty="0"/>
              <a:t>3</a:t>
            </a:r>
            <a:r>
              <a:rPr lang="en-GB" b="1" dirty="0"/>
              <a:t>) can be grown by hydrothermal temperature gradient</a:t>
            </a:r>
            <a:endParaRPr lang="en-GB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4FF5D1-BF20-4253-AEB6-BAC87407FDAF}"/>
              </a:ext>
            </a:extLst>
          </p:cNvPr>
          <p:cNvGrpSpPr/>
          <p:nvPr/>
        </p:nvGrpSpPr>
        <p:grpSpPr>
          <a:xfrm>
            <a:off x="927100" y="3546122"/>
            <a:ext cx="4477386" cy="3244788"/>
            <a:chOff x="927100" y="3546122"/>
            <a:chExt cx="4477386" cy="3244788"/>
          </a:xfrm>
        </p:grpSpPr>
        <p:pic>
          <p:nvPicPr>
            <p:cNvPr id="9" name="Picture 8" descr="A screenshot of a video game&#10;&#10;Description automatically generated">
              <a:extLst>
                <a:ext uri="{FF2B5EF4-FFF2-40B4-BE49-F238E27FC236}">
                  <a16:creationId xmlns:a16="http://schemas.microsoft.com/office/drawing/2014/main" id="{EE6FEDA2-0D83-44DE-9B4F-275DEF1884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100" y="3546122"/>
              <a:ext cx="4477386" cy="3244788"/>
            </a:xfrm>
            <a:prstGeom prst="rect">
              <a:avLst/>
            </a:prstGeom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0939FC8-C20E-4997-B317-531F7F06020B}"/>
                </a:ext>
              </a:extLst>
            </p:cNvPr>
            <p:cNvSpPr/>
            <p:nvPr/>
          </p:nvSpPr>
          <p:spPr>
            <a:xfrm>
              <a:off x="3817144" y="5774530"/>
              <a:ext cx="228050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7C1CE44-B771-422A-B3BF-C4FEF488C52F}"/>
                </a:ext>
              </a:extLst>
            </p:cNvPr>
            <p:cNvSpPr/>
            <p:nvPr/>
          </p:nvSpPr>
          <p:spPr>
            <a:xfrm>
              <a:off x="2476500" y="5774530"/>
              <a:ext cx="254244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8381640-17A5-44B9-BB0D-246975669B6B}"/>
                </a:ext>
              </a:extLst>
            </p:cNvPr>
            <p:cNvSpPr/>
            <p:nvPr/>
          </p:nvSpPr>
          <p:spPr>
            <a:xfrm>
              <a:off x="3146822" y="5774529"/>
              <a:ext cx="372666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BD1379C-DE8A-4446-A0B9-823982FC3E5F}"/>
                </a:ext>
              </a:extLst>
            </p:cNvPr>
            <p:cNvSpPr/>
            <p:nvPr/>
          </p:nvSpPr>
          <p:spPr>
            <a:xfrm>
              <a:off x="2161858" y="4512467"/>
              <a:ext cx="467041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607317F-8115-42A1-B334-72444D3EDC03}"/>
                </a:ext>
              </a:extLst>
            </p:cNvPr>
            <p:cNvSpPr/>
            <p:nvPr/>
          </p:nvSpPr>
          <p:spPr>
            <a:xfrm>
              <a:off x="2759821" y="4581523"/>
              <a:ext cx="838248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6FB4BFF-AB41-4680-8B6B-0D26269573A4}"/>
                </a:ext>
              </a:extLst>
            </p:cNvPr>
            <p:cNvSpPr/>
            <p:nvPr/>
          </p:nvSpPr>
          <p:spPr>
            <a:xfrm>
              <a:off x="4207375" y="4512467"/>
              <a:ext cx="431299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4211EA6-81DB-47F3-8473-DD99C886F7C2}"/>
                </a:ext>
              </a:extLst>
            </p:cNvPr>
            <p:cNvSpPr/>
            <p:nvPr/>
          </p:nvSpPr>
          <p:spPr>
            <a:xfrm>
              <a:off x="1847849" y="3546122"/>
              <a:ext cx="254244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888CBD5-658E-45A7-ACB0-C53ACAC4FA72}"/>
                </a:ext>
              </a:extLst>
            </p:cNvPr>
            <p:cNvSpPr/>
            <p:nvPr/>
          </p:nvSpPr>
          <p:spPr>
            <a:xfrm>
              <a:off x="4344566" y="3769909"/>
              <a:ext cx="254244" cy="138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chemeClr val="tx1"/>
                </a:solidFill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4859394-14B1-418B-90D8-AA3785BAD00C}"/>
                </a:ext>
              </a:extLst>
            </p:cNvPr>
            <p:cNvSpPr txBox="1"/>
            <p:nvPr/>
          </p:nvSpPr>
          <p:spPr>
            <a:xfrm>
              <a:off x="2396386" y="5712780"/>
              <a:ext cx="4010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200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DA141D6-3826-4693-A5BD-5785064D35D1}"/>
                </a:ext>
              </a:extLst>
            </p:cNvPr>
            <p:cNvSpPr txBox="1"/>
            <p:nvPr/>
          </p:nvSpPr>
          <p:spPr>
            <a:xfrm>
              <a:off x="3737541" y="5712780"/>
              <a:ext cx="40107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100" dirty="0"/>
                <a:t>180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E645D6C1-22F4-49EC-866E-60FD94BE15EA}"/>
              </a:ext>
            </a:extLst>
          </p:cNvPr>
          <p:cNvSpPr/>
          <p:nvPr/>
        </p:nvSpPr>
        <p:spPr>
          <a:xfrm>
            <a:off x="6296259" y="5047921"/>
            <a:ext cx="525538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We are repeating the synthesis of </a:t>
            </a:r>
            <a:r>
              <a:rPr lang="en-GB" b="1" dirty="0" err="1"/>
              <a:t>Centennialite</a:t>
            </a:r>
            <a:r>
              <a:rPr lang="en-GB" b="1" dirty="0"/>
              <a:t> and attempting to use the method to grow </a:t>
            </a:r>
            <a:r>
              <a:rPr lang="en-GB" b="1" dirty="0" err="1"/>
              <a:t>kapellasite</a:t>
            </a:r>
            <a:r>
              <a:rPr lang="en-GB" b="1" dirty="0"/>
              <a:t> single crystals.</a:t>
            </a:r>
            <a:endParaRPr lang="en-GB" dirty="0"/>
          </a:p>
        </p:txBody>
      </p:sp>
      <p:pic>
        <p:nvPicPr>
          <p:cNvPr id="10" name="Picture 9" descr="A picture containing indoor, rug&#10;&#10;Description automatically generated">
            <a:extLst>
              <a:ext uri="{FF2B5EF4-FFF2-40B4-BE49-F238E27FC236}">
                <a16:creationId xmlns:a16="http://schemas.microsoft.com/office/drawing/2014/main" id="{FC8CFB89-7CE2-D767-1E2E-2FFFFE9FD7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75" y="1851466"/>
            <a:ext cx="4766526" cy="2681171"/>
          </a:xfrm>
          <a:prstGeom prst="rect">
            <a:avLst/>
          </a:prstGeom>
        </p:spPr>
      </p:pic>
      <p:pic>
        <p:nvPicPr>
          <p:cNvPr id="16" name="Picture 15" descr="A picture containing pattern, square&#10;&#10;Description automatically generated">
            <a:extLst>
              <a:ext uri="{FF2B5EF4-FFF2-40B4-BE49-F238E27FC236}">
                <a16:creationId xmlns:a16="http://schemas.microsoft.com/office/drawing/2014/main" id="{E107A8EC-4CA4-1D04-EF83-69A9B4CD549B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9" t="30000" r="28474" b="12930"/>
          <a:stretch/>
        </p:blipFill>
        <p:spPr>
          <a:xfrm>
            <a:off x="10335272" y="-122967"/>
            <a:ext cx="2031858" cy="1970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281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2727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Kapellasite</a:t>
            </a:r>
            <a:r>
              <a:rPr lang="en-GB" b="1" dirty="0"/>
              <a:t> and </a:t>
            </a:r>
            <a:r>
              <a:rPr lang="en-GB" b="1" dirty="0" err="1"/>
              <a:t>haydeeite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3E9F03-B9E4-4994-AB7F-EE966AB51D3D}"/>
              </a:ext>
            </a:extLst>
          </p:cNvPr>
          <p:cNvSpPr txBox="1"/>
          <p:nvPr/>
        </p:nvSpPr>
        <p:spPr>
          <a:xfrm>
            <a:off x="1702965" y="1560352"/>
            <a:ext cx="3922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Will my tube explode when I heat it up?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1A7BA5-5CA7-4011-B7AB-8FD97CFDB6F2}"/>
              </a:ext>
            </a:extLst>
          </p:cNvPr>
          <p:cNvSpPr txBox="1"/>
          <p:nvPr/>
        </p:nvSpPr>
        <p:spPr>
          <a:xfrm>
            <a:off x="348259" y="2306972"/>
            <a:ext cx="51332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Tube thickness (OD) = 15 mm (0.506 inch)</a:t>
            </a:r>
          </a:p>
          <a:p>
            <a:r>
              <a:rPr lang="en-GB" dirty="0"/>
              <a:t>Wall thickness (T) = 2 mm (0.0787 inch)</a:t>
            </a:r>
          </a:p>
          <a:p>
            <a:r>
              <a:rPr lang="en-GB" dirty="0"/>
              <a:t>Quartz tensile strength (s) = 48.26 N/mm</a:t>
            </a:r>
            <a:r>
              <a:rPr lang="en-GB" baseline="30000" dirty="0"/>
              <a:t>2</a:t>
            </a:r>
            <a:r>
              <a:rPr lang="en-GB" dirty="0"/>
              <a:t> (7000 psi)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D0B272-040B-42E1-9B94-3F78EF31F47E}"/>
              </a:ext>
            </a:extLst>
          </p:cNvPr>
          <p:cNvSpPr txBox="1"/>
          <p:nvPr/>
        </p:nvSpPr>
        <p:spPr>
          <a:xfrm>
            <a:off x="1577131" y="3561026"/>
            <a:ext cx="72305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We can use </a:t>
            </a:r>
            <a:r>
              <a:rPr lang="en-GB" i="1" dirty="0"/>
              <a:t>Barlow’s formula</a:t>
            </a:r>
            <a:r>
              <a:rPr lang="en-GB" dirty="0"/>
              <a:t> to estimate the bursting pressure of the tube:</a:t>
            </a:r>
          </a:p>
          <a:p>
            <a:endParaRPr lang="en-GB" dirty="0"/>
          </a:p>
          <a:p>
            <a:r>
              <a:rPr lang="en-GB" dirty="0"/>
              <a:t>Bursting pressure in psi = (2 x S x T) / (OD)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9150D6C-F6F2-4BE2-8373-890C84295025}"/>
              </a:ext>
            </a:extLst>
          </p:cNvPr>
          <p:cNvSpPr txBox="1"/>
          <p:nvPr/>
        </p:nvSpPr>
        <p:spPr>
          <a:xfrm>
            <a:off x="3754552" y="4484356"/>
            <a:ext cx="299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= (2 x 7000 x 0.0787) / (0.506)</a:t>
            </a:r>
          </a:p>
          <a:p>
            <a:r>
              <a:rPr lang="en-GB" dirty="0"/>
              <a:t>= 2100 psi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9AD6026-EFB5-44D0-8E77-8CBF09D41DD3}"/>
              </a:ext>
            </a:extLst>
          </p:cNvPr>
          <p:cNvSpPr txBox="1"/>
          <p:nvPr/>
        </p:nvSpPr>
        <p:spPr>
          <a:xfrm>
            <a:off x="1577131" y="5192368"/>
            <a:ext cx="868260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Assuming we use a low filling rate, we can use the saturation temperature of water to determine the internal pressure:</a:t>
            </a:r>
          </a:p>
          <a:p>
            <a:r>
              <a:rPr lang="en-GB" dirty="0"/>
              <a:t>At 220°C, the boiling pressure of water is 23 bar (333 psi)</a:t>
            </a:r>
          </a:p>
          <a:p>
            <a:endParaRPr lang="en-GB" dirty="0"/>
          </a:p>
          <a:p>
            <a:r>
              <a:rPr lang="en-GB" dirty="0"/>
              <a:t>Comfortably within the margin.</a:t>
            </a:r>
          </a:p>
        </p:txBody>
      </p:sp>
    </p:spTree>
    <p:extLst>
      <p:ext uri="{BB962C8B-B14F-4D97-AF65-F5344CB8AC3E}">
        <p14:creationId xmlns:p14="http://schemas.microsoft.com/office/powerpoint/2010/main" val="127705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 build="p"/>
      <p:bldP spid="28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2941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Kapellasite</a:t>
            </a:r>
            <a:r>
              <a:rPr lang="en-GB" b="1" dirty="0"/>
              <a:t> and </a:t>
            </a:r>
            <a:r>
              <a:rPr lang="en-GB" b="1" dirty="0" err="1"/>
              <a:t>centennialite</a:t>
            </a:r>
            <a:endParaRPr lang="en-GB" b="1" dirty="0"/>
          </a:p>
        </p:txBody>
      </p:sp>
      <p:pic>
        <p:nvPicPr>
          <p:cNvPr id="4" name="Picture 3" descr="A picture containing kitchen appliance, cooking, metal, indoor&#10;&#10;Description automatically generated">
            <a:extLst>
              <a:ext uri="{FF2B5EF4-FFF2-40B4-BE49-F238E27FC236}">
                <a16:creationId xmlns:a16="http://schemas.microsoft.com/office/drawing/2014/main" id="{13E0027F-40B3-00A2-D520-89CDD187D6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0" y="1789396"/>
            <a:ext cx="7137400" cy="4012835"/>
          </a:xfrm>
          <a:prstGeom prst="rect">
            <a:avLst/>
          </a:prstGeom>
        </p:spPr>
      </p:pic>
      <p:pic>
        <p:nvPicPr>
          <p:cNvPr id="6" name="Picture 5" descr="A picture containing indoor, plastic, plastic bottle, office supplies&#10;&#10;Description automatically generated">
            <a:extLst>
              <a:ext uri="{FF2B5EF4-FFF2-40B4-BE49-F238E27FC236}">
                <a16:creationId xmlns:a16="http://schemas.microsoft.com/office/drawing/2014/main" id="{1DD04DF1-6F03-FC80-D61B-F54DFD068A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06" y="1779655"/>
            <a:ext cx="3391494" cy="4521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19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2941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Kapellasite</a:t>
            </a:r>
            <a:r>
              <a:rPr lang="en-GB" b="1" dirty="0"/>
              <a:t> and </a:t>
            </a:r>
            <a:r>
              <a:rPr lang="en-GB" b="1" dirty="0" err="1"/>
              <a:t>centennialite</a:t>
            </a:r>
            <a:endParaRPr lang="en-GB" b="1" dirty="0"/>
          </a:p>
        </p:txBody>
      </p:sp>
      <p:pic>
        <p:nvPicPr>
          <p:cNvPr id="3" name="Picture 2" descr="A picture containing indoor, building, material property, aluminium&#10;&#10;Description automatically generated">
            <a:extLst>
              <a:ext uri="{FF2B5EF4-FFF2-40B4-BE49-F238E27FC236}">
                <a16:creationId xmlns:a16="http://schemas.microsoft.com/office/drawing/2014/main" id="{5A6F71BE-1213-4E25-7179-B0536A3A8D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61455" y="368300"/>
            <a:ext cx="38576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380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2941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Kapellasite</a:t>
            </a:r>
            <a:r>
              <a:rPr lang="en-GB" b="1" dirty="0"/>
              <a:t> and </a:t>
            </a:r>
            <a:r>
              <a:rPr lang="en-GB" b="1" dirty="0" err="1"/>
              <a:t>centennialite</a:t>
            </a:r>
            <a:endParaRPr lang="en-GB" b="1" dirty="0"/>
          </a:p>
        </p:txBody>
      </p:sp>
      <p:pic>
        <p:nvPicPr>
          <p:cNvPr id="4" name="Picture 3" descr="A picture containing pattern, fabric&#10;&#10;Description automatically generated">
            <a:extLst>
              <a:ext uri="{FF2B5EF4-FFF2-40B4-BE49-F238E27FC236}">
                <a16:creationId xmlns:a16="http://schemas.microsoft.com/office/drawing/2014/main" id="{E966023D-D8B8-E933-9642-BB511F9016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812" t="3334" r="824" b="10178"/>
          <a:stretch/>
        </p:blipFill>
        <p:spPr>
          <a:xfrm>
            <a:off x="446363" y="2326320"/>
            <a:ext cx="5143905" cy="3277055"/>
          </a:xfrm>
          <a:prstGeom prst="rect">
            <a:avLst/>
          </a:prstGeom>
        </p:spPr>
      </p:pic>
      <p:pic>
        <p:nvPicPr>
          <p:cNvPr id="6" name="Picture 5" descr="A close-up of green crystals&#10;&#10;Description automatically generated with low confidence">
            <a:extLst>
              <a:ext uri="{FF2B5EF4-FFF2-40B4-BE49-F238E27FC236}">
                <a16:creationId xmlns:a16="http://schemas.microsoft.com/office/drawing/2014/main" id="{F3B60202-02F8-CE00-A90E-5D31A33927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26320"/>
            <a:ext cx="5825876" cy="32770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E56102-721C-588F-3FE7-51A1A988E7F1}"/>
              </a:ext>
            </a:extLst>
          </p:cNvPr>
          <p:cNvSpPr txBox="1"/>
          <p:nvPr/>
        </p:nvSpPr>
        <p:spPr>
          <a:xfrm>
            <a:off x="3601876" y="993015"/>
            <a:ext cx="4924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 err="1"/>
              <a:t>CuO</a:t>
            </a:r>
            <a:r>
              <a:rPr lang="en-GB" sz="2800" b="1" dirty="0"/>
              <a:t> + CaCl</a:t>
            </a:r>
            <a:r>
              <a:rPr lang="en-GB" sz="2800" b="1" baseline="-25000" dirty="0"/>
              <a:t>2(</a:t>
            </a:r>
            <a:r>
              <a:rPr lang="en-GB" sz="2800" b="1" baseline="-25000" dirty="0" err="1"/>
              <a:t>aq</a:t>
            </a:r>
            <a:r>
              <a:rPr lang="en-GB" sz="2800" b="1" baseline="-25000" dirty="0"/>
              <a:t>)</a:t>
            </a:r>
            <a:r>
              <a:rPr lang="en-GB" sz="2800" b="1" dirty="0"/>
              <a:t> </a:t>
            </a:r>
            <a:r>
              <a:rPr lang="en-GB" sz="2800" b="1" dirty="0">
                <a:sym typeface="Wingdings" panose="05000000000000000000" pitchFamily="2" charset="2"/>
              </a:rPr>
              <a:t> Cu</a:t>
            </a:r>
            <a:r>
              <a:rPr lang="en-GB" sz="2800" b="1" baseline="-25000" dirty="0">
                <a:sym typeface="Wingdings" panose="05000000000000000000" pitchFamily="2" charset="2"/>
              </a:rPr>
              <a:t>3</a:t>
            </a:r>
            <a:r>
              <a:rPr lang="en-GB" sz="2800" b="1" dirty="0">
                <a:sym typeface="Wingdings" panose="05000000000000000000" pitchFamily="2" charset="2"/>
              </a:rPr>
              <a:t>Ca(OH)</a:t>
            </a:r>
            <a:r>
              <a:rPr lang="en-GB" sz="2800" b="1" baseline="-25000" dirty="0">
                <a:sym typeface="Wingdings" panose="05000000000000000000" pitchFamily="2" charset="2"/>
              </a:rPr>
              <a:t>6</a:t>
            </a:r>
            <a:r>
              <a:rPr lang="en-GB" sz="2800" b="1" dirty="0">
                <a:sym typeface="Wingdings" panose="05000000000000000000" pitchFamily="2" charset="2"/>
              </a:rPr>
              <a:t>Cl</a:t>
            </a:r>
            <a:r>
              <a:rPr lang="en-GB" sz="2800" b="1" baseline="-25000" dirty="0">
                <a:sym typeface="Wingdings" panose="05000000000000000000" pitchFamily="2" charset="2"/>
              </a:rPr>
              <a:t>2</a:t>
            </a:r>
            <a:endParaRPr lang="en-GB" sz="2800" b="1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DD0E1E-439F-C1E1-772D-2430AAA6F871}"/>
              </a:ext>
            </a:extLst>
          </p:cNvPr>
          <p:cNvSpPr txBox="1"/>
          <p:nvPr/>
        </p:nvSpPr>
        <p:spPr>
          <a:xfrm>
            <a:off x="8054189" y="1877462"/>
            <a:ext cx="19094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[CaCl</a:t>
            </a:r>
            <a:r>
              <a:rPr lang="en-GB" b="1" baseline="-25000" dirty="0"/>
              <a:t>2</a:t>
            </a:r>
            <a:r>
              <a:rPr lang="en-GB" b="1" dirty="0"/>
              <a:t>] 5 mol/dm</a:t>
            </a:r>
            <a:r>
              <a:rPr lang="en-GB" b="1" baseline="300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873EDA-8A7F-5FF0-FE79-16C753F5E9A5}"/>
              </a:ext>
            </a:extLst>
          </p:cNvPr>
          <p:cNvSpPr txBox="1"/>
          <p:nvPr/>
        </p:nvSpPr>
        <p:spPr>
          <a:xfrm>
            <a:off x="2063566" y="1901562"/>
            <a:ext cx="1906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/>
              <a:t>[CaCl</a:t>
            </a:r>
            <a:r>
              <a:rPr lang="en-GB" b="1" baseline="-25000" dirty="0"/>
              <a:t>2</a:t>
            </a:r>
            <a:r>
              <a:rPr lang="en-GB" b="1" dirty="0"/>
              <a:t>] 3 mol/dm</a:t>
            </a:r>
            <a:r>
              <a:rPr lang="en-GB" b="1" baseline="30000" dirty="0"/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ED20B-5C2B-072D-79F6-5594C7938B43}"/>
              </a:ext>
            </a:extLst>
          </p:cNvPr>
          <p:cNvSpPr txBox="1"/>
          <p:nvPr/>
        </p:nvSpPr>
        <p:spPr>
          <a:xfrm>
            <a:off x="2063566" y="57906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ym typeface="Wingdings" panose="05000000000000000000" pitchFamily="2" charset="2"/>
              </a:rPr>
              <a:t>Cu</a:t>
            </a:r>
            <a:r>
              <a:rPr lang="en-GB" sz="1800" b="1" baseline="-25000" dirty="0">
                <a:sym typeface="Wingdings" panose="05000000000000000000" pitchFamily="2" charset="2"/>
              </a:rPr>
              <a:t>3</a:t>
            </a:r>
            <a:r>
              <a:rPr lang="en-GB" sz="1800" b="1" dirty="0">
                <a:sym typeface="Wingdings" panose="05000000000000000000" pitchFamily="2" charset="2"/>
              </a:rPr>
              <a:t>Ca(OH)</a:t>
            </a:r>
            <a:r>
              <a:rPr lang="en-GB" sz="1800" b="1" baseline="-25000" dirty="0">
                <a:sym typeface="Wingdings" panose="05000000000000000000" pitchFamily="2" charset="2"/>
              </a:rPr>
              <a:t>6</a:t>
            </a:r>
            <a:r>
              <a:rPr lang="en-GB" sz="1800" b="1" dirty="0">
                <a:sym typeface="Wingdings" panose="05000000000000000000" pitchFamily="2" charset="2"/>
              </a:rPr>
              <a:t>Cl</a:t>
            </a:r>
            <a:r>
              <a:rPr lang="en-GB" sz="1800" b="1" baseline="-25000" dirty="0">
                <a:sym typeface="Wingdings" panose="05000000000000000000" pitchFamily="2" charset="2"/>
              </a:rPr>
              <a:t>2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4F5C62-CF43-E95D-36AD-058F2BB082B4}"/>
              </a:ext>
            </a:extLst>
          </p:cNvPr>
          <p:cNvSpPr txBox="1"/>
          <p:nvPr/>
        </p:nvSpPr>
        <p:spPr>
          <a:xfrm>
            <a:off x="8526622" y="57906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ym typeface="Wingdings" panose="05000000000000000000" pitchFamily="2" charset="2"/>
              </a:rPr>
              <a:t>Cu</a:t>
            </a:r>
            <a:r>
              <a:rPr lang="en-GB" sz="1800" b="1" baseline="-25000" dirty="0">
                <a:sym typeface="Wingdings" panose="05000000000000000000" pitchFamily="2" charset="2"/>
              </a:rPr>
              <a:t>4</a:t>
            </a:r>
            <a:r>
              <a:rPr lang="en-GB" sz="1800" b="1" dirty="0">
                <a:sym typeface="Wingdings" panose="05000000000000000000" pitchFamily="2" charset="2"/>
              </a:rPr>
              <a:t>(OH)</a:t>
            </a:r>
            <a:r>
              <a:rPr lang="en-GB" sz="1800" b="1" baseline="-25000" dirty="0">
                <a:sym typeface="Wingdings" panose="05000000000000000000" pitchFamily="2" charset="2"/>
              </a:rPr>
              <a:t>6</a:t>
            </a:r>
            <a:r>
              <a:rPr lang="en-GB" sz="1800" b="1" dirty="0">
                <a:sym typeface="Wingdings" panose="05000000000000000000" pitchFamily="2" charset="2"/>
              </a:rPr>
              <a:t>Cl</a:t>
            </a:r>
            <a:r>
              <a:rPr lang="en-GB" sz="1800" b="1" baseline="-25000" dirty="0">
                <a:sym typeface="Wingdings" panose="05000000000000000000" pitchFamily="2" charset="2"/>
              </a:rPr>
              <a:t>2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9788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151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Engelhauptite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B11F8-380E-4830-9B7F-CB74CA3D16F5}"/>
              </a:ext>
            </a:extLst>
          </p:cNvPr>
          <p:cNvSpPr txBox="1"/>
          <p:nvPr/>
        </p:nvSpPr>
        <p:spPr>
          <a:xfrm>
            <a:off x="927100" y="1635853"/>
            <a:ext cx="1753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KCu</a:t>
            </a:r>
            <a:r>
              <a:rPr lang="en-GB" baseline="-25000" dirty="0"/>
              <a:t>3</a:t>
            </a:r>
            <a:r>
              <a:rPr lang="en-GB" dirty="0"/>
              <a:t>V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7</a:t>
            </a:r>
            <a:r>
              <a:rPr lang="en-GB" dirty="0"/>
              <a:t>(OH)</a:t>
            </a:r>
            <a:r>
              <a:rPr lang="en-GB" baseline="-25000" dirty="0"/>
              <a:t>2</a:t>
            </a:r>
            <a:r>
              <a:rPr lang="en-GB" dirty="0"/>
              <a:t>Cl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985F9-00DC-4ECE-9D6F-AC3A822DA328}"/>
              </a:ext>
            </a:extLst>
          </p:cNvPr>
          <p:cNvSpPr txBox="1"/>
          <p:nvPr/>
        </p:nvSpPr>
        <p:spPr>
          <a:xfrm>
            <a:off x="3028514" y="1652152"/>
            <a:ext cx="607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Another candidate material for quantum-spin-liquid properties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4BA3B9-77B5-47EC-B51C-052BF90BB6C1}"/>
              </a:ext>
            </a:extLst>
          </p:cNvPr>
          <p:cNvSpPr txBox="1"/>
          <p:nvPr/>
        </p:nvSpPr>
        <p:spPr>
          <a:xfrm>
            <a:off x="1333849" y="2421593"/>
            <a:ext cx="4346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 simple reaction: </a:t>
            </a:r>
            <a:r>
              <a:rPr lang="en-GB" dirty="0" err="1"/>
              <a:t>CuO</a:t>
            </a:r>
            <a:r>
              <a:rPr lang="en-GB" dirty="0"/>
              <a:t> + V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5</a:t>
            </a:r>
            <a:r>
              <a:rPr lang="en-GB" dirty="0"/>
              <a:t> + </a:t>
            </a:r>
            <a:r>
              <a:rPr lang="en-GB" dirty="0" err="1"/>
              <a:t>RbCl</a:t>
            </a:r>
            <a:r>
              <a:rPr lang="en-GB" dirty="0"/>
              <a:t> + H</a:t>
            </a:r>
            <a:r>
              <a:rPr lang="en-GB" baseline="-25000" dirty="0"/>
              <a:t>2</a:t>
            </a:r>
            <a:r>
              <a:rPr lang="en-GB" dirty="0"/>
              <a:t>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E3BD4F-DF6E-47E9-BD14-D9812656DB6F}"/>
              </a:ext>
            </a:extLst>
          </p:cNvPr>
          <p:cNvSpPr txBox="1"/>
          <p:nvPr/>
        </p:nvSpPr>
        <p:spPr>
          <a:xfrm>
            <a:off x="604007" y="3046538"/>
            <a:ext cx="81435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 far we have varied: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Reaction temperature: 180C – 220C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Reaction time from: 1 day – 1 month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Reaction ramp rate: 1 week cool down vs. quench into water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Acid (mineraliser) types and concentration: HCl, H</a:t>
            </a:r>
            <a:r>
              <a:rPr lang="en-GB" baseline="-25000" dirty="0"/>
              <a:t>2</a:t>
            </a:r>
            <a:r>
              <a:rPr lang="en-GB" dirty="0"/>
              <a:t>SO</a:t>
            </a:r>
            <a:r>
              <a:rPr lang="en-GB" baseline="-25000" dirty="0"/>
              <a:t>4</a:t>
            </a:r>
            <a:r>
              <a:rPr lang="en-GB" dirty="0"/>
              <a:t>, HNO</a:t>
            </a:r>
            <a:r>
              <a:rPr lang="en-GB" baseline="-25000" dirty="0"/>
              <a:t>3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Ratios of the components: 20 different ratios ranging from 3:2:1 to 3:2:10 or 6:2:1</a:t>
            </a:r>
          </a:p>
        </p:txBody>
      </p:sp>
      <p:pic>
        <p:nvPicPr>
          <p:cNvPr id="7" name="Picture 6" descr="A picture containing indoor&#10;&#10;Description automatically generated">
            <a:extLst>
              <a:ext uri="{FF2B5EF4-FFF2-40B4-BE49-F238E27FC236}">
                <a16:creationId xmlns:a16="http://schemas.microsoft.com/office/drawing/2014/main" id="{18A2722D-74DA-4A3A-AF76-70ED243E78D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53" b="28318"/>
          <a:stretch/>
        </p:blipFill>
        <p:spPr>
          <a:xfrm>
            <a:off x="6442745" y="4838128"/>
            <a:ext cx="5469623" cy="196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4155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1EB22DEE-80EC-4CFC-8D16-5611AACF132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2" y="0"/>
            <a:ext cx="10979712" cy="686231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B251ACB-0A11-4A4A-8ADD-949EA93C828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988" t="51894" r="14444" b="14070"/>
          <a:stretch/>
        </p:blipFill>
        <p:spPr>
          <a:xfrm>
            <a:off x="2543638" y="4523864"/>
            <a:ext cx="2806700" cy="2334136"/>
          </a:xfrm>
          <a:prstGeom prst="rect">
            <a:avLst/>
          </a:prstGeom>
        </p:spPr>
      </p:pic>
      <p:pic>
        <p:nvPicPr>
          <p:cNvPr id="14" name="Picture 13" descr="A picture containing pizza&#10;&#10;Description automatically generated">
            <a:extLst>
              <a:ext uri="{FF2B5EF4-FFF2-40B4-BE49-F238E27FC236}">
                <a16:creationId xmlns:a16="http://schemas.microsoft.com/office/drawing/2014/main" id="{ACC4EF78-215A-4A3A-89EA-D79672B48F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2" t="15564" r="12778" b="-12407"/>
          <a:stretch/>
        </p:blipFill>
        <p:spPr>
          <a:xfrm>
            <a:off x="4528524" y="2149588"/>
            <a:ext cx="4566714" cy="4279900"/>
          </a:xfrm>
          <a:prstGeom prst="ellipse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495A4C8-C04E-426E-898E-349D27E0D81C}"/>
              </a:ext>
            </a:extLst>
          </p:cNvPr>
          <p:cNvSpPr/>
          <p:nvPr/>
        </p:nvSpPr>
        <p:spPr>
          <a:xfrm>
            <a:off x="927100" y="113270"/>
            <a:ext cx="1027429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58EF19B-906F-45AC-B23B-736954F65735}"/>
              </a:ext>
            </a:extLst>
          </p:cNvPr>
          <p:cNvSpPr txBox="1"/>
          <p:nvPr/>
        </p:nvSpPr>
        <p:spPr>
          <a:xfrm>
            <a:off x="4598810" y="698045"/>
            <a:ext cx="151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err="1"/>
              <a:t>Engelhauptite</a:t>
            </a:r>
            <a:endParaRPr lang="en-GB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EB11F8-380E-4830-9B7F-CB74CA3D16F5}"/>
              </a:ext>
            </a:extLst>
          </p:cNvPr>
          <p:cNvSpPr txBox="1"/>
          <p:nvPr/>
        </p:nvSpPr>
        <p:spPr>
          <a:xfrm>
            <a:off x="927100" y="1635853"/>
            <a:ext cx="1753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KCu</a:t>
            </a:r>
            <a:r>
              <a:rPr lang="en-GB" baseline="-25000" dirty="0"/>
              <a:t>3</a:t>
            </a:r>
            <a:r>
              <a:rPr lang="en-GB" dirty="0"/>
              <a:t>V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7</a:t>
            </a:r>
            <a:r>
              <a:rPr lang="en-GB" dirty="0"/>
              <a:t>(OH)</a:t>
            </a:r>
            <a:r>
              <a:rPr lang="en-GB" baseline="-25000" dirty="0"/>
              <a:t>2</a:t>
            </a:r>
            <a:r>
              <a:rPr lang="en-GB" dirty="0"/>
              <a:t>Cl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985F9-00DC-4ECE-9D6F-AC3A822DA328}"/>
              </a:ext>
            </a:extLst>
          </p:cNvPr>
          <p:cNvSpPr txBox="1"/>
          <p:nvPr/>
        </p:nvSpPr>
        <p:spPr>
          <a:xfrm>
            <a:off x="3028514" y="1652152"/>
            <a:ext cx="6071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Another candidate material for quantum-spin-liquid properties</a:t>
            </a:r>
          </a:p>
        </p:txBody>
      </p:sp>
      <p:pic>
        <p:nvPicPr>
          <p:cNvPr id="7" name="Picture 6" descr="A picture containing indoor&#10;&#10;Description automatically generated">
            <a:extLst>
              <a:ext uri="{FF2B5EF4-FFF2-40B4-BE49-F238E27FC236}">
                <a16:creationId xmlns:a16="http://schemas.microsoft.com/office/drawing/2014/main" id="{18A2722D-74DA-4A3A-AF76-70ED243E78D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53" b="28318"/>
          <a:stretch/>
        </p:blipFill>
        <p:spPr>
          <a:xfrm>
            <a:off x="6442745" y="4838128"/>
            <a:ext cx="5469623" cy="19620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A732E6-C2C6-4C84-AC87-A1983EF4BD26}"/>
              </a:ext>
            </a:extLst>
          </p:cNvPr>
          <p:cNvSpPr txBox="1"/>
          <p:nvPr/>
        </p:nvSpPr>
        <p:spPr>
          <a:xfrm>
            <a:off x="637563" y="2315361"/>
            <a:ext cx="49070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So far we’ve identified a range of OTHER products: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57E3C-9ACD-46F1-A58B-17C991052999}"/>
              </a:ext>
            </a:extLst>
          </p:cNvPr>
          <p:cNvSpPr txBox="1"/>
          <p:nvPr/>
        </p:nvSpPr>
        <p:spPr>
          <a:xfrm>
            <a:off x="918799" y="2961692"/>
            <a:ext cx="206017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KVO</a:t>
            </a:r>
            <a:r>
              <a:rPr lang="en-GB" baseline="-25000" dirty="0"/>
              <a:t>8</a:t>
            </a:r>
            <a:endParaRPr lang="en-GB" dirty="0"/>
          </a:p>
          <a:p>
            <a:r>
              <a:rPr lang="en-GB" dirty="0"/>
              <a:t>Cu</a:t>
            </a:r>
            <a:r>
              <a:rPr lang="en-GB" baseline="-25000" dirty="0"/>
              <a:t>4</a:t>
            </a:r>
            <a:r>
              <a:rPr lang="en-GB" dirty="0"/>
              <a:t>(OH)</a:t>
            </a:r>
            <a:r>
              <a:rPr lang="en-GB" baseline="-25000" dirty="0"/>
              <a:t>6</a:t>
            </a:r>
            <a:r>
              <a:rPr lang="en-GB" dirty="0"/>
              <a:t>Cl</a:t>
            </a:r>
            <a:r>
              <a:rPr lang="en-GB" baseline="-25000" dirty="0"/>
              <a:t>2</a:t>
            </a:r>
          </a:p>
          <a:p>
            <a:r>
              <a:rPr lang="en-GB" dirty="0"/>
              <a:t>Cu</a:t>
            </a:r>
            <a:r>
              <a:rPr lang="en-GB" baseline="-25000" dirty="0"/>
              <a:t>5</a:t>
            </a:r>
            <a:r>
              <a:rPr lang="en-GB" dirty="0"/>
              <a:t>(VO</a:t>
            </a:r>
            <a:r>
              <a:rPr lang="en-GB" baseline="-25000" dirty="0"/>
              <a:t>4</a:t>
            </a:r>
            <a:r>
              <a:rPr lang="en-GB" dirty="0"/>
              <a:t>)</a:t>
            </a:r>
            <a:r>
              <a:rPr lang="en-GB" baseline="-25000" dirty="0"/>
              <a:t>2</a:t>
            </a:r>
            <a:r>
              <a:rPr lang="en-GB" dirty="0"/>
              <a:t>(OH)</a:t>
            </a:r>
            <a:r>
              <a:rPr lang="en-GB" baseline="-25000" dirty="0"/>
              <a:t>4</a:t>
            </a:r>
          </a:p>
          <a:p>
            <a:r>
              <a:rPr lang="en-GB" dirty="0"/>
              <a:t>Cu</a:t>
            </a:r>
            <a:r>
              <a:rPr lang="en-GB" baseline="-25000" dirty="0"/>
              <a:t>2</a:t>
            </a:r>
            <a:r>
              <a:rPr lang="en-GB" dirty="0"/>
              <a:t>(VO</a:t>
            </a:r>
            <a:r>
              <a:rPr lang="en-GB" baseline="-25000" dirty="0"/>
              <a:t>4</a:t>
            </a:r>
            <a:r>
              <a:rPr lang="en-GB" dirty="0"/>
              <a:t>)(OH)</a:t>
            </a:r>
          </a:p>
          <a:p>
            <a:r>
              <a:rPr lang="en-GB" dirty="0"/>
              <a:t>CuV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6</a:t>
            </a:r>
          </a:p>
          <a:p>
            <a:r>
              <a:rPr lang="en-GB" dirty="0"/>
              <a:t>Cu</a:t>
            </a:r>
            <a:r>
              <a:rPr lang="en-GB" baseline="-25000" dirty="0"/>
              <a:t>3</a:t>
            </a:r>
            <a:r>
              <a:rPr lang="en-GB" dirty="0"/>
              <a:t>V</a:t>
            </a:r>
            <a:r>
              <a:rPr lang="en-GB" baseline="-25000" dirty="0"/>
              <a:t>2</a:t>
            </a:r>
            <a:r>
              <a:rPr lang="en-GB" dirty="0"/>
              <a:t>O</a:t>
            </a:r>
            <a:r>
              <a:rPr lang="en-GB" baseline="-25000" dirty="0"/>
              <a:t>7</a:t>
            </a:r>
            <a:r>
              <a:rPr lang="en-GB" dirty="0"/>
              <a:t>(OH)</a:t>
            </a:r>
            <a:r>
              <a:rPr lang="en-GB" baseline="-25000" dirty="0"/>
              <a:t>2</a:t>
            </a:r>
            <a:r>
              <a:rPr lang="en-GB" dirty="0"/>
              <a:t>(H</a:t>
            </a:r>
            <a:r>
              <a:rPr lang="en-GB" baseline="-25000" dirty="0"/>
              <a:t>2</a:t>
            </a:r>
            <a:r>
              <a:rPr lang="en-GB" dirty="0"/>
              <a:t>O)</a:t>
            </a:r>
            <a:r>
              <a:rPr lang="en-GB" baseline="-25000" dirty="0"/>
              <a:t>2</a:t>
            </a:r>
          </a:p>
          <a:p>
            <a:r>
              <a:rPr lang="en-GB" dirty="0"/>
              <a:t>CuCl</a:t>
            </a:r>
            <a:r>
              <a:rPr lang="en-GB" baseline="-25000" dirty="0"/>
              <a:t>2</a:t>
            </a:r>
            <a:r>
              <a:rPr lang="en-GB" dirty="0"/>
              <a:t>(H</a:t>
            </a:r>
            <a:r>
              <a:rPr lang="en-GB" baseline="-25000" dirty="0"/>
              <a:t>2</a:t>
            </a:r>
            <a:r>
              <a:rPr lang="en-GB" dirty="0"/>
              <a:t>O)</a:t>
            </a:r>
            <a:r>
              <a:rPr lang="en-GB" baseline="-25000" dirty="0"/>
              <a:t>2</a:t>
            </a:r>
          </a:p>
        </p:txBody>
      </p:sp>
      <p:pic>
        <p:nvPicPr>
          <p:cNvPr id="10" name="Picture 9" descr="A picture containing object, indoor&#10;&#10;Description automatically generated">
            <a:extLst>
              <a:ext uri="{FF2B5EF4-FFF2-40B4-BE49-F238E27FC236}">
                <a16:creationId xmlns:a16="http://schemas.microsoft.com/office/drawing/2014/main" id="{9ED860EA-8E59-4C5C-B481-F813630EE26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06" t="9052" r="8194" b="-11111"/>
          <a:stretch/>
        </p:blipFill>
        <p:spPr>
          <a:xfrm>
            <a:off x="9022669" y="1906766"/>
            <a:ext cx="3340271" cy="3299082"/>
          </a:xfrm>
          <a:prstGeom prst="ellipse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68595AB-18F8-45B6-8A0F-E674D15394FA}"/>
              </a:ext>
            </a:extLst>
          </p:cNvPr>
          <p:cNvSpPr txBox="1"/>
          <p:nvPr/>
        </p:nvSpPr>
        <p:spPr>
          <a:xfrm>
            <a:off x="441943" y="5080484"/>
            <a:ext cx="253460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+ KCu</a:t>
            </a:r>
            <a:r>
              <a:rPr lang="en-GB" sz="2400" b="1" baseline="-25000" dirty="0"/>
              <a:t>3</a:t>
            </a:r>
            <a:r>
              <a:rPr lang="en-GB" sz="2400" b="1" dirty="0"/>
              <a:t>V</a:t>
            </a:r>
            <a:r>
              <a:rPr lang="en-GB" sz="2400" b="1" baseline="-25000" dirty="0"/>
              <a:t>2</a:t>
            </a:r>
            <a:r>
              <a:rPr lang="en-GB" sz="2400" b="1" dirty="0"/>
              <a:t>O</a:t>
            </a:r>
            <a:r>
              <a:rPr lang="en-GB" sz="2400" b="1" baseline="-25000" dirty="0"/>
              <a:t>7</a:t>
            </a:r>
            <a:r>
              <a:rPr lang="en-GB" sz="2400" b="1" dirty="0"/>
              <a:t>(OH)</a:t>
            </a:r>
            <a:r>
              <a:rPr lang="en-GB" sz="2400" b="1" baseline="-25000" dirty="0"/>
              <a:t>2</a:t>
            </a:r>
            <a:r>
              <a:rPr lang="en-GB" sz="2400" b="1" dirty="0"/>
              <a:t>Cl</a:t>
            </a:r>
          </a:p>
          <a:p>
            <a:r>
              <a:rPr lang="en-GB" dirty="0"/>
              <a:t> 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AB6152-4244-408D-BDBE-0D64F2B36F71}"/>
              </a:ext>
            </a:extLst>
          </p:cNvPr>
          <p:cNvCxnSpPr/>
          <p:nvPr/>
        </p:nvCxnSpPr>
        <p:spPr>
          <a:xfrm>
            <a:off x="2976548" y="5334000"/>
            <a:ext cx="681052" cy="1158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604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4F2731CD-0594-4B59-975C-F5ED9379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8" y="-17504"/>
            <a:ext cx="10979712" cy="686231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D81671D-51ED-452B-8513-1353A0C91CD9}"/>
              </a:ext>
            </a:extLst>
          </p:cNvPr>
          <p:cNvSpPr txBox="1"/>
          <p:nvPr/>
        </p:nvSpPr>
        <p:spPr>
          <a:xfrm>
            <a:off x="3582908" y="274306"/>
            <a:ext cx="5026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00B0F0"/>
                </a:solidFill>
              </a:rPr>
              <a:t>Hydro</a:t>
            </a:r>
            <a:r>
              <a:rPr lang="en-GB" sz="3200" b="1" dirty="0">
                <a:solidFill>
                  <a:srgbClr val="FF0000"/>
                </a:solidFill>
              </a:rPr>
              <a:t>thermal</a:t>
            </a:r>
            <a:r>
              <a:rPr lang="en-GB" sz="3200" dirty="0"/>
              <a:t> crystal growth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E77089-15F7-40F7-9684-F01D56F8F65C}"/>
              </a:ext>
            </a:extLst>
          </p:cNvPr>
          <p:cNvSpPr txBox="1"/>
          <p:nvPr/>
        </p:nvSpPr>
        <p:spPr>
          <a:xfrm>
            <a:off x="872067" y="1697566"/>
            <a:ext cx="9727406" cy="48320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What is hydrothermal crystal growth?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 brief history of hydrothermal growth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Pressure and temperature ranges,  limitations, and equipment</a:t>
            </a:r>
          </a:p>
          <a:p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An industrial example - Quartz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800" b="1" dirty="0"/>
              <a:t>Hydrothermal synthesis at MFF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800" b="1" dirty="0"/>
          </a:p>
        </p:txBody>
      </p:sp>
    </p:spTree>
    <p:extLst>
      <p:ext uri="{BB962C8B-B14F-4D97-AF65-F5344CB8AC3E}">
        <p14:creationId xmlns:p14="http://schemas.microsoft.com/office/powerpoint/2010/main" val="4342316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4F2731CD-0594-4B59-975C-F5ED9379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8" y="-17504"/>
            <a:ext cx="10979712" cy="68623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E5B769-A2E7-47C1-9491-7604320D8A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8" y="417512"/>
            <a:ext cx="5610225" cy="3838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7761DF-6FEE-42EA-ABAB-67E46B62B9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2402" y="-17504"/>
            <a:ext cx="5423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864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4F2731CD-0594-4B59-975C-F5ED9379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8" y="-17504"/>
            <a:ext cx="10979712" cy="68623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0308BE-6D85-45C6-886F-7D33CA586B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0" y="13186"/>
            <a:ext cx="541763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218833-5FD8-45C5-A105-A725EFDF2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-13186"/>
            <a:ext cx="54137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545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able, ceramic ware&#10;&#10;Description automatically generated">
            <a:extLst>
              <a:ext uri="{FF2B5EF4-FFF2-40B4-BE49-F238E27FC236}">
                <a16:creationId xmlns:a16="http://schemas.microsoft.com/office/drawing/2014/main" id="{4F2731CD-0594-4B59-975C-F5ED9379C2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8" y="-17504"/>
            <a:ext cx="10979712" cy="68623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7F85CC6F-A5B8-4E31-B54D-C4EFA95F2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49" y="-17504"/>
            <a:ext cx="5452901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9C3AFA4-92A3-4A73-8337-A8826DE68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411" y="13186"/>
            <a:ext cx="5572125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50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047E8079B54474EB45FA3CADE48998E" ma:contentTypeVersion="11" ma:contentTypeDescription="Vytvoří nový dokument" ma:contentTypeScope="" ma:versionID="f0c9e73631222ef58257ec60ec1c8b91">
  <xsd:schema xmlns:xsd="http://www.w3.org/2001/XMLSchema" xmlns:xs="http://www.w3.org/2001/XMLSchema" xmlns:p="http://schemas.microsoft.com/office/2006/metadata/properties" xmlns:ns2="ad3efd42-e5a1-407b-ae98-4718e92fabc3" xmlns:ns3="348d80df-e568-4466-b0a3-9ffb1c510247" targetNamespace="http://schemas.microsoft.com/office/2006/metadata/properties" ma:root="true" ma:fieldsID="cae2a3f1f4ed3594e95da9ae312a9266" ns2:_="" ns3:_="">
    <xsd:import namespace="ad3efd42-e5a1-407b-ae98-4718e92fabc3"/>
    <xsd:import namespace="348d80df-e568-4466-b0a3-9ffb1c5102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3efd42-e5a1-407b-ae98-4718e92fab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de2c221-80ea-42f2-a6ce-7f19966b5d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8d80df-e568-4466-b0a3-9ffb1c51024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7dcb2a6-0278-497a-8f96-1ee279d7b71a}" ma:internalName="TaxCatchAll" ma:showField="CatchAllData" ma:web="348d80df-e568-4466-b0a3-9ffb1c51024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d3efd42-e5a1-407b-ae98-4718e92fabc3">
      <Terms xmlns="http://schemas.microsoft.com/office/infopath/2007/PartnerControls"/>
    </lcf76f155ced4ddcb4097134ff3c332f>
    <TaxCatchAll xmlns="348d80df-e568-4466-b0a3-9ffb1c510247" xsi:nil="true"/>
  </documentManagement>
</p:properties>
</file>

<file path=customXml/itemProps1.xml><?xml version="1.0" encoding="utf-8"?>
<ds:datastoreItem xmlns:ds="http://schemas.openxmlformats.org/officeDocument/2006/customXml" ds:itemID="{8FA3FB4C-8A86-418F-94B6-5E60E5E3F867}"/>
</file>

<file path=customXml/itemProps2.xml><?xml version="1.0" encoding="utf-8"?>
<ds:datastoreItem xmlns:ds="http://schemas.openxmlformats.org/officeDocument/2006/customXml" ds:itemID="{A3AE7E6C-65D5-4DA4-BABD-DF2F795290DB}"/>
</file>

<file path=customXml/itemProps3.xml><?xml version="1.0" encoding="utf-8"?>
<ds:datastoreItem xmlns:ds="http://schemas.openxmlformats.org/officeDocument/2006/customXml" ds:itemID="{87EB3FD4-E91E-4A2B-9B0D-E20918F4DFE8}"/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1845</Words>
  <Application>Microsoft Office PowerPoint</Application>
  <PresentationFormat>Widescreen</PresentationFormat>
  <Paragraphs>263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Ross Colman</dc:creator>
  <cp:lastModifiedBy>Ross Harvey Colman</cp:lastModifiedBy>
  <cp:revision>52</cp:revision>
  <dcterms:created xsi:type="dcterms:W3CDTF">2019-05-09T11:31:13Z</dcterms:created>
  <dcterms:modified xsi:type="dcterms:W3CDTF">2023-05-24T06:30:03Z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0x0101006047E8079B54474EB45FA3CADE48998E</vt:lpwstr>
  </property>
</Properties>
</file>